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8" r:id="rId3"/>
    <p:sldId id="259" r:id="rId4"/>
    <p:sldId id="274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3" autoAdjust="0"/>
    <p:restoredTop sz="94660"/>
  </p:normalViewPr>
  <p:slideViewPr>
    <p:cSldViewPr snapToGrid="0" snapToObjects="1">
      <p:cViewPr varScale="1">
        <p:scale>
          <a:sx n="93" d="100"/>
          <a:sy n="93" d="100"/>
        </p:scale>
        <p:origin x="270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Иван Ершов" userId="f53eb8c531d905e3" providerId="LiveId" clId="{EB136255-802B-4BC0-BF07-985C8A3F13CE}"/>
    <pc:docChg chg="delSld">
      <pc:chgData name="Иван Ершов" userId="f53eb8c531d905e3" providerId="LiveId" clId="{EB136255-802B-4BC0-BF07-985C8A3F13CE}" dt="2026-10-20T17:48:38.726" v="0" actId="2696"/>
      <pc:docMkLst>
        <pc:docMk/>
      </pc:docMkLst>
      <pc:sldChg chg="del">
        <pc:chgData name="Иван Ершов" userId="f53eb8c531d905e3" providerId="LiveId" clId="{EB136255-802B-4BC0-BF07-985C8A3F13CE}" dt="2026-10-20T17:48:38.726" v="0" actId="2696"/>
        <pc:sldMkLst>
          <pc:docMk/>
          <pc:sldMk cId="0" sldId="257"/>
        </pc:sldMkLst>
      </pc:sldChg>
    </pc:docChg>
  </pc:docChgLst>
  <pc:docChgLst>
    <pc:chgData name="Иван Ершов" userId="f53eb8c531d905e3" providerId="LiveId" clId="{4B51E9CA-F7AA-4ECC-BB34-00E58C8BD3DD}"/>
    <pc:docChg chg="custSel modSld">
      <pc:chgData name="Иван Ершов" userId="f53eb8c531d905e3" providerId="LiveId" clId="{4B51E9CA-F7AA-4ECC-BB34-00E58C8BD3DD}" dt="2026-09-22T13:08:05.427" v="103" actId="14100"/>
      <pc:docMkLst>
        <pc:docMk/>
      </pc:docMkLst>
      <pc:sldChg chg="delSp modSp mod modTransition">
        <pc:chgData name="Иван Ершов" userId="f53eb8c531d905e3" providerId="LiveId" clId="{4B51E9CA-F7AA-4ECC-BB34-00E58C8BD3DD}" dt="2026-09-22T13:01:11.592" v="102" actId="21"/>
        <pc:sldMkLst>
          <pc:docMk/>
          <pc:sldMk cId="0" sldId="256"/>
        </pc:sldMkLst>
        <pc:spChg chg="del">
          <ac:chgData name="Иван Ершов" userId="f53eb8c531d905e3" providerId="LiveId" clId="{4B51E9CA-F7AA-4ECC-BB34-00E58C8BD3DD}" dt="2026-09-22T13:01:11.592" v="102" actId="21"/>
          <ac:spMkLst>
            <pc:docMk/>
            <pc:sldMk cId="0" sldId="256"/>
            <ac:spMk id="4" creationId="{00000000-0000-0000-0000-000000000000}"/>
          </ac:spMkLst>
        </pc:spChg>
        <pc:spChg chg="mod">
          <ac:chgData name="Иван Ершов" userId="f53eb8c531d905e3" providerId="LiveId" clId="{4B51E9CA-F7AA-4ECC-BB34-00E58C8BD3DD}" dt="2026-09-22T13:00:57.612" v="101" actId="20577"/>
          <ac:spMkLst>
            <pc:docMk/>
            <pc:sldMk cId="0" sldId="256"/>
            <ac:spMk id="5" creationId="{00000000-0000-0000-0000-000000000000}"/>
          </ac:spMkLst>
        </pc:spChg>
        <pc:spChg chg="mod">
          <ac:chgData name="Иван Ершов" userId="f53eb8c531d905e3" providerId="LiveId" clId="{4B51E9CA-F7AA-4ECC-BB34-00E58C8BD3DD}" dt="2026-09-22T12:36:09.704" v="90" actId="20577"/>
          <ac:spMkLst>
            <pc:docMk/>
            <pc:sldMk cId="0" sldId="256"/>
            <ac:spMk id="6" creationId="{00000000-0000-0000-0000-000000000000}"/>
          </ac:spMkLst>
        </pc:spChg>
      </pc:sldChg>
      <pc:sldChg chg="addSp delSp modSp mod">
        <pc:chgData name="Иван Ершов" userId="f53eb8c531d905e3" providerId="LiveId" clId="{4B51E9CA-F7AA-4ECC-BB34-00E58C8BD3DD}" dt="2026-09-21T16:38:51.796" v="86" actId="1076"/>
        <pc:sldMkLst>
          <pc:docMk/>
          <pc:sldMk cId="0" sldId="257"/>
        </pc:sldMkLst>
        <pc:graphicFrameChg chg="mod modGraphic">
          <ac:chgData name="Иван Ершов" userId="f53eb8c531d905e3" providerId="LiveId" clId="{4B51E9CA-F7AA-4ECC-BB34-00E58C8BD3DD}" dt="2026-09-21T16:31:38.524" v="58"/>
          <ac:graphicFrameMkLst>
            <pc:docMk/>
            <pc:sldMk cId="0" sldId="257"/>
            <ac:graphicFrameMk id="7" creationId="{3EC1711F-A18D-45CF-90F7-E9EF6F97A143}"/>
          </ac:graphicFrameMkLst>
        </pc:graphicFrameChg>
        <pc:picChg chg="add del mod">
          <ac:chgData name="Иван Ершов" userId="f53eb8c531d905e3" providerId="LiveId" clId="{4B51E9CA-F7AA-4ECC-BB34-00E58C8BD3DD}" dt="2026-09-21T16:38:31.326" v="84" actId="21"/>
          <ac:picMkLst>
            <pc:docMk/>
            <pc:sldMk cId="0" sldId="257"/>
            <ac:picMk id="6" creationId="{FCBC5015-8A6C-464C-A6AB-B89085AFA6B9}"/>
          </ac:picMkLst>
        </pc:picChg>
        <pc:picChg chg="add mod">
          <ac:chgData name="Иван Ершов" userId="f53eb8c531d905e3" providerId="LiveId" clId="{4B51E9CA-F7AA-4ECC-BB34-00E58C8BD3DD}" dt="2026-09-21T16:38:51.796" v="86" actId="1076"/>
          <ac:picMkLst>
            <pc:docMk/>
            <pc:sldMk cId="0" sldId="257"/>
            <ac:picMk id="8" creationId="{522132E0-F81B-441C-BB94-0440BA38E513}"/>
          </ac:picMkLst>
        </pc:picChg>
      </pc:sldChg>
      <pc:sldChg chg="modSp mod">
        <pc:chgData name="Иван Ершов" userId="f53eb8c531d905e3" providerId="LiveId" clId="{4B51E9CA-F7AA-4ECC-BB34-00E58C8BD3DD}" dt="2026-09-21T16:39:00.567" v="87" actId="20577"/>
        <pc:sldMkLst>
          <pc:docMk/>
          <pc:sldMk cId="0" sldId="267"/>
        </pc:sldMkLst>
        <pc:spChg chg="mod">
          <ac:chgData name="Иван Ершов" userId="f53eb8c531d905e3" providerId="LiveId" clId="{4B51E9CA-F7AA-4ECC-BB34-00E58C8BD3DD}" dt="2026-09-21T16:39:00.567" v="87" actId="20577"/>
          <ac:spMkLst>
            <pc:docMk/>
            <pc:sldMk cId="0" sldId="267"/>
            <ac:spMk id="7" creationId="{00000000-0000-0000-0000-000000000000}"/>
          </ac:spMkLst>
        </pc:spChg>
      </pc:sldChg>
      <pc:sldChg chg="modSp mod">
        <pc:chgData name="Иван Ершов" userId="f53eb8c531d905e3" providerId="LiveId" clId="{4B51E9CA-F7AA-4ECC-BB34-00E58C8BD3DD}" dt="2026-09-22T13:08:05.427" v="103" actId="14100"/>
        <pc:sldMkLst>
          <pc:docMk/>
          <pc:sldMk cId="0" sldId="271"/>
        </pc:sldMkLst>
        <pc:spChg chg="mod">
          <ac:chgData name="Иван Ершов" userId="f53eb8c531d905e3" providerId="LiveId" clId="{4B51E9CA-F7AA-4ECC-BB34-00E58C8BD3DD}" dt="2026-09-22T13:08:05.427" v="103" actId="14100"/>
          <ac:spMkLst>
            <pc:docMk/>
            <pc:sldMk cId="0" sldId="271"/>
            <ac:spMk id="6" creationId="{00000000-0000-0000-0000-000000000000}"/>
          </ac:spMkLst>
        </pc:spChg>
      </pc:sldChg>
      <pc:sldChg chg="addSp modSp mod">
        <pc:chgData name="Иван Ершов" userId="f53eb8c531d905e3" providerId="LiveId" clId="{4B51E9CA-F7AA-4ECC-BB34-00E58C8BD3DD}" dt="2026-09-21T16:39:31.670" v="89" actId="1076"/>
        <pc:sldMkLst>
          <pc:docMk/>
          <pc:sldMk cId="2185456125" sldId="274"/>
        </pc:sldMkLst>
        <pc:picChg chg="add mod">
          <ac:chgData name="Иван Ершов" userId="f53eb8c531d905e3" providerId="LiveId" clId="{4B51E9CA-F7AA-4ECC-BB34-00E58C8BD3DD}" dt="2026-09-21T16:39:31.670" v="89" actId="1076"/>
          <ac:picMkLst>
            <pc:docMk/>
            <pc:sldMk cId="2185456125" sldId="274"/>
            <ac:picMk id="2" creationId="{5792EC22-6547-4CFD-97DF-7DFDA5BCD50B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A60BBB-3FA7-4813-B967-0531F209BB0C}" type="datetimeFigureOut">
              <a:rPr lang="ru-RU" smtClean="0"/>
              <a:t>20.10.2026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991640-5A62-44CF-8094-611BB7970A7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646627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991640-5A62-44CF-8094-611BB7970A7D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140303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991640-5A62-44CF-8094-611BB7970A7D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772359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991640-5A62-44CF-8094-611BB7970A7D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167524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jpeg"/><Relationship Id="rId5" Type="http://schemas.openxmlformats.org/officeDocument/2006/relationships/image" Target="../media/image9.jpe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jpeg"/><Relationship Id="rId5" Type="http://schemas.openxmlformats.org/officeDocument/2006/relationships/image" Target="../media/image16.jpe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jpeg"/><Relationship Id="rId5" Type="http://schemas.openxmlformats.org/officeDocument/2006/relationships/image" Target="../media/image24.jpeg"/><Relationship Id="rId4" Type="http://schemas.openxmlformats.org/officeDocument/2006/relationships/image" Target="../media/image23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1.jpeg"/><Relationship Id="rId4" Type="http://schemas.openxmlformats.org/officeDocument/2006/relationships/image" Target="../media/image30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2.jpeg"/><Relationship Id="rId5" Type="http://schemas.openxmlformats.org/officeDocument/2006/relationships/image" Target="../media/image41.jpeg"/><Relationship Id="rId4" Type="http://schemas.openxmlformats.org/officeDocument/2006/relationships/image" Target="../media/image40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6.jpeg"/><Relationship Id="rId5" Type="http://schemas.openxmlformats.org/officeDocument/2006/relationships/image" Target="../media/image45.jpeg"/><Relationship Id="rId4" Type="http://schemas.openxmlformats.org/officeDocument/2006/relationships/image" Target="../media/image44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8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73219" y="5924548"/>
            <a:ext cx="6285904" cy="5238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95275" y="2140743"/>
            <a:ext cx="11601450" cy="16430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4312"/>
              </a:lnSpc>
            </a:pPr>
            <a:r>
              <a:rPr dirty="0"/>
              <a:t>
</a:t>
            </a:r>
            <a:r>
              <a:rPr sz="3450" b="1" i="0" u="none" dirty="0" err="1">
                <a:solidFill>
                  <a:srgbClr val="38BDF8"/>
                </a:solidFill>
                <a:latin typeface="Merriweather"/>
              </a:rPr>
              <a:t>Ханты-Мансийский</a:t>
            </a:r>
            <a:r>
              <a:rPr sz="3450" b="1" i="0" u="none" dirty="0">
                <a:solidFill>
                  <a:srgbClr val="38BDF8"/>
                </a:solidFill>
                <a:latin typeface="Merriweather"/>
              </a:rPr>
              <a:t> </a:t>
            </a:r>
            <a:r>
              <a:rPr sz="3450" b="1" i="0" u="none" dirty="0" err="1">
                <a:solidFill>
                  <a:srgbClr val="38BDF8"/>
                </a:solidFill>
                <a:latin typeface="Merriweather"/>
              </a:rPr>
              <a:t>автономный</a:t>
            </a:r>
            <a:r>
              <a:rPr sz="3450" b="1" i="0" u="none" dirty="0">
                <a:solidFill>
                  <a:srgbClr val="38BDF8"/>
                </a:solidFill>
                <a:latin typeface="Merriweather"/>
              </a:rPr>
              <a:t> </a:t>
            </a:r>
            <a:r>
              <a:rPr sz="3450" b="1" i="0" u="none" dirty="0" err="1">
                <a:solidFill>
                  <a:srgbClr val="38BDF8"/>
                </a:solidFill>
                <a:latin typeface="Merriweather"/>
              </a:rPr>
              <a:t>округ</a:t>
            </a:r>
            <a:r>
              <a:rPr sz="3450" b="1" i="0" u="none" dirty="0">
                <a:solidFill>
                  <a:srgbClr val="38BDF8"/>
                </a:solidFill>
                <a:latin typeface="Merriweather"/>
              </a:rPr>
              <a:t> — </a:t>
            </a:r>
            <a:r>
              <a:rPr sz="3450" b="1" i="0" u="none" dirty="0" err="1">
                <a:solidFill>
                  <a:srgbClr val="38BDF8"/>
                </a:solidFill>
                <a:latin typeface="Merriweather"/>
              </a:rPr>
              <a:t>Югра</a:t>
            </a:r>
            <a:endParaRPr sz="3450" b="1" i="0" u="none" dirty="0">
              <a:solidFill>
                <a:srgbClr val="38BDF8"/>
              </a:solidFill>
              <a:latin typeface="Merriweather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277492" y="3974306"/>
            <a:ext cx="5637014" cy="296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75"/>
              </a:lnSpc>
            </a:pPr>
            <a:r>
              <a:rPr sz="1650" b="0" i="0" u="none" dirty="0">
                <a:solidFill>
                  <a:srgbClr val="E2E8F0"/>
                </a:solidFill>
                <a:latin typeface="DM Sans"/>
              </a:rPr>
              <a:t>• </a:t>
            </a:r>
            <a:r>
              <a:rPr sz="1650" b="0" i="0" u="none" dirty="0" err="1">
                <a:solidFill>
                  <a:srgbClr val="E2E8F0"/>
                </a:solidFill>
                <a:latin typeface="DM Sans"/>
              </a:rPr>
              <a:t>Учебная</a:t>
            </a:r>
            <a:r>
              <a:rPr sz="1650" b="0" i="0" u="none" dirty="0">
                <a:solidFill>
                  <a:srgbClr val="E2E8F0"/>
                </a:solidFill>
                <a:latin typeface="DM Sans"/>
              </a:rPr>
              <a:t> </a:t>
            </a:r>
            <a:r>
              <a:rPr sz="1650" b="0" i="0" u="none" dirty="0" err="1">
                <a:solidFill>
                  <a:srgbClr val="E2E8F0"/>
                </a:solidFill>
                <a:latin typeface="DM Sans"/>
              </a:rPr>
              <a:t>группа</a:t>
            </a:r>
            <a:r>
              <a:rPr sz="1650" b="0" i="0" u="none" dirty="0">
                <a:solidFill>
                  <a:srgbClr val="E2E8F0"/>
                </a:solidFill>
                <a:latin typeface="DM Sans"/>
              </a:rPr>
              <a:t> № </a:t>
            </a:r>
            <a:r>
              <a:rPr lang="ru-RU" sz="1650" dirty="0">
                <a:solidFill>
                  <a:srgbClr val="E2E8F0"/>
                </a:solidFill>
                <a:latin typeface="DM Sans"/>
              </a:rPr>
              <a:t>4617</a:t>
            </a:r>
            <a:endParaRPr sz="1650" b="0" i="0" u="none" dirty="0">
              <a:solidFill>
                <a:srgbClr val="E2E8F0"/>
              </a:solidFill>
              <a:latin typeface="DM San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81000" y="6534150"/>
            <a:ext cx="37713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 u="none" dirty="0">
                <a:solidFill>
                  <a:srgbClr val="94A3B8"/>
                </a:solidFill>
                <a:latin typeface="DM Sans"/>
              </a:rPr>
              <a:t>ГУАП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63375" y="6534150"/>
            <a:ext cx="4762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94A3B8"/>
                </a:solidFill>
                <a:latin typeface="DM San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293" y="1180773"/>
            <a:ext cx="6059507" cy="449645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81000" y="6534150"/>
            <a:ext cx="37713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05088"/>
                </a:solidFill>
                <a:latin typeface="DM Sans"/>
              </a:rPr>
              <a:t>ГУАП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34800" y="6534150"/>
            <a:ext cx="762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 dirty="0">
                <a:solidFill>
                  <a:srgbClr val="64748B"/>
                </a:solidFill>
                <a:latin typeface="DM Sans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400" y="419100"/>
            <a:ext cx="5190648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 dirty="0" err="1">
                <a:solidFill>
                  <a:srgbClr val="005088"/>
                </a:solidFill>
                <a:latin typeface="Merriweather"/>
              </a:rPr>
              <a:t>География</a:t>
            </a:r>
            <a:r>
              <a:rPr sz="2100" b="1" i="0" u="none" dirty="0">
                <a:solidFill>
                  <a:srgbClr val="005088"/>
                </a:solidFill>
                <a:latin typeface="Merriweather"/>
              </a:rPr>
              <a:t> </a:t>
            </a:r>
            <a:r>
              <a:rPr sz="2100" b="1" i="0" u="none" dirty="0" err="1">
                <a:solidFill>
                  <a:srgbClr val="005088"/>
                </a:solidFill>
                <a:latin typeface="Merriweather"/>
              </a:rPr>
              <a:t>региона</a:t>
            </a:r>
            <a:r>
              <a:rPr sz="2100" b="1" i="0" u="none" dirty="0">
                <a:solidFill>
                  <a:srgbClr val="005088"/>
                </a:solidFill>
                <a:latin typeface="Merriweather"/>
              </a:rPr>
              <a:t>: ХМАО — </a:t>
            </a:r>
            <a:r>
              <a:rPr sz="2100" b="1" i="0" u="none" dirty="0" err="1">
                <a:solidFill>
                  <a:srgbClr val="005088"/>
                </a:solidFill>
                <a:latin typeface="Merriweather"/>
              </a:rPr>
              <a:t>Югра</a:t>
            </a:r>
            <a:endParaRPr sz="2100" b="1" i="0" u="none" dirty="0">
              <a:solidFill>
                <a:srgbClr val="005088"/>
              </a:solidFill>
              <a:latin typeface="Merriweather"/>
            </a:endParaRP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36174" y="457200"/>
            <a:ext cx="2022425" cy="26670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B0B8B75D-81CB-4046-8B97-F546C387A4B6}"/>
              </a:ext>
            </a:extLst>
          </p:cNvPr>
          <p:cNvSpPr txBox="1"/>
          <p:nvPr/>
        </p:nvSpPr>
        <p:spPr>
          <a:xfrm>
            <a:off x="381000" y="904221"/>
            <a:ext cx="4924424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ru-RU" sz="1800" b="1" i="0" u="none" dirty="0">
                <a:solidFill>
                  <a:srgbClr val="334155"/>
                </a:solidFill>
                <a:latin typeface="DM Sans"/>
              </a:rPr>
              <a:t>Географическое положение:</a:t>
            </a:r>
            <a:r>
              <a:rPr lang="ru-RU" sz="1800" b="0" i="0" u="none" dirty="0">
                <a:solidFill>
                  <a:srgbClr val="334155"/>
                </a:solidFill>
                <a:latin typeface="DM Sans"/>
              </a:rPr>
              <a:t> Центральная часть Западно-Сибирской равнины в бассейнах великих сибирских рек Оби и Иртыша.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ru-RU" sz="1800" b="1" i="0" u="none" dirty="0">
                <a:solidFill>
                  <a:srgbClr val="334155"/>
                </a:solidFill>
                <a:latin typeface="DM Sans"/>
              </a:rPr>
              <a:t>Федеральный округ:</a:t>
            </a:r>
            <a:r>
              <a:rPr lang="ru-RU" sz="1800" b="0" i="0" u="none" dirty="0">
                <a:solidFill>
                  <a:srgbClr val="334155"/>
                </a:solidFill>
                <a:latin typeface="DM Sans"/>
              </a:rPr>
              <a:t> Входит в состав Уральского федерального округа (</a:t>
            </a:r>
            <a:r>
              <a:rPr lang="ru-RU" sz="1800" b="0" i="0" u="none" dirty="0" err="1">
                <a:solidFill>
                  <a:srgbClr val="334155"/>
                </a:solidFill>
                <a:latin typeface="DM Sans"/>
              </a:rPr>
              <a:t>УрФО</a:t>
            </a:r>
            <a:r>
              <a:rPr lang="ru-RU" sz="1800" b="0" i="0" u="none" dirty="0">
                <a:solidFill>
                  <a:srgbClr val="334155"/>
                </a:solidFill>
                <a:latin typeface="DM Sans"/>
              </a:rPr>
              <a:t>). Территориально относится к районам Крайнего Севера и приравненным местностям.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ru-RU" sz="1800" b="1" i="0" u="none" dirty="0">
                <a:solidFill>
                  <a:srgbClr val="334155"/>
                </a:solidFill>
                <a:latin typeface="DM Sans"/>
              </a:rPr>
              <a:t>Площадь:</a:t>
            </a:r>
            <a:r>
              <a:rPr lang="ru-RU" sz="1800" b="0" i="0" u="none" dirty="0">
                <a:solidFill>
                  <a:srgbClr val="334155"/>
                </a:solidFill>
                <a:latin typeface="DM Sans"/>
              </a:rPr>
              <a:t> 534,8 тыс. км² (превосходит по площади Францию или Испанию).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ru-RU" sz="1800" b="1" i="0" u="none" dirty="0">
                <a:solidFill>
                  <a:srgbClr val="334155"/>
                </a:solidFill>
                <a:latin typeface="DM Sans"/>
              </a:rPr>
              <a:t>Границы:</a:t>
            </a:r>
            <a:r>
              <a:rPr lang="ru-RU" sz="1800" b="0" i="0" u="none" dirty="0">
                <a:solidFill>
                  <a:srgbClr val="334155"/>
                </a:solidFill>
                <a:latin typeface="DM Sans"/>
              </a:rPr>
              <a:t> Соседствует с ЯНАО на севере, Томской областью</a:t>
            </a:r>
            <a:r>
              <a:rPr lang="en-US" sz="1800" b="0" i="0" u="none" dirty="0">
                <a:solidFill>
                  <a:srgbClr val="334155"/>
                </a:solidFill>
                <a:latin typeface="DM Sans"/>
              </a:rPr>
              <a:t> </a:t>
            </a:r>
            <a:r>
              <a:rPr lang="ru-RU" sz="1800" b="0" i="0" u="none" dirty="0">
                <a:solidFill>
                  <a:srgbClr val="334155"/>
                </a:solidFill>
                <a:latin typeface="DM Sans"/>
              </a:rPr>
              <a:t>и Красноярским краем на востоке, Тюменской областью на юге, Республикой Коми и Свердловской областью на западе.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ru-RU" sz="1800" b="1" i="0" u="none" dirty="0">
                <a:solidFill>
                  <a:srgbClr val="334155"/>
                </a:solidFill>
                <a:latin typeface="DM Sans"/>
              </a:rPr>
              <a:t>Климат:</a:t>
            </a:r>
            <a:r>
              <a:rPr lang="ru-RU" sz="1800" b="0" i="0" u="none" dirty="0">
                <a:solidFill>
                  <a:srgbClr val="334155"/>
                </a:solidFill>
                <a:latin typeface="DM Sans"/>
              </a:rPr>
              <a:t> Умеренно-континентальный с суровой снежной зимой (до -50°C) и коротким теплым летом. Значительная часть покрыта тайгой и болотами.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ru-RU" dirty="0"/>
          </a:p>
        </p:txBody>
      </p:sp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CAB2A47A-08C9-4C3F-B1F2-228CEDD2E7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10200" y="1085850"/>
            <a:ext cx="6610349" cy="486727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565" y="3733799"/>
            <a:ext cx="3581400" cy="2433637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3382" y="3733798"/>
            <a:ext cx="3581400" cy="2433637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7200" y="3733799"/>
            <a:ext cx="3581400" cy="243363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81000" y="6534150"/>
            <a:ext cx="37713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05088"/>
                </a:solidFill>
                <a:latin typeface="DM Sans"/>
              </a:rPr>
              <a:t>ГУАП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25275" y="6534150"/>
            <a:ext cx="8572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 dirty="0">
                <a:solidFill>
                  <a:srgbClr val="64748B"/>
                </a:solidFill>
                <a:latin typeface="DM Sans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3400" y="419100"/>
            <a:ext cx="7380922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 dirty="0" err="1">
                <a:solidFill>
                  <a:srgbClr val="005088"/>
                </a:solidFill>
                <a:latin typeface="Merriweather"/>
              </a:rPr>
              <a:t>Символы</a:t>
            </a:r>
            <a:r>
              <a:rPr sz="2100" b="1" i="0" u="none" dirty="0">
                <a:solidFill>
                  <a:srgbClr val="005088"/>
                </a:solidFill>
                <a:latin typeface="Merriweather"/>
              </a:rPr>
              <a:t> </a:t>
            </a:r>
            <a:r>
              <a:rPr sz="2100" b="1" i="0" u="none" dirty="0" err="1">
                <a:solidFill>
                  <a:srgbClr val="005088"/>
                </a:solidFill>
                <a:latin typeface="Merriweather"/>
              </a:rPr>
              <a:t>региона</a:t>
            </a:r>
            <a:r>
              <a:rPr sz="2100" b="1" i="0" u="none" dirty="0">
                <a:solidFill>
                  <a:srgbClr val="005088"/>
                </a:solidFill>
                <a:latin typeface="Merriweather"/>
              </a:rPr>
              <a:t>: </a:t>
            </a:r>
            <a:r>
              <a:rPr sz="2100" b="1" i="0" u="none" dirty="0" err="1">
                <a:solidFill>
                  <a:srgbClr val="005088"/>
                </a:solidFill>
                <a:latin typeface="Merriweather"/>
              </a:rPr>
              <a:t>формальные</a:t>
            </a:r>
            <a:r>
              <a:rPr sz="2100" b="1" i="0" u="none" dirty="0">
                <a:solidFill>
                  <a:srgbClr val="005088"/>
                </a:solidFill>
                <a:latin typeface="Merriweather"/>
              </a:rPr>
              <a:t> и </a:t>
            </a:r>
            <a:r>
              <a:rPr sz="2100" b="1" i="0" u="none" dirty="0" err="1">
                <a:solidFill>
                  <a:srgbClr val="005088"/>
                </a:solidFill>
                <a:latin typeface="Merriweather"/>
              </a:rPr>
              <a:t>неформальные</a:t>
            </a:r>
            <a:endParaRPr sz="2100" b="1" i="0" u="none" dirty="0">
              <a:solidFill>
                <a:srgbClr val="005088"/>
              </a:solidFill>
              <a:latin typeface="Merriweather"/>
            </a:endParaRP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18861" y="457200"/>
            <a:ext cx="1239738" cy="2667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54380" y="3867149"/>
            <a:ext cx="336042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1" i="0" u="none" dirty="0" err="1">
                <a:solidFill>
                  <a:srgbClr val="005088"/>
                </a:solidFill>
                <a:latin typeface="Merriweather"/>
              </a:rPr>
              <a:t>Герб</a:t>
            </a:r>
            <a:r>
              <a:rPr sz="1600" b="1" i="0" u="none" dirty="0">
                <a:solidFill>
                  <a:srgbClr val="005088"/>
                </a:solidFill>
                <a:latin typeface="Merriweather"/>
              </a:rPr>
              <a:t> </a:t>
            </a:r>
            <a:r>
              <a:rPr b="1" i="0" u="none" dirty="0" err="1">
                <a:solidFill>
                  <a:srgbClr val="005088"/>
                </a:solidFill>
                <a:latin typeface="Merriweather"/>
              </a:rPr>
              <a:t>Югры</a:t>
            </a:r>
            <a:endParaRPr sz="1600" b="1" i="0" u="none" dirty="0">
              <a:solidFill>
                <a:srgbClr val="005088"/>
              </a:solidFill>
              <a:latin typeface="Merriweather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60065" y="4152204"/>
            <a:ext cx="3200400" cy="19492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ts val="1912"/>
              </a:lnSpc>
            </a:pPr>
            <a:r>
              <a:rPr lang="ru-RU" sz="1600" b="0" i="0" u="none" dirty="0">
                <a:solidFill>
                  <a:srgbClr val="334155"/>
                </a:solidFill>
                <a:latin typeface="+mj-lt"/>
              </a:rPr>
              <a:t>Представляет собой серебряную двуглавую птицу «Кат </a:t>
            </a:r>
            <a:r>
              <a:rPr lang="ru-RU" sz="1600" b="0" i="0" u="none" dirty="0" err="1">
                <a:solidFill>
                  <a:srgbClr val="334155"/>
                </a:solidFill>
                <a:latin typeface="+mj-lt"/>
              </a:rPr>
              <a:t>ухуп</a:t>
            </a:r>
            <a:r>
              <a:rPr lang="ru-RU" sz="1600" b="0" i="0" u="none" dirty="0">
                <a:solidFill>
                  <a:srgbClr val="334155"/>
                </a:solidFill>
                <a:latin typeface="+mj-lt"/>
              </a:rPr>
              <a:t> вой» на сине-зеленом щите, увенчанном золотой короной с пламенем. Щит поддерживают два медведя с флагами Югры, стоящие на кедровых ветвях с лентой и девизом «Делами великая».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53902" y="3867148"/>
            <a:ext cx="336042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1" i="0" u="none" dirty="0" err="1">
                <a:solidFill>
                  <a:srgbClr val="005088"/>
                </a:solidFill>
                <a:latin typeface="Merriweather"/>
              </a:rPr>
              <a:t>Флаг</a:t>
            </a:r>
            <a:endParaRPr b="1" i="0" u="none" dirty="0">
              <a:solidFill>
                <a:srgbClr val="005088"/>
              </a:solidFill>
              <a:latin typeface="Merriweather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495800" y="4157752"/>
            <a:ext cx="3200400" cy="12182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ts val="1912"/>
              </a:lnSpc>
            </a:pPr>
            <a:r>
              <a:rPr sz="1600" b="0" i="0" u="none" dirty="0" err="1">
                <a:solidFill>
                  <a:srgbClr val="334155"/>
                </a:solidFill>
                <a:latin typeface="+mj-lt"/>
              </a:rPr>
              <a:t>Сине-зеленое</a:t>
            </a:r>
            <a:r>
              <a:rPr sz="1600" b="0" i="0" u="none" dirty="0">
                <a:solidFill>
                  <a:srgbClr val="334155"/>
                </a:solidFill>
                <a:latin typeface="+mj-lt"/>
              </a:rPr>
              <a:t> </a:t>
            </a:r>
            <a:r>
              <a:rPr sz="1600" b="0" i="0" u="none" dirty="0" err="1">
                <a:solidFill>
                  <a:srgbClr val="334155"/>
                </a:solidFill>
                <a:latin typeface="+mj-lt"/>
              </a:rPr>
              <a:t>полотнище</a:t>
            </a:r>
            <a:r>
              <a:rPr sz="1600" b="0" i="0" u="none" dirty="0">
                <a:solidFill>
                  <a:srgbClr val="334155"/>
                </a:solidFill>
                <a:latin typeface="+mj-lt"/>
              </a:rPr>
              <a:t> с </a:t>
            </a:r>
            <a:r>
              <a:rPr sz="1600" b="0" i="0" u="none" dirty="0" err="1">
                <a:solidFill>
                  <a:srgbClr val="334155"/>
                </a:solidFill>
                <a:latin typeface="+mj-lt"/>
              </a:rPr>
              <a:t>белым</a:t>
            </a:r>
            <a:r>
              <a:rPr sz="1600" b="0" i="0" u="none" dirty="0">
                <a:solidFill>
                  <a:srgbClr val="334155"/>
                </a:solidFill>
                <a:latin typeface="+mj-lt"/>
              </a:rPr>
              <a:t> </a:t>
            </a:r>
            <a:r>
              <a:rPr sz="1600" b="0" i="0" u="none" dirty="0" err="1">
                <a:solidFill>
                  <a:srgbClr val="334155"/>
                </a:solidFill>
                <a:latin typeface="+mj-lt"/>
              </a:rPr>
              <a:t>орнаментом</a:t>
            </a:r>
            <a:r>
              <a:rPr sz="1600" b="0" i="0" u="none" dirty="0">
                <a:solidFill>
                  <a:srgbClr val="334155"/>
                </a:solidFill>
                <a:latin typeface="+mj-lt"/>
              </a:rPr>
              <a:t> «</a:t>
            </a:r>
            <a:r>
              <a:rPr sz="1600" b="0" i="0" u="none" dirty="0" err="1">
                <a:solidFill>
                  <a:srgbClr val="334155"/>
                </a:solidFill>
                <a:latin typeface="+mj-lt"/>
              </a:rPr>
              <a:t>оленьи</a:t>
            </a:r>
            <a:r>
              <a:rPr sz="1600" b="0" i="0" u="none" dirty="0">
                <a:solidFill>
                  <a:srgbClr val="334155"/>
                </a:solidFill>
                <a:latin typeface="+mj-lt"/>
              </a:rPr>
              <a:t> </a:t>
            </a:r>
            <a:r>
              <a:rPr sz="1600" b="0" i="0" u="none" dirty="0" err="1">
                <a:solidFill>
                  <a:srgbClr val="334155"/>
                </a:solidFill>
                <a:latin typeface="+mj-lt"/>
              </a:rPr>
              <a:t>рога</a:t>
            </a:r>
            <a:r>
              <a:rPr sz="1600" b="0" i="0" u="none" dirty="0">
                <a:solidFill>
                  <a:srgbClr val="334155"/>
                </a:solidFill>
                <a:latin typeface="+mj-lt"/>
              </a:rPr>
              <a:t>». </a:t>
            </a:r>
            <a:r>
              <a:rPr sz="1600" b="0" i="0" u="none" dirty="0" err="1">
                <a:solidFill>
                  <a:srgbClr val="334155"/>
                </a:solidFill>
                <a:latin typeface="+mj-lt"/>
              </a:rPr>
              <a:t>Синий</a:t>
            </a:r>
            <a:r>
              <a:rPr sz="1600" b="0" i="0" u="none" dirty="0">
                <a:solidFill>
                  <a:srgbClr val="334155"/>
                </a:solidFill>
                <a:latin typeface="+mj-lt"/>
              </a:rPr>
              <a:t> </a:t>
            </a:r>
            <a:r>
              <a:rPr sz="1600" b="0" i="0" u="none" dirty="0" err="1">
                <a:solidFill>
                  <a:srgbClr val="334155"/>
                </a:solidFill>
                <a:latin typeface="+mj-lt"/>
              </a:rPr>
              <a:t>цвет</a:t>
            </a:r>
            <a:r>
              <a:rPr sz="1600" b="0" i="0" u="none" dirty="0">
                <a:solidFill>
                  <a:srgbClr val="334155"/>
                </a:solidFill>
                <a:latin typeface="+mj-lt"/>
              </a:rPr>
              <a:t> </a:t>
            </a:r>
            <a:r>
              <a:rPr sz="1600" b="0" i="0" u="none" dirty="0" err="1">
                <a:solidFill>
                  <a:srgbClr val="334155"/>
                </a:solidFill>
                <a:latin typeface="+mj-lt"/>
              </a:rPr>
              <a:t>олицетворяет</a:t>
            </a:r>
            <a:r>
              <a:rPr sz="1600" b="0" i="0" u="none" dirty="0">
                <a:solidFill>
                  <a:srgbClr val="334155"/>
                </a:solidFill>
                <a:latin typeface="+mj-lt"/>
              </a:rPr>
              <a:t> </a:t>
            </a:r>
            <a:r>
              <a:rPr sz="1600" b="0" i="0" u="none" dirty="0" err="1">
                <a:solidFill>
                  <a:srgbClr val="334155"/>
                </a:solidFill>
                <a:latin typeface="+mj-lt"/>
              </a:rPr>
              <a:t>водные</a:t>
            </a:r>
            <a:r>
              <a:rPr sz="1600" b="0" i="0" u="none" dirty="0">
                <a:solidFill>
                  <a:srgbClr val="334155"/>
                </a:solidFill>
                <a:latin typeface="+mj-lt"/>
              </a:rPr>
              <a:t> </a:t>
            </a:r>
            <a:r>
              <a:rPr sz="1600" b="0" i="0" u="none" dirty="0" err="1">
                <a:solidFill>
                  <a:srgbClr val="334155"/>
                </a:solidFill>
                <a:latin typeface="+mj-lt"/>
              </a:rPr>
              <a:t>просторы</a:t>
            </a:r>
            <a:r>
              <a:rPr sz="1600" b="0" i="0" u="none" dirty="0">
                <a:solidFill>
                  <a:srgbClr val="334155"/>
                </a:solidFill>
                <a:latin typeface="+mj-lt"/>
              </a:rPr>
              <a:t>, </a:t>
            </a:r>
            <a:r>
              <a:rPr sz="1600" b="0" i="0" u="none" dirty="0" err="1">
                <a:solidFill>
                  <a:srgbClr val="334155"/>
                </a:solidFill>
                <a:latin typeface="+mj-lt"/>
              </a:rPr>
              <a:t>зеленый</a:t>
            </a:r>
            <a:r>
              <a:rPr sz="1600" b="0" i="0" u="none" dirty="0">
                <a:solidFill>
                  <a:srgbClr val="334155"/>
                </a:solidFill>
                <a:latin typeface="+mj-lt"/>
              </a:rPr>
              <a:t> — </a:t>
            </a:r>
            <a:r>
              <a:rPr sz="1600" b="0" i="0" u="none" dirty="0" err="1">
                <a:solidFill>
                  <a:srgbClr val="334155"/>
                </a:solidFill>
                <a:latin typeface="+mj-lt"/>
              </a:rPr>
              <a:t>тайгу</a:t>
            </a:r>
            <a:r>
              <a:rPr sz="1600" b="0" i="0" u="none" dirty="0">
                <a:solidFill>
                  <a:srgbClr val="334155"/>
                </a:solidFill>
                <a:latin typeface="+mj-lt"/>
              </a:rPr>
              <a:t>.</a:t>
            </a:r>
            <a:r>
              <a:rPr dirty="0"/>
              <a:t>
</a:t>
            </a:r>
            <a:endParaRPr sz="1275" b="0" i="0" u="none" dirty="0">
              <a:solidFill>
                <a:srgbClr val="334155"/>
              </a:solidFill>
              <a:latin typeface="DM San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262015" y="3880753"/>
            <a:ext cx="336042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1" i="0" u="none" dirty="0" err="1">
                <a:solidFill>
                  <a:srgbClr val="005088"/>
                </a:solidFill>
                <a:latin typeface="Merriweather"/>
              </a:rPr>
              <a:t>Неформальные</a:t>
            </a:r>
            <a:r>
              <a:rPr b="1" i="0" u="none" dirty="0">
                <a:solidFill>
                  <a:srgbClr val="005088"/>
                </a:solidFill>
                <a:latin typeface="Merriweather"/>
              </a:rPr>
              <a:t> </a:t>
            </a:r>
            <a:r>
              <a:rPr b="1" i="0" u="none" dirty="0" err="1">
                <a:solidFill>
                  <a:srgbClr val="005088"/>
                </a:solidFill>
                <a:latin typeface="Merriweather"/>
              </a:rPr>
              <a:t>символы</a:t>
            </a:r>
            <a:endParaRPr b="1" i="0" u="none" dirty="0">
              <a:solidFill>
                <a:srgbClr val="005088"/>
              </a:solidFill>
              <a:latin typeface="Merriweather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267700" y="4283665"/>
            <a:ext cx="3200400" cy="17055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85750" indent="-285750" algn="just">
              <a:lnSpc>
                <a:spcPts val="1912"/>
              </a:lnSpc>
              <a:buSzPct val="124000"/>
              <a:buFont typeface="Arial" panose="020B0604020202020204" pitchFamily="34" charset="0"/>
              <a:buChar char="•"/>
            </a:pPr>
            <a:r>
              <a:rPr sz="1275" b="0" i="0" u="none" dirty="0">
                <a:solidFill>
                  <a:srgbClr val="334155"/>
                </a:solidFill>
                <a:latin typeface="DM Sans"/>
              </a:rPr>
              <a:t>«</a:t>
            </a:r>
            <a:r>
              <a:rPr sz="1600" b="0" i="0" u="none" dirty="0" err="1">
                <a:solidFill>
                  <a:srgbClr val="334155"/>
                </a:solidFill>
                <a:latin typeface="+mj-lt"/>
              </a:rPr>
              <a:t>Черное</a:t>
            </a:r>
            <a:r>
              <a:rPr sz="1600" b="0" i="0" u="none" dirty="0">
                <a:solidFill>
                  <a:srgbClr val="334155"/>
                </a:solidFill>
                <a:latin typeface="+mj-lt"/>
              </a:rPr>
              <a:t> </a:t>
            </a:r>
            <a:r>
              <a:rPr sz="1600" b="0" i="0" u="none" dirty="0" err="1">
                <a:solidFill>
                  <a:srgbClr val="334155"/>
                </a:solidFill>
                <a:latin typeface="+mj-lt"/>
              </a:rPr>
              <a:t>золото</a:t>
            </a:r>
            <a:r>
              <a:rPr sz="1600" b="0" i="0" u="none" dirty="0">
                <a:solidFill>
                  <a:srgbClr val="334155"/>
                </a:solidFill>
                <a:latin typeface="+mj-lt"/>
              </a:rPr>
              <a:t>» (</a:t>
            </a:r>
            <a:r>
              <a:rPr sz="1600" b="0" i="0" u="none" dirty="0" err="1">
                <a:solidFill>
                  <a:srgbClr val="334155"/>
                </a:solidFill>
                <a:latin typeface="+mj-lt"/>
              </a:rPr>
              <a:t>капля</a:t>
            </a:r>
            <a:r>
              <a:rPr sz="1600" b="0" i="0" u="none" dirty="0">
                <a:solidFill>
                  <a:srgbClr val="334155"/>
                </a:solidFill>
                <a:latin typeface="+mj-lt"/>
              </a:rPr>
              <a:t> </a:t>
            </a:r>
            <a:r>
              <a:rPr sz="1600" b="0" i="0" u="none" dirty="0" err="1">
                <a:solidFill>
                  <a:srgbClr val="334155"/>
                </a:solidFill>
                <a:latin typeface="+mj-lt"/>
              </a:rPr>
              <a:t>сибирской</a:t>
            </a:r>
            <a:r>
              <a:rPr sz="1600" b="0" i="0" u="none" dirty="0">
                <a:solidFill>
                  <a:srgbClr val="334155"/>
                </a:solidFill>
                <a:latin typeface="+mj-lt"/>
              </a:rPr>
              <a:t> </a:t>
            </a:r>
            <a:r>
              <a:rPr sz="1600" b="0" i="0" u="none" dirty="0" err="1">
                <a:solidFill>
                  <a:srgbClr val="334155"/>
                </a:solidFill>
                <a:latin typeface="+mj-lt"/>
              </a:rPr>
              <a:t>нефти</a:t>
            </a:r>
            <a:r>
              <a:rPr sz="1600" b="0" i="0" u="none" dirty="0">
                <a:solidFill>
                  <a:srgbClr val="334155"/>
                </a:solidFill>
                <a:latin typeface="+mj-lt"/>
              </a:rPr>
              <a:t>)</a:t>
            </a:r>
            <a:endParaRPr lang="en-US" sz="1600" b="0" i="0" u="none" dirty="0">
              <a:solidFill>
                <a:srgbClr val="334155"/>
              </a:solidFill>
              <a:latin typeface="+mj-lt"/>
            </a:endParaRPr>
          </a:p>
          <a:p>
            <a:pPr marL="285750" indent="-285750" algn="just">
              <a:lnSpc>
                <a:spcPts val="1912"/>
              </a:lnSpc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rgbClr val="334155"/>
                </a:solidFill>
                <a:latin typeface="+mj-lt"/>
              </a:rPr>
              <a:t>М</a:t>
            </a:r>
            <a:r>
              <a:rPr sz="1600" b="0" i="0" u="none" dirty="0" err="1">
                <a:solidFill>
                  <a:srgbClr val="334155"/>
                </a:solidFill>
                <a:latin typeface="+mj-lt"/>
              </a:rPr>
              <a:t>огучий</a:t>
            </a:r>
            <a:r>
              <a:rPr sz="1600" b="0" i="0" u="none" dirty="0">
                <a:solidFill>
                  <a:srgbClr val="334155"/>
                </a:solidFill>
                <a:latin typeface="+mj-lt"/>
              </a:rPr>
              <a:t> </a:t>
            </a:r>
            <a:r>
              <a:rPr sz="1600" b="0" i="0" u="none" dirty="0" err="1">
                <a:solidFill>
                  <a:srgbClr val="334155"/>
                </a:solidFill>
                <a:latin typeface="+mj-lt"/>
              </a:rPr>
              <a:t>мамонт</a:t>
            </a:r>
            <a:r>
              <a:rPr sz="1600" b="0" i="0" u="none" dirty="0">
                <a:solidFill>
                  <a:srgbClr val="334155"/>
                </a:solidFill>
                <a:latin typeface="+mj-lt"/>
              </a:rPr>
              <a:t> (</a:t>
            </a:r>
            <a:r>
              <a:rPr sz="1600" b="0" i="0" u="none" dirty="0" err="1">
                <a:solidFill>
                  <a:srgbClr val="334155"/>
                </a:solidFill>
                <a:latin typeface="+mj-lt"/>
              </a:rPr>
              <a:t>скульптурная</a:t>
            </a:r>
            <a:r>
              <a:rPr sz="1600" b="0" i="0" u="none" dirty="0">
                <a:solidFill>
                  <a:srgbClr val="334155"/>
                </a:solidFill>
                <a:latin typeface="+mj-lt"/>
              </a:rPr>
              <a:t> </a:t>
            </a:r>
            <a:r>
              <a:rPr sz="1600" b="0" i="0" u="none" dirty="0" err="1">
                <a:solidFill>
                  <a:srgbClr val="334155"/>
                </a:solidFill>
                <a:latin typeface="+mj-lt"/>
              </a:rPr>
              <a:t>группа</a:t>
            </a:r>
            <a:r>
              <a:rPr sz="1600" b="0" i="0" u="none" dirty="0">
                <a:solidFill>
                  <a:srgbClr val="334155"/>
                </a:solidFill>
                <a:latin typeface="+mj-lt"/>
              </a:rPr>
              <a:t> </a:t>
            </a:r>
            <a:r>
              <a:rPr sz="1600" b="0" i="0" u="none" dirty="0" err="1">
                <a:solidFill>
                  <a:srgbClr val="334155"/>
                </a:solidFill>
                <a:latin typeface="+mj-lt"/>
              </a:rPr>
              <a:t>Археопарка</a:t>
            </a:r>
            <a:r>
              <a:rPr sz="1600" b="0" i="0" u="none" dirty="0">
                <a:solidFill>
                  <a:srgbClr val="334155"/>
                </a:solidFill>
                <a:latin typeface="+mj-lt"/>
              </a:rPr>
              <a:t>)</a:t>
            </a:r>
            <a:endParaRPr lang="en-US" sz="1600" b="0" i="0" u="none" dirty="0">
              <a:solidFill>
                <a:srgbClr val="334155"/>
              </a:solidFill>
              <a:latin typeface="+mj-lt"/>
            </a:endParaRPr>
          </a:p>
          <a:p>
            <a:pPr marL="285750" indent="-285750" algn="just">
              <a:lnSpc>
                <a:spcPts val="1912"/>
              </a:lnSpc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rgbClr val="334155"/>
                </a:solidFill>
                <a:latin typeface="+mj-lt"/>
              </a:rPr>
              <a:t>C</a:t>
            </a:r>
            <a:r>
              <a:rPr sz="1600" b="0" i="0" u="none" dirty="0" err="1">
                <a:solidFill>
                  <a:srgbClr val="334155"/>
                </a:solidFill>
                <a:latin typeface="+mj-lt"/>
              </a:rPr>
              <a:t>еверный</a:t>
            </a:r>
            <a:r>
              <a:rPr sz="1600" b="0" i="0" u="none" dirty="0">
                <a:solidFill>
                  <a:srgbClr val="334155"/>
                </a:solidFill>
                <a:latin typeface="+mj-lt"/>
              </a:rPr>
              <a:t> </a:t>
            </a:r>
            <a:r>
              <a:rPr sz="1600" b="0" i="0" u="none" dirty="0" err="1">
                <a:solidFill>
                  <a:srgbClr val="334155"/>
                </a:solidFill>
                <a:latin typeface="+mj-lt"/>
              </a:rPr>
              <a:t>олень</a:t>
            </a:r>
            <a:endParaRPr lang="en-US" sz="1600" dirty="0">
              <a:solidFill>
                <a:srgbClr val="334155"/>
              </a:solidFill>
              <a:latin typeface="+mj-lt"/>
            </a:endParaRPr>
          </a:p>
          <a:p>
            <a:pPr marL="285750" indent="-285750" algn="just">
              <a:lnSpc>
                <a:spcPts val="1912"/>
              </a:lnSpc>
              <a:buFont typeface="Arial" panose="020B0604020202020204" pitchFamily="34" charset="0"/>
              <a:buChar char="•"/>
            </a:pPr>
            <a:r>
              <a:rPr lang="ru-RU" sz="1600" b="0" i="0" u="none" dirty="0">
                <a:solidFill>
                  <a:srgbClr val="334155"/>
                </a:solidFill>
                <a:latin typeface="+mj-lt"/>
              </a:rPr>
              <a:t>Я</a:t>
            </a:r>
            <a:r>
              <a:rPr sz="1600" b="0" i="0" u="none" dirty="0" err="1">
                <a:solidFill>
                  <a:srgbClr val="334155"/>
                </a:solidFill>
                <a:latin typeface="+mj-lt"/>
              </a:rPr>
              <a:t>года</a:t>
            </a:r>
            <a:r>
              <a:rPr sz="1600" b="0" i="0" u="none" dirty="0">
                <a:solidFill>
                  <a:srgbClr val="334155"/>
                </a:solidFill>
                <a:latin typeface="+mj-lt"/>
              </a:rPr>
              <a:t> </a:t>
            </a:r>
            <a:r>
              <a:rPr sz="1600" b="0" i="0" u="none" dirty="0" err="1">
                <a:solidFill>
                  <a:srgbClr val="334155"/>
                </a:solidFill>
                <a:latin typeface="+mj-lt"/>
              </a:rPr>
              <a:t>морошк</a:t>
            </a:r>
            <a:r>
              <a:rPr lang="ru-RU" sz="1600" b="0" i="0" u="none" dirty="0">
                <a:solidFill>
                  <a:srgbClr val="334155"/>
                </a:solidFill>
                <a:latin typeface="+mj-lt"/>
              </a:rPr>
              <a:t>и</a:t>
            </a:r>
          </a:p>
          <a:p>
            <a:pPr marL="285750" indent="-285750" algn="just">
              <a:lnSpc>
                <a:spcPts val="1912"/>
              </a:lnSpc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rgbClr val="334155"/>
                </a:solidFill>
                <a:latin typeface="+mj-lt"/>
              </a:rPr>
              <a:t>Р</a:t>
            </a:r>
            <a:r>
              <a:rPr sz="1600" b="0" i="0" u="none" dirty="0" err="1">
                <a:solidFill>
                  <a:srgbClr val="334155"/>
                </a:solidFill>
                <a:latin typeface="+mj-lt"/>
              </a:rPr>
              <a:t>езные</a:t>
            </a:r>
            <a:r>
              <a:rPr sz="1600" b="0" i="0" u="none" dirty="0">
                <a:solidFill>
                  <a:srgbClr val="334155"/>
                </a:solidFill>
                <a:latin typeface="+mj-lt"/>
              </a:rPr>
              <a:t> </a:t>
            </a:r>
            <a:r>
              <a:rPr sz="1600" b="0" i="0" u="none" dirty="0" err="1">
                <a:solidFill>
                  <a:srgbClr val="334155"/>
                </a:solidFill>
                <a:latin typeface="+mj-lt"/>
              </a:rPr>
              <a:t>нарты</a:t>
            </a:r>
            <a:r>
              <a:rPr sz="1600" b="0" i="0" u="none" dirty="0">
                <a:solidFill>
                  <a:srgbClr val="334155"/>
                </a:solidFill>
                <a:latin typeface="+mj-lt"/>
              </a:rPr>
              <a:t> </a:t>
            </a:r>
            <a:r>
              <a:rPr sz="1600" b="0" i="0" u="none" dirty="0" err="1">
                <a:solidFill>
                  <a:srgbClr val="334155"/>
                </a:solidFill>
                <a:latin typeface="+mj-lt"/>
              </a:rPr>
              <a:t>обских</a:t>
            </a:r>
            <a:r>
              <a:rPr sz="1600" b="0" i="0" u="none" dirty="0">
                <a:solidFill>
                  <a:srgbClr val="334155"/>
                </a:solidFill>
                <a:latin typeface="+mj-lt"/>
              </a:rPr>
              <a:t> </a:t>
            </a:r>
            <a:r>
              <a:rPr sz="1600" b="0" i="0" u="none" dirty="0" err="1">
                <a:solidFill>
                  <a:srgbClr val="334155"/>
                </a:solidFill>
                <a:latin typeface="+mj-lt"/>
              </a:rPr>
              <a:t>угров</a:t>
            </a:r>
            <a:r>
              <a:rPr sz="1275" b="0" i="0" u="none" dirty="0">
                <a:solidFill>
                  <a:srgbClr val="334155"/>
                </a:solidFill>
                <a:latin typeface="DM Sans"/>
              </a:rPr>
              <a:t>.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F018894-2DE7-4A6C-AAFD-1EBD7E6E2B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8130" y="782291"/>
            <a:ext cx="3003550" cy="27407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70E9366A-0EB2-4F5D-9F49-A7C28E22DD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23383" y="1262281"/>
            <a:ext cx="3753817" cy="20329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Picture background">
            <a:extLst>
              <a:ext uri="{FF2B5EF4-FFF2-40B4-BE49-F238E27FC236}">
                <a16:creationId xmlns:a16="http://schemas.microsoft.com/office/drawing/2014/main" id="{83019D7B-C25E-45DC-89E8-1B842DCB2A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903289"/>
            <a:ext cx="3581400" cy="2686050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3CEF7290-533E-4C34-9B10-58F8509D5D56}"/>
              </a:ext>
            </a:extLst>
          </p:cNvPr>
          <p:cNvSpPr/>
          <p:nvPr/>
        </p:nvSpPr>
        <p:spPr>
          <a:xfrm>
            <a:off x="4804703" y="867127"/>
            <a:ext cx="7267431" cy="576484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3" name="Picture 7" descr="image.png">
            <a:extLst>
              <a:ext uri="{FF2B5EF4-FFF2-40B4-BE49-F238E27FC236}">
                <a16:creationId xmlns:a16="http://schemas.microsoft.com/office/drawing/2014/main" id="{390283AA-D951-41FA-AC7E-7FA9CABD18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18861" y="457200"/>
            <a:ext cx="1239738" cy="2667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4F34ED8-CF2A-45BF-B137-BDFE835BC9D6}"/>
              </a:ext>
            </a:extLst>
          </p:cNvPr>
          <p:cNvSpPr txBox="1"/>
          <p:nvPr/>
        </p:nvSpPr>
        <p:spPr>
          <a:xfrm>
            <a:off x="533400" y="419100"/>
            <a:ext cx="7380922" cy="3231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 dirty="0" err="1">
                <a:solidFill>
                  <a:srgbClr val="005088"/>
                </a:solidFill>
                <a:latin typeface="Merriweather"/>
              </a:rPr>
              <a:t>Символы</a:t>
            </a:r>
            <a:r>
              <a:rPr sz="2100" b="1" i="0" u="none" dirty="0">
                <a:solidFill>
                  <a:srgbClr val="005088"/>
                </a:solidFill>
                <a:latin typeface="Merriweather"/>
              </a:rPr>
              <a:t> </a:t>
            </a:r>
            <a:r>
              <a:rPr sz="2100" b="1" i="0" u="none" dirty="0" err="1">
                <a:solidFill>
                  <a:srgbClr val="005088"/>
                </a:solidFill>
                <a:latin typeface="Merriweather"/>
              </a:rPr>
              <a:t>региона</a:t>
            </a:r>
            <a:r>
              <a:rPr sz="2100" b="1" i="0" u="none" dirty="0">
                <a:solidFill>
                  <a:srgbClr val="005088"/>
                </a:solidFill>
                <a:latin typeface="Merriweather"/>
              </a:rPr>
              <a:t>: </a:t>
            </a:r>
            <a:r>
              <a:rPr lang="ru-RU" sz="2100" b="1" i="0" u="none" dirty="0">
                <a:solidFill>
                  <a:srgbClr val="005088"/>
                </a:solidFill>
                <a:latin typeface="Merriweather"/>
              </a:rPr>
              <a:t>гимн</a:t>
            </a:r>
            <a:endParaRPr sz="2100" b="1" i="0" u="none" dirty="0">
              <a:solidFill>
                <a:srgbClr val="005088"/>
              </a:solidFill>
              <a:latin typeface="Merriweather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F8AF6D6-37B0-43F2-8AC7-B2DCAE44D285}"/>
              </a:ext>
            </a:extLst>
          </p:cNvPr>
          <p:cNvSpPr txBox="1"/>
          <p:nvPr/>
        </p:nvSpPr>
        <p:spPr>
          <a:xfrm>
            <a:off x="5188340" y="1326110"/>
            <a:ext cx="3412991" cy="43858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ts val="1912"/>
              </a:lnSpc>
            </a:pPr>
            <a:endParaRPr lang="ru-RU" b="0" i="0" u="none" dirty="0">
              <a:solidFill>
                <a:srgbClr val="334155"/>
              </a:solidFill>
              <a:latin typeface="+mj-lt"/>
            </a:endParaRPr>
          </a:p>
          <a:p>
            <a:pPr>
              <a:lnSpc>
                <a:spcPts val="1912"/>
              </a:lnSpc>
            </a:pPr>
            <a:r>
              <a:rPr lang="ru-RU" b="0" i="0" u="none" dirty="0">
                <a:solidFill>
                  <a:srgbClr val="334155"/>
                </a:solidFill>
                <a:latin typeface="+mj-lt"/>
              </a:rPr>
              <a:t>Наш округ - седой богатырь</a:t>
            </a:r>
            <a:br>
              <a:rPr lang="ru-RU" b="0" i="0" u="none" dirty="0">
                <a:solidFill>
                  <a:srgbClr val="334155"/>
                </a:solidFill>
                <a:latin typeface="+mj-lt"/>
              </a:rPr>
            </a:br>
            <a:r>
              <a:rPr lang="ru-RU" b="0" i="0" u="none" dirty="0">
                <a:solidFill>
                  <a:srgbClr val="334155"/>
                </a:solidFill>
                <a:latin typeface="+mj-lt"/>
              </a:rPr>
              <a:t>Свой дух возродил величаво,</a:t>
            </a:r>
            <a:br>
              <a:rPr lang="ru-RU" b="0" i="0" u="none" dirty="0">
                <a:solidFill>
                  <a:srgbClr val="334155"/>
                </a:solidFill>
                <a:latin typeface="+mj-lt"/>
              </a:rPr>
            </a:br>
            <a:r>
              <a:rPr lang="ru-RU" b="0" i="0" u="none" dirty="0">
                <a:solidFill>
                  <a:srgbClr val="334155"/>
                </a:solidFill>
                <a:latin typeface="+mj-lt"/>
              </a:rPr>
              <a:t>Опора России - Урал и Сибирь!</a:t>
            </a:r>
            <a:br>
              <a:rPr lang="ru-RU" b="0" i="0" u="none" dirty="0">
                <a:solidFill>
                  <a:srgbClr val="334155"/>
                </a:solidFill>
                <a:latin typeface="+mj-lt"/>
              </a:rPr>
            </a:br>
            <a:r>
              <a:rPr lang="ru-RU" b="0" i="0" u="none" dirty="0">
                <a:solidFill>
                  <a:srgbClr val="334155"/>
                </a:solidFill>
                <a:latin typeface="+mj-lt"/>
              </a:rPr>
              <a:t>Гордимся </a:t>
            </a:r>
            <a:r>
              <a:rPr lang="ru-RU" b="0" i="0" u="none" dirty="0" err="1">
                <a:solidFill>
                  <a:srgbClr val="334155"/>
                </a:solidFill>
                <a:latin typeface="+mj-lt"/>
              </a:rPr>
              <a:t>Югрою</a:t>
            </a:r>
            <a:r>
              <a:rPr lang="ru-RU" b="0" i="0" u="none" dirty="0">
                <a:solidFill>
                  <a:srgbClr val="334155"/>
                </a:solidFill>
                <a:latin typeface="+mj-lt"/>
              </a:rPr>
              <a:t> по праву!</a:t>
            </a:r>
          </a:p>
          <a:p>
            <a:pPr algn="just">
              <a:lnSpc>
                <a:spcPts val="1912"/>
              </a:lnSpc>
            </a:pPr>
            <a:endParaRPr lang="ru-RU" b="0" i="0" u="none" dirty="0">
              <a:solidFill>
                <a:srgbClr val="334155"/>
              </a:solidFill>
              <a:latin typeface="+mj-lt"/>
            </a:endParaRPr>
          </a:p>
          <a:p>
            <a:pPr>
              <a:lnSpc>
                <a:spcPts val="1912"/>
              </a:lnSpc>
            </a:pPr>
            <a:r>
              <a:rPr lang="ru-RU" b="0" i="0" u="none" dirty="0">
                <a:solidFill>
                  <a:srgbClr val="334155"/>
                </a:solidFill>
                <a:latin typeface="+mj-lt"/>
              </a:rPr>
              <a:t>Югра многоликая,</a:t>
            </a:r>
            <a:br>
              <a:rPr lang="ru-RU" b="0" i="0" u="none" dirty="0">
                <a:solidFill>
                  <a:srgbClr val="334155"/>
                </a:solidFill>
                <a:latin typeface="+mj-lt"/>
              </a:rPr>
            </a:br>
            <a:r>
              <a:rPr lang="ru-RU" b="0" i="0" u="none" dirty="0">
                <a:solidFill>
                  <a:srgbClr val="334155"/>
                </a:solidFill>
                <a:latin typeface="+mj-lt"/>
              </a:rPr>
              <a:t>Делами великая</a:t>
            </a:r>
            <a:br>
              <a:rPr lang="ru-RU" b="0" i="0" u="none" dirty="0">
                <a:solidFill>
                  <a:srgbClr val="334155"/>
                </a:solidFill>
                <a:latin typeface="+mj-lt"/>
              </a:rPr>
            </a:br>
            <a:r>
              <a:rPr lang="ru-RU" b="0" i="0" u="none" dirty="0">
                <a:solidFill>
                  <a:srgbClr val="334155"/>
                </a:solidFill>
                <a:latin typeface="+mj-lt"/>
              </a:rPr>
              <a:t>Идет вдохновенно вперед!</a:t>
            </a:r>
            <a:br>
              <a:rPr lang="ru-RU" b="0" i="0" u="none" dirty="0">
                <a:solidFill>
                  <a:srgbClr val="334155"/>
                </a:solidFill>
                <a:latin typeface="+mj-lt"/>
              </a:rPr>
            </a:br>
            <a:r>
              <a:rPr lang="ru-RU" b="0" i="0" u="none" dirty="0">
                <a:solidFill>
                  <a:srgbClr val="334155"/>
                </a:solidFill>
                <a:latin typeface="+mj-lt"/>
              </a:rPr>
              <a:t>Мы пишем историю</a:t>
            </a:r>
            <a:br>
              <a:rPr lang="ru-RU" b="0" i="0" u="none" dirty="0">
                <a:solidFill>
                  <a:srgbClr val="334155"/>
                </a:solidFill>
                <a:latin typeface="+mj-lt"/>
              </a:rPr>
            </a:br>
            <a:r>
              <a:rPr lang="ru-RU" b="0" i="0" u="none" dirty="0">
                <a:solidFill>
                  <a:srgbClr val="334155"/>
                </a:solidFill>
                <a:latin typeface="+mj-lt"/>
              </a:rPr>
              <a:t>Любимой </a:t>
            </a:r>
            <a:r>
              <a:rPr lang="ru-RU" b="0" i="0" u="none" dirty="0" err="1">
                <a:solidFill>
                  <a:srgbClr val="334155"/>
                </a:solidFill>
                <a:latin typeface="+mj-lt"/>
              </a:rPr>
              <a:t>Югории</a:t>
            </a:r>
            <a:br>
              <a:rPr lang="ru-RU" b="0" i="0" u="none" dirty="0">
                <a:solidFill>
                  <a:srgbClr val="334155"/>
                </a:solidFill>
                <a:latin typeface="+mj-lt"/>
              </a:rPr>
            </a:br>
            <a:r>
              <a:rPr lang="ru-RU" b="0" i="0" u="none" dirty="0">
                <a:solidFill>
                  <a:srgbClr val="334155"/>
                </a:solidFill>
                <a:latin typeface="+mj-lt"/>
              </a:rPr>
              <a:t>И славим Югорский народ!</a:t>
            </a:r>
          </a:p>
          <a:p>
            <a:pPr algn="just">
              <a:lnSpc>
                <a:spcPts val="1912"/>
              </a:lnSpc>
            </a:pPr>
            <a:endParaRPr lang="ru-RU" b="0" i="0" u="none" dirty="0">
              <a:solidFill>
                <a:srgbClr val="334155"/>
              </a:solidFill>
              <a:latin typeface="+mj-lt"/>
            </a:endParaRPr>
          </a:p>
          <a:p>
            <a:pPr>
              <a:lnSpc>
                <a:spcPts val="1912"/>
              </a:lnSpc>
            </a:pPr>
            <a:r>
              <a:rPr lang="ru-RU" b="0" i="0" u="none" dirty="0">
                <a:solidFill>
                  <a:srgbClr val="334155"/>
                </a:solidFill>
                <a:latin typeface="+mj-lt"/>
              </a:rPr>
              <a:t>Под небом сибирской земли</a:t>
            </a:r>
            <a:br>
              <a:rPr lang="ru-RU" b="0" i="0" u="none" dirty="0">
                <a:solidFill>
                  <a:srgbClr val="334155"/>
                </a:solidFill>
                <a:latin typeface="+mj-lt"/>
              </a:rPr>
            </a:br>
            <a:r>
              <a:rPr lang="ru-RU" b="0" i="0" u="none" dirty="0">
                <a:solidFill>
                  <a:srgbClr val="334155"/>
                </a:solidFill>
                <a:latin typeface="+mj-lt"/>
              </a:rPr>
              <a:t>Богатства от края до края,</a:t>
            </a:r>
            <a:br>
              <a:rPr lang="ru-RU" b="0" i="0" u="none" dirty="0">
                <a:solidFill>
                  <a:srgbClr val="334155"/>
                </a:solidFill>
                <a:latin typeface="+mj-lt"/>
              </a:rPr>
            </a:br>
            <a:r>
              <a:rPr lang="ru-RU" b="0" i="0" u="none" dirty="0">
                <a:solidFill>
                  <a:srgbClr val="334155"/>
                </a:solidFill>
                <a:latin typeface="+mj-lt"/>
              </a:rPr>
              <a:t>И крылья надежды мы здесь обрели,</a:t>
            </a:r>
            <a:br>
              <a:rPr lang="ru-RU" b="0" i="0" u="none" dirty="0">
                <a:solidFill>
                  <a:srgbClr val="334155"/>
                </a:solidFill>
                <a:latin typeface="+mj-lt"/>
              </a:rPr>
            </a:br>
            <a:r>
              <a:rPr lang="ru-RU" b="0" i="0" u="none" dirty="0">
                <a:solidFill>
                  <a:srgbClr val="334155"/>
                </a:solidFill>
                <a:latin typeface="+mj-lt"/>
              </a:rPr>
              <a:t>Югру на века прославляя!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54FC645-9156-405C-BF96-F817C9EACC44}"/>
              </a:ext>
            </a:extLst>
          </p:cNvPr>
          <p:cNvSpPr txBox="1"/>
          <p:nvPr/>
        </p:nvSpPr>
        <p:spPr>
          <a:xfrm>
            <a:off x="8300551" y="1308383"/>
            <a:ext cx="4154556" cy="4629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ts val="1912"/>
              </a:lnSpc>
            </a:pPr>
            <a:endParaRPr lang="ru-RU" sz="1600" b="0" i="0" u="none" dirty="0">
              <a:solidFill>
                <a:srgbClr val="334155"/>
              </a:solidFill>
              <a:latin typeface="+mj-lt"/>
            </a:endParaRPr>
          </a:p>
          <a:p>
            <a:pPr>
              <a:lnSpc>
                <a:spcPts val="1912"/>
              </a:lnSpc>
            </a:pPr>
            <a:r>
              <a:rPr lang="ru-RU" b="0" i="0" u="none" dirty="0">
                <a:solidFill>
                  <a:srgbClr val="334155"/>
                </a:solidFill>
                <a:latin typeface="+mj-lt"/>
              </a:rPr>
              <a:t>Югра многоликая,</a:t>
            </a:r>
            <a:br>
              <a:rPr lang="ru-RU" b="0" i="0" u="none" dirty="0">
                <a:solidFill>
                  <a:srgbClr val="334155"/>
                </a:solidFill>
                <a:latin typeface="+mj-lt"/>
              </a:rPr>
            </a:br>
            <a:r>
              <a:rPr lang="ru-RU" b="0" i="0" u="none" dirty="0">
                <a:solidFill>
                  <a:srgbClr val="334155"/>
                </a:solidFill>
                <a:latin typeface="+mj-lt"/>
              </a:rPr>
              <a:t>Делами великая</a:t>
            </a:r>
            <a:br>
              <a:rPr lang="ru-RU" b="0" i="0" u="none" dirty="0">
                <a:solidFill>
                  <a:srgbClr val="334155"/>
                </a:solidFill>
                <a:latin typeface="+mj-lt"/>
              </a:rPr>
            </a:br>
            <a:r>
              <a:rPr lang="ru-RU" b="0" i="0" u="none" dirty="0">
                <a:solidFill>
                  <a:srgbClr val="334155"/>
                </a:solidFill>
                <a:latin typeface="+mj-lt"/>
              </a:rPr>
              <a:t>Идет вдохновенно вперед!</a:t>
            </a:r>
            <a:br>
              <a:rPr lang="ru-RU" b="0" i="0" u="none" dirty="0">
                <a:solidFill>
                  <a:srgbClr val="334155"/>
                </a:solidFill>
                <a:latin typeface="+mj-lt"/>
              </a:rPr>
            </a:br>
            <a:r>
              <a:rPr lang="ru-RU" b="0" i="0" u="none" dirty="0">
                <a:solidFill>
                  <a:srgbClr val="334155"/>
                </a:solidFill>
                <a:latin typeface="+mj-lt"/>
              </a:rPr>
              <a:t>Мы пишем историю</a:t>
            </a:r>
            <a:br>
              <a:rPr lang="ru-RU" b="0" i="0" u="none" dirty="0">
                <a:solidFill>
                  <a:srgbClr val="334155"/>
                </a:solidFill>
                <a:latin typeface="+mj-lt"/>
              </a:rPr>
            </a:br>
            <a:r>
              <a:rPr lang="ru-RU" b="0" i="0" u="none" dirty="0">
                <a:solidFill>
                  <a:srgbClr val="334155"/>
                </a:solidFill>
                <a:latin typeface="+mj-lt"/>
              </a:rPr>
              <a:t>Любимой </a:t>
            </a:r>
            <a:r>
              <a:rPr lang="ru-RU" b="0" i="0" u="none" dirty="0" err="1">
                <a:solidFill>
                  <a:srgbClr val="334155"/>
                </a:solidFill>
                <a:latin typeface="+mj-lt"/>
              </a:rPr>
              <a:t>Югории</a:t>
            </a:r>
            <a:br>
              <a:rPr lang="ru-RU" b="0" i="0" u="none" dirty="0">
                <a:solidFill>
                  <a:srgbClr val="334155"/>
                </a:solidFill>
                <a:latin typeface="+mj-lt"/>
              </a:rPr>
            </a:br>
            <a:r>
              <a:rPr lang="ru-RU" b="0" i="0" u="none" dirty="0">
                <a:solidFill>
                  <a:srgbClr val="334155"/>
                </a:solidFill>
                <a:latin typeface="+mj-lt"/>
              </a:rPr>
              <a:t>И славим Югорский народ!</a:t>
            </a:r>
          </a:p>
          <a:p>
            <a:pPr>
              <a:lnSpc>
                <a:spcPts val="1912"/>
              </a:lnSpc>
            </a:pPr>
            <a:endParaRPr lang="ru-RU" b="0" i="0" u="none" dirty="0">
              <a:solidFill>
                <a:srgbClr val="334155"/>
              </a:solidFill>
              <a:latin typeface="+mj-lt"/>
            </a:endParaRPr>
          </a:p>
          <a:p>
            <a:pPr>
              <a:lnSpc>
                <a:spcPts val="1912"/>
              </a:lnSpc>
            </a:pPr>
            <a:r>
              <a:rPr lang="ru-RU" b="0" i="0" u="none" dirty="0">
                <a:solidFill>
                  <a:srgbClr val="334155"/>
                </a:solidFill>
                <a:latin typeface="+mj-lt"/>
              </a:rPr>
              <a:t>Югра - ты прекрасный наш дом,</a:t>
            </a:r>
            <a:br>
              <a:rPr lang="ru-RU" b="0" i="0" u="none" dirty="0">
                <a:solidFill>
                  <a:srgbClr val="334155"/>
                </a:solidFill>
                <a:latin typeface="+mj-lt"/>
              </a:rPr>
            </a:br>
            <a:r>
              <a:rPr lang="ru-RU" b="0" i="0" u="none" dirty="0">
                <a:solidFill>
                  <a:srgbClr val="334155"/>
                </a:solidFill>
                <a:latin typeface="+mj-lt"/>
              </a:rPr>
              <a:t>Здесь ценят всегда человека,</a:t>
            </a:r>
            <a:br>
              <a:rPr lang="ru-RU" b="0" i="0" u="none" dirty="0">
                <a:solidFill>
                  <a:srgbClr val="334155"/>
                </a:solidFill>
                <a:latin typeface="+mj-lt"/>
              </a:rPr>
            </a:br>
            <a:r>
              <a:rPr lang="ru-RU" b="0" i="0" u="none" dirty="0">
                <a:solidFill>
                  <a:srgbClr val="334155"/>
                </a:solidFill>
                <a:latin typeface="+mj-lt"/>
              </a:rPr>
              <a:t>И нашим упорством, и нашим трудом</a:t>
            </a:r>
            <a:br>
              <a:rPr lang="ru-RU" b="0" i="0" u="none" dirty="0">
                <a:solidFill>
                  <a:srgbClr val="334155"/>
                </a:solidFill>
                <a:latin typeface="+mj-lt"/>
              </a:rPr>
            </a:br>
            <a:r>
              <a:rPr lang="ru-RU" b="0" i="0" u="none" dirty="0">
                <a:solidFill>
                  <a:srgbClr val="334155"/>
                </a:solidFill>
                <a:latin typeface="+mj-lt"/>
              </a:rPr>
              <a:t>Тебе процветать век от века!</a:t>
            </a:r>
          </a:p>
          <a:p>
            <a:pPr>
              <a:lnSpc>
                <a:spcPts val="1912"/>
              </a:lnSpc>
            </a:pPr>
            <a:endParaRPr lang="ru-RU" b="0" i="0" u="none" dirty="0">
              <a:solidFill>
                <a:srgbClr val="334155"/>
              </a:solidFill>
              <a:latin typeface="+mj-lt"/>
            </a:endParaRPr>
          </a:p>
          <a:p>
            <a:pPr>
              <a:lnSpc>
                <a:spcPts val="1912"/>
              </a:lnSpc>
            </a:pPr>
            <a:r>
              <a:rPr lang="ru-RU" b="0" i="0" u="none" dirty="0">
                <a:solidFill>
                  <a:srgbClr val="334155"/>
                </a:solidFill>
                <a:latin typeface="+mj-lt"/>
              </a:rPr>
              <a:t>Югра многоликая,</a:t>
            </a:r>
            <a:br>
              <a:rPr lang="ru-RU" b="0" i="0" u="none" dirty="0">
                <a:solidFill>
                  <a:srgbClr val="334155"/>
                </a:solidFill>
                <a:latin typeface="+mj-lt"/>
              </a:rPr>
            </a:br>
            <a:r>
              <a:rPr lang="ru-RU" b="0" i="0" u="none" dirty="0">
                <a:solidFill>
                  <a:srgbClr val="334155"/>
                </a:solidFill>
                <a:latin typeface="+mj-lt"/>
              </a:rPr>
              <a:t>Делами великая</a:t>
            </a:r>
            <a:br>
              <a:rPr lang="ru-RU" b="0" i="0" u="none" dirty="0">
                <a:solidFill>
                  <a:srgbClr val="334155"/>
                </a:solidFill>
                <a:latin typeface="+mj-lt"/>
              </a:rPr>
            </a:br>
            <a:r>
              <a:rPr lang="ru-RU" b="0" i="0" u="none" dirty="0">
                <a:solidFill>
                  <a:srgbClr val="334155"/>
                </a:solidFill>
                <a:latin typeface="+mj-lt"/>
              </a:rPr>
              <a:t>Идет вдохновенно вперед!</a:t>
            </a:r>
            <a:br>
              <a:rPr lang="ru-RU" b="0" i="0" u="none" dirty="0">
                <a:solidFill>
                  <a:srgbClr val="334155"/>
                </a:solidFill>
                <a:latin typeface="+mj-lt"/>
              </a:rPr>
            </a:br>
            <a:r>
              <a:rPr lang="ru-RU" b="0" i="0" u="none" dirty="0">
                <a:solidFill>
                  <a:srgbClr val="334155"/>
                </a:solidFill>
                <a:latin typeface="+mj-lt"/>
              </a:rPr>
              <a:t>Мы пишем историю</a:t>
            </a:r>
            <a:br>
              <a:rPr lang="ru-RU" b="0" i="0" u="none" dirty="0">
                <a:solidFill>
                  <a:srgbClr val="334155"/>
                </a:solidFill>
                <a:latin typeface="+mj-lt"/>
              </a:rPr>
            </a:br>
            <a:r>
              <a:rPr lang="ru-RU" b="0" i="0" u="none" dirty="0">
                <a:solidFill>
                  <a:srgbClr val="334155"/>
                </a:solidFill>
                <a:latin typeface="+mj-lt"/>
              </a:rPr>
              <a:t>Любимой </a:t>
            </a:r>
            <a:r>
              <a:rPr lang="ru-RU" b="0" i="0" u="none" dirty="0" err="1">
                <a:solidFill>
                  <a:srgbClr val="334155"/>
                </a:solidFill>
                <a:latin typeface="+mj-lt"/>
              </a:rPr>
              <a:t>Югории</a:t>
            </a:r>
            <a:br>
              <a:rPr lang="ru-RU" b="0" i="0" u="none" dirty="0">
                <a:solidFill>
                  <a:srgbClr val="334155"/>
                </a:solidFill>
                <a:latin typeface="+mj-lt"/>
              </a:rPr>
            </a:br>
            <a:r>
              <a:rPr lang="ru-RU" b="0" i="0" u="none" dirty="0">
                <a:solidFill>
                  <a:srgbClr val="334155"/>
                </a:solidFill>
                <a:latin typeface="+mj-lt"/>
              </a:rPr>
              <a:t>И славим Югорский народ!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6EFF6A2-4831-4D74-A6DE-47A8717E36FC}"/>
              </a:ext>
            </a:extLst>
          </p:cNvPr>
          <p:cNvSpPr txBox="1"/>
          <p:nvPr/>
        </p:nvSpPr>
        <p:spPr>
          <a:xfrm>
            <a:off x="374795" y="1222462"/>
            <a:ext cx="4238090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Авторы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: А. Радченко и В. </a:t>
            </a:r>
            <a:r>
              <a:rPr kumimoji="0" lang="ru-RU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Мицкий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.</a:t>
            </a:r>
          </a:p>
          <a:p>
            <a: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О чём поётся: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kumimoji="0" lang="ru-RU" sz="1800" b="0" i="1" strike="noStrike" kern="1200" cap="none" spc="0" normalizeH="0" baseline="0" noProof="0" dirty="0">
                <a:ln>
                  <a:noFill/>
                </a:ln>
                <a:solidFill>
                  <a:srgbClr val="33415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/>
                <a:ea typeface="+mn-ea"/>
                <a:cs typeface="+mn-cs"/>
              </a:rPr>
              <a:t>Величие региона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: Югра воспевается как «седой богатырь» и главная «опора России» на Севере.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kumimoji="0" lang="ru-RU" sz="1800" b="0" i="1" u="none" strike="noStrike" kern="1200" cap="none" spc="0" normalizeH="0" baseline="0" noProof="0" dirty="0">
                <a:ln>
                  <a:noFill/>
                </a:ln>
                <a:solidFill>
                  <a:srgbClr val="33415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/>
                <a:ea typeface="+mn-ea"/>
                <a:cs typeface="+mn-cs"/>
              </a:rPr>
              <a:t>Природа и богатства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: Упоминаются суровая сибирская тайга, великая река Обь и скрытые в недрах сокровища (нефть и газ).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kumimoji="0" lang="ru-RU" sz="1800" b="0" i="1" u="none" strike="noStrike" kern="1200" cap="none" spc="0" normalizeH="0" baseline="0" noProof="0" dirty="0">
                <a:ln>
                  <a:noFill/>
                </a:ln>
                <a:solidFill>
                  <a:srgbClr val="33415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/>
                <a:ea typeface="+mn-ea"/>
                <a:cs typeface="+mn-cs"/>
              </a:rPr>
              <a:t>Единство людей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: Подчеркивается нерушимое братство многонационального народа, который вместе строит будущее края.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kumimoji="0" lang="ru-RU" sz="1800" b="0" i="1" u="none" strike="noStrike" kern="1200" cap="none" spc="0" normalizeH="0" baseline="0" noProof="0" dirty="0">
                <a:ln>
                  <a:noFill/>
                </a:ln>
                <a:solidFill>
                  <a:srgbClr val="33415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/>
                <a:ea typeface="+mn-ea"/>
                <a:cs typeface="+mn-cs"/>
              </a:rPr>
              <a:t>Главная мысль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: Гордость за малую родину, которая отражена в девизе округа — «Югра многоликая, делами великая!».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5792EC22-6547-4CFD-97DF-7DFDA5BCD5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13146" y="6476391"/>
            <a:ext cx="231668" cy="280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54561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81000" y="6534150"/>
            <a:ext cx="37713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05088"/>
                </a:solidFill>
                <a:latin typeface="DM Sans"/>
              </a:rPr>
              <a:t>ГУАП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25275" y="6534150"/>
            <a:ext cx="8572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64748B"/>
                </a:solidFill>
                <a:latin typeface="DM Sans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400" y="419100"/>
            <a:ext cx="8541067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005088"/>
                </a:solidFill>
                <a:latin typeface="Merriweather"/>
              </a:rPr>
              <a:t>Население: демография и этноконфессиональный состав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6765" y="457200"/>
            <a:ext cx="1341834" cy="2667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1621" y="1480976"/>
            <a:ext cx="5535952" cy="4102886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2EA1D5FF-F5A8-47A9-9FB8-7806DBFF4AD8}"/>
              </a:ext>
            </a:extLst>
          </p:cNvPr>
          <p:cNvSpPr txBox="1"/>
          <p:nvPr/>
        </p:nvSpPr>
        <p:spPr>
          <a:xfrm>
            <a:off x="155841" y="1385917"/>
            <a:ext cx="6107986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1800" b="1" i="0" u="none" dirty="0">
                <a:solidFill>
                  <a:srgbClr val="334155"/>
                </a:solidFill>
                <a:latin typeface="+mj-lt"/>
              </a:rPr>
              <a:t>Численность населения:</a:t>
            </a:r>
            <a:r>
              <a:rPr lang="ru-RU" sz="1800" b="0" i="0" u="none" dirty="0">
                <a:solidFill>
                  <a:srgbClr val="334155"/>
                </a:solidFill>
                <a:latin typeface="+mj-lt"/>
              </a:rPr>
              <a:t> Свыше 1,7</a:t>
            </a:r>
            <a:r>
              <a:rPr lang="en-US" sz="1800" b="0" i="0" u="none" dirty="0">
                <a:solidFill>
                  <a:srgbClr val="334155"/>
                </a:solidFill>
                <a:latin typeface="+mj-lt"/>
              </a:rPr>
              <a:t>8</a:t>
            </a:r>
            <a:r>
              <a:rPr lang="ru-RU" sz="1800" b="0" i="0" u="none" dirty="0">
                <a:solidFill>
                  <a:srgbClr val="334155"/>
                </a:solidFill>
                <a:latin typeface="+mj-lt"/>
              </a:rPr>
              <a:t> млн человек. Округ демонстрирует стабильный естественный и миграционный прирост.</a:t>
            </a:r>
            <a:endParaRPr lang="en-US" sz="1800" b="0" i="0" u="none" dirty="0">
              <a:solidFill>
                <a:srgbClr val="334155"/>
              </a:solidFill>
              <a:latin typeface="+mj-lt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1800" b="1" i="0" u="none" dirty="0">
                <a:solidFill>
                  <a:srgbClr val="334155"/>
                </a:solidFill>
                <a:latin typeface="+mj-lt"/>
              </a:rPr>
              <a:t>Урбанизация:</a:t>
            </a:r>
            <a:r>
              <a:rPr lang="ru-RU" sz="1800" b="0" i="0" u="none" dirty="0">
                <a:solidFill>
                  <a:srgbClr val="334155"/>
                </a:solidFill>
                <a:latin typeface="+mj-lt"/>
              </a:rPr>
              <a:t> 92% населения проживает в городах. Крупнейшие центры: Сургут (400+ тыс.), Нижневартовск, Нефтеюганск, Ханты-Мансийск.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1800" b="1" i="0" u="none" dirty="0">
                <a:solidFill>
                  <a:srgbClr val="334155"/>
                </a:solidFill>
                <a:latin typeface="+mj-lt"/>
              </a:rPr>
              <a:t>Этнический состав:</a:t>
            </a:r>
            <a:r>
              <a:rPr lang="ru-RU" sz="1800" b="0" i="0" u="none" dirty="0">
                <a:solidFill>
                  <a:srgbClr val="334155"/>
                </a:solidFill>
                <a:latin typeface="+mj-lt"/>
              </a:rPr>
              <a:t> Русские (~68%), татары (~7%), украинцы, башкиры, азербайджанцы. Регион многонационален благодаря советскому освоению недр.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1800" b="1" i="0" u="none" dirty="0">
                <a:solidFill>
                  <a:srgbClr val="334155"/>
                </a:solidFill>
                <a:latin typeface="+mj-lt"/>
              </a:rPr>
              <a:t>Коренные малочисленные народы:</a:t>
            </a:r>
            <a:r>
              <a:rPr lang="ru-RU" sz="1800" b="0" i="0" u="none" dirty="0">
                <a:solidFill>
                  <a:srgbClr val="334155"/>
                </a:solidFill>
                <a:latin typeface="+mj-lt"/>
              </a:rPr>
              <a:t> Ханты, манси и лесные ненцы (~2,2% населения, более 32 тыс. человек). Сохраняют традиционный промысел на родовых угодьях.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b="1" dirty="0">
                <a:solidFill>
                  <a:srgbClr val="334155"/>
                </a:solidFill>
                <a:latin typeface="+mj-lt"/>
              </a:rPr>
              <a:t>Религии</a:t>
            </a:r>
            <a:r>
              <a:rPr lang="ru-RU" sz="1800" b="1" i="0" u="none" dirty="0">
                <a:solidFill>
                  <a:srgbClr val="334155"/>
                </a:solidFill>
                <a:latin typeface="+mj-lt"/>
              </a:rPr>
              <a:t>:</a:t>
            </a:r>
            <a:r>
              <a:rPr lang="ru-RU" sz="1800" b="0" i="0" u="none" dirty="0">
                <a:solidFill>
                  <a:srgbClr val="334155"/>
                </a:solidFill>
                <a:latin typeface="+mj-lt"/>
              </a:rPr>
              <a:t> Православие (большинство приходов Югорской и Ханты-Мансийской епархий), ислам, традиционный шаманизм/анимизм.</a:t>
            </a:r>
            <a:endParaRPr lang="ru-RU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344" y="3662201"/>
            <a:ext cx="3581400" cy="219075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8876" y="3656850"/>
            <a:ext cx="3581400" cy="21907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7200" y="3662201"/>
            <a:ext cx="3581400" cy="21907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81000" y="6534150"/>
            <a:ext cx="37713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05088"/>
                </a:solidFill>
                <a:latin typeface="DM Sans"/>
              </a:rPr>
              <a:t>ГУАП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25275" y="6534150"/>
            <a:ext cx="8572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64748B"/>
                </a:solidFill>
                <a:latin typeface="DM Sans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3400" y="419100"/>
            <a:ext cx="7630953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005088"/>
                </a:solidFill>
                <a:latin typeface="Merriweather"/>
              </a:rPr>
              <a:t>Экономика региона: энергетическое сердце России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94800" y="457200"/>
            <a:ext cx="2063799" cy="2667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6844" y="3904954"/>
            <a:ext cx="3360420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 dirty="0" err="1">
                <a:solidFill>
                  <a:srgbClr val="005088"/>
                </a:solidFill>
                <a:latin typeface="Merriweather"/>
              </a:rPr>
              <a:t>Добыча</a:t>
            </a:r>
            <a:r>
              <a:rPr sz="1350" b="1" i="0" u="none" dirty="0">
                <a:solidFill>
                  <a:srgbClr val="005088"/>
                </a:solidFill>
                <a:latin typeface="Merriweather"/>
              </a:rPr>
              <a:t> </a:t>
            </a:r>
            <a:r>
              <a:rPr sz="1350" b="1" i="0" u="none" dirty="0" err="1">
                <a:solidFill>
                  <a:srgbClr val="005088"/>
                </a:solidFill>
                <a:latin typeface="Merriweather"/>
              </a:rPr>
              <a:t>углеводородов</a:t>
            </a:r>
            <a:endParaRPr sz="1350" b="1" i="0" u="none" dirty="0">
              <a:solidFill>
                <a:srgbClr val="005088"/>
              </a:solidFill>
              <a:latin typeface="Merriweather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46844" y="4214838"/>
            <a:ext cx="3200400" cy="12005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ts val="1912"/>
              </a:lnSpc>
            </a:pPr>
            <a:r>
              <a:rPr sz="1275" b="0" i="0" u="none" dirty="0">
                <a:solidFill>
                  <a:srgbClr val="334155"/>
                </a:solidFill>
                <a:latin typeface="DM Sans"/>
              </a:rPr>
              <a:t>ХМАО </a:t>
            </a:r>
            <a:r>
              <a:rPr sz="1275" b="0" i="0" u="none" dirty="0" err="1">
                <a:solidFill>
                  <a:srgbClr val="334155"/>
                </a:solidFill>
                <a:latin typeface="DM Sans"/>
              </a:rPr>
              <a:t>занимает</a:t>
            </a:r>
            <a:r>
              <a:rPr sz="1275" b="0" i="0" u="none" dirty="0">
                <a:solidFill>
                  <a:srgbClr val="334155"/>
                </a:solidFill>
                <a:latin typeface="DM Sans"/>
              </a:rPr>
              <a:t> </a:t>
            </a:r>
            <a:r>
              <a:rPr sz="1275" b="1" i="0" u="none" dirty="0">
                <a:solidFill>
                  <a:srgbClr val="334155"/>
                </a:solidFill>
                <a:latin typeface="DM Sans"/>
              </a:rPr>
              <a:t>1-е </a:t>
            </a:r>
            <a:r>
              <a:rPr sz="1275" b="1" i="0" u="none" dirty="0" err="1">
                <a:solidFill>
                  <a:srgbClr val="334155"/>
                </a:solidFill>
                <a:latin typeface="DM Sans"/>
              </a:rPr>
              <a:t>место</a:t>
            </a:r>
            <a:r>
              <a:rPr sz="1275" b="1" i="0" u="none" dirty="0">
                <a:solidFill>
                  <a:srgbClr val="334155"/>
                </a:solidFill>
                <a:latin typeface="DM Sans"/>
              </a:rPr>
              <a:t> в РФ </a:t>
            </a:r>
            <a:r>
              <a:rPr sz="1275" b="1" i="0" u="none" dirty="0" err="1">
                <a:solidFill>
                  <a:srgbClr val="334155"/>
                </a:solidFill>
                <a:latin typeface="DM Sans"/>
              </a:rPr>
              <a:t>по</a:t>
            </a:r>
            <a:r>
              <a:rPr sz="1275" b="1" i="0" u="none" dirty="0">
                <a:solidFill>
                  <a:srgbClr val="334155"/>
                </a:solidFill>
                <a:latin typeface="DM Sans"/>
              </a:rPr>
              <a:t> </a:t>
            </a:r>
            <a:r>
              <a:rPr sz="1275" b="1" i="0" u="none" dirty="0" err="1">
                <a:solidFill>
                  <a:srgbClr val="334155"/>
                </a:solidFill>
                <a:latin typeface="DM Sans"/>
              </a:rPr>
              <a:t>добыче</a:t>
            </a:r>
            <a:r>
              <a:rPr sz="1275" b="1" i="0" u="none" dirty="0">
                <a:solidFill>
                  <a:srgbClr val="334155"/>
                </a:solidFill>
                <a:latin typeface="DM Sans"/>
              </a:rPr>
              <a:t> </a:t>
            </a:r>
            <a:r>
              <a:rPr sz="1275" b="1" i="0" u="none" dirty="0" err="1">
                <a:solidFill>
                  <a:srgbClr val="334155"/>
                </a:solidFill>
                <a:latin typeface="DM Sans"/>
              </a:rPr>
              <a:t>нефти</a:t>
            </a:r>
            <a:r>
              <a:rPr sz="1275" b="0" i="0" u="none" dirty="0">
                <a:solidFill>
                  <a:srgbClr val="334155"/>
                </a:solidFill>
                <a:latin typeface="DM Sans"/>
              </a:rPr>
              <a:t> (~40% </a:t>
            </a:r>
            <a:r>
              <a:rPr sz="1275" b="0" i="0" u="none" dirty="0" err="1">
                <a:solidFill>
                  <a:srgbClr val="334155"/>
                </a:solidFill>
                <a:latin typeface="DM Sans"/>
              </a:rPr>
              <a:t>общероссийского</a:t>
            </a:r>
            <a:r>
              <a:rPr sz="1275" b="0" i="0" u="none" dirty="0">
                <a:solidFill>
                  <a:srgbClr val="334155"/>
                </a:solidFill>
                <a:latin typeface="DM Sans"/>
              </a:rPr>
              <a:t> </a:t>
            </a:r>
            <a:r>
              <a:rPr sz="1275" b="0" i="0" u="none" dirty="0" err="1">
                <a:solidFill>
                  <a:srgbClr val="334155"/>
                </a:solidFill>
                <a:latin typeface="DM Sans"/>
              </a:rPr>
              <a:t>объема</a:t>
            </a:r>
            <a:r>
              <a:rPr sz="1275" b="0" i="0" u="none" dirty="0">
                <a:solidFill>
                  <a:srgbClr val="334155"/>
                </a:solidFill>
                <a:latin typeface="DM Sans"/>
              </a:rPr>
              <a:t>) и 2-е </a:t>
            </a:r>
            <a:r>
              <a:rPr sz="1275" b="0" i="0" u="none" dirty="0" err="1">
                <a:solidFill>
                  <a:srgbClr val="334155"/>
                </a:solidFill>
                <a:latin typeface="DM Sans"/>
              </a:rPr>
              <a:t>место</a:t>
            </a:r>
            <a:r>
              <a:rPr sz="1275" b="0" i="0" u="none" dirty="0">
                <a:solidFill>
                  <a:srgbClr val="334155"/>
                </a:solidFill>
                <a:latin typeface="DM Sans"/>
              </a:rPr>
              <a:t> </a:t>
            </a:r>
            <a:r>
              <a:rPr sz="1275" b="0" i="0" u="none" dirty="0" err="1">
                <a:solidFill>
                  <a:srgbClr val="334155"/>
                </a:solidFill>
                <a:latin typeface="DM Sans"/>
              </a:rPr>
              <a:t>по</a:t>
            </a:r>
            <a:r>
              <a:rPr sz="1275" b="0" i="0" u="none" dirty="0">
                <a:solidFill>
                  <a:srgbClr val="334155"/>
                </a:solidFill>
                <a:latin typeface="DM Sans"/>
              </a:rPr>
              <a:t> </a:t>
            </a:r>
            <a:r>
              <a:rPr sz="1275" b="0" i="0" u="none" dirty="0" err="1">
                <a:solidFill>
                  <a:srgbClr val="334155"/>
                </a:solidFill>
                <a:latin typeface="DM Sans"/>
              </a:rPr>
              <a:t>добыче</a:t>
            </a:r>
            <a:r>
              <a:rPr sz="1275" b="0" i="0" u="none" dirty="0">
                <a:solidFill>
                  <a:srgbClr val="334155"/>
                </a:solidFill>
                <a:latin typeface="DM Sans"/>
              </a:rPr>
              <a:t> </a:t>
            </a:r>
            <a:r>
              <a:rPr sz="1275" b="0" i="0" u="none" dirty="0" err="1">
                <a:solidFill>
                  <a:srgbClr val="334155"/>
                </a:solidFill>
                <a:latin typeface="DM Sans"/>
              </a:rPr>
              <a:t>природного</a:t>
            </a:r>
            <a:r>
              <a:rPr sz="1275" b="0" i="0" u="none" dirty="0">
                <a:solidFill>
                  <a:srgbClr val="334155"/>
                </a:solidFill>
                <a:latin typeface="DM Sans"/>
              </a:rPr>
              <a:t> </a:t>
            </a:r>
            <a:r>
              <a:rPr sz="1275" b="0" i="0" u="none" dirty="0" err="1">
                <a:solidFill>
                  <a:srgbClr val="334155"/>
                </a:solidFill>
                <a:latin typeface="DM Sans"/>
              </a:rPr>
              <a:t>газа</a:t>
            </a:r>
            <a:r>
              <a:rPr sz="1275" b="0" i="0" u="none" dirty="0">
                <a:solidFill>
                  <a:srgbClr val="334155"/>
                </a:solidFill>
                <a:latin typeface="DM Sans"/>
              </a:rPr>
              <a:t>. </a:t>
            </a:r>
            <a:r>
              <a:rPr sz="1275" b="0" i="0" u="none" dirty="0" err="1">
                <a:solidFill>
                  <a:srgbClr val="334155"/>
                </a:solidFill>
                <a:latin typeface="DM Sans"/>
              </a:rPr>
              <a:t>Крупнейшие</a:t>
            </a:r>
            <a:r>
              <a:rPr sz="1275" b="0" i="0" u="none" dirty="0">
                <a:solidFill>
                  <a:srgbClr val="334155"/>
                </a:solidFill>
                <a:latin typeface="DM Sans"/>
              </a:rPr>
              <a:t> </a:t>
            </a:r>
            <a:r>
              <a:rPr sz="1275" b="0" i="0" u="none" dirty="0" err="1">
                <a:solidFill>
                  <a:srgbClr val="334155"/>
                </a:solidFill>
                <a:latin typeface="DM Sans"/>
              </a:rPr>
              <a:t>месторождения</a:t>
            </a:r>
            <a:r>
              <a:rPr sz="1275" b="0" i="0" u="none" dirty="0">
                <a:solidFill>
                  <a:srgbClr val="334155"/>
                </a:solidFill>
                <a:latin typeface="DM Sans"/>
              </a:rPr>
              <a:t>: </a:t>
            </a:r>
            <a:r>
              <a:rPr sz="1275" b="0" i="0" u="none" dirty="0" err="1">
                <a:solidFill>
                  <a:srgbClr val="334155"/>
                </a:solidFill>
                <a:latin typeface="DM Sans"/>
              </a:rPr>
              <a:t>Самотлорское</a:t>
            </a:r>
            <a:r>
              <a:rPr sz="1275" b="0" i="0" u="none" dirty="0">
                <a:solidFill>
                  <a:srgbClr val="334155"/>
                </a:solidFill>
                <a:latin typeface="DM Sans"/>
              </a:rPr>
              <a:t>, </a:t>
            </a:r>
            <a:r>
              <a:rPr sz="1275" b="0" i="0" u="none" dirty="0" err="1">
                <a:solidFill>
                  <a:srgbClr val="334155"/>
                </a:solidFill>
                <a:latin typeface="DM Sans"/>
              </a:rPr>
              <a:t>Федоровское</a:t>
            </a:r>
            <a:r>
              <a:rPr sz="1275" b="0" i="0" u="none" dirty="0">
                <a:solidFill>
                  <a:srgbClr val="334155"/>
                </a:solidFill>
                <a:latin typeface="DM Sans"/>
              </a:rPr>
              <a:t>, </a:t>
            </a:r>
            <a:r>
              <a:rPr sz="1275" b="0" i="0" u="none" dirty="0" err="1">
                <a:solidFill>
                  <a:srgbClr val="334155"/>
                </a:solidFill>
                <a:latin typeface="DM Sans"/>
              </a:rPr>
              <a:t>Приобское</a:t>
            </a:r>
            <a:r>
              <a:rPr sz="1275" b="0" i="0" u="none" dirty="0">
                <a:solidFill>
                  <a:srgbClr val="334155"/>
                </a:solidFill>
                <a:latin typeface="DM Sans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59366" y="3860808"/>
            <a:ext cx="3360420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 dirty="0" err="1">
                <a:solidFill>
                  <a:srgbClr val="005088"/>
                </a:solidFill>
                <a:latin typeface="Merriweather"/>
              </a:rPr>
              <a:t>Электроэнергетика</a:t>
            </a:r>
            <a:endParaRPr sz="1350" b="1" i="0" u="none" dirty="0">
              <a:solidFill>
                <a:srgbClr val="005088"/>
              </a:solidFill>
              <a:latin typeface="Merriweather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495800" y="4214838"/>
            <a:ext cx="3200400" cy="1457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 dirty="0" err="1">
                <a:solidFill>
                  <a:srgbClr val="334155"/>
                </a:solidFill>
                <a:latin typeface="DM Sans"/>
              </a:rPr>
              <a:t>Округ</a:t>
            </a:r>
            <a:r>
              <a:rPr sz="1275" b="0" i="0" u="none" dirty="0">
                <a:solidFill>
                  <a:srgbClr val="334155"/>
                </a:solidFill>
                <a:latin typeface="DM Sans"/>
              </a:rPr>
              <a:t> — </a:t>
            </a:r>
            <a:r>
              <a:rPr sz="1275" b="1" i="0" u="none" dirty="0">
                <a:solidFill>
                  <a:srgbClr val="334155"/>
                </a:solidFill>
                <a:latin typeface="DM Sans"/>
              </a:rPr>
              <a:t>1-й </a:t>
            </a:r>
            <a:r>
              <a:rPr sz="1275" b="1" i="0" u="none" dirty="0" err="1">
                <a:solidFill>
                  <a:srgbClr val="334155"/>
                </a:solidFill>
                <a:latin typeface="DM Sans"/>
              </a:rPr>
              <a:t>по</a:t>
            </a:r>
            <a:r>
              <a:rPr sz="1275" b="1" i="0" u="none" dirty="0">
                <a:solidFill>
                  <a:srgbClr val="334155"/>
                </a:solidFill>
                <a:latin typeface="DM Sans"/>
              </a:rPr>
              <a:t> </a:t>
            </a:r>
            <a:r>
              <a:rPr sz="1275" b="1" i="0" u="none" dirty="0" err="1">
                <a:solidFill>
                  <a:srgbClr val="334155"/>
                </a:solidFill>
                <a:latin typeface="DM Sans"/>
              </a:rPr>
              <a:t>выработке</a:t>
            </a:r>
            <a:r>
              <a:rPr sz="1275" b="1" i="0" u="none" dirty="0">
                <a:solidFill>
                  <a:srgbClr val="334155"/>
                </a:solidFill>
                <a:latin typeface="DM Sans"/>
              </a:rPr>
              <a:t> </a:t>
            </a:r>
            <a:r>
              <a:rPr sz="1275" b="1" i="0" u="none" dirty="0" err="1">
                <a:solidFill>
                  <a:srgbClr val="334155"/>
                </a:solidFill>
                <a:latin typeface="DM Sans"/>
              </a:rPr>
              <a:t>электроэнергии</a:t>
            </a:r>
            <a:r>
              <a:rPr sz="1275" b="1" i="0" u="none" dirty="0">
                <a:solidFill>
                  <a:srgbClr val="334155"/>
                </a:solidFill>
                <a:latin typeface="DM Sans"/>
              </a:rPr>
              <a:t> в </a:t>
            </a:r>
            <a:r>
              <a:rPr sz="1275" b="1" i="0" u="none" dirty="0" err="1">
                <a:solidFill>
                  <a:srgbClr val="334155"/>
                </a:solidFill>
                <a:latin typeface="DM Sans"/>
              </a:rPr>
              <a:t>стране</a:t>
            </a:r>
            <a:r>
              <a:rPr sz="1275" b="0" i="0" u="none" dirty="0">
                <a:solidFill>
                  <a:srgbClr val="334155"/>
                </a:solidFill>
                <a:latin typeface="DM Sans"/>
              </a:rPr>
              <a:t>. </a:t>
            </a:r>
            <a:r>
              <a:rPr sz="1275" b="0" i="0" u="none" dirty="0" err="1">
                <a:solidFill>
                  <a:srgbClr val="334155"/>
                </a:solidFill>
                <a:latin typeface="DM Sans"/>
              </a:rPr>
              <a:t>Сургутские</a:t>
            </a:r>
            <a:r>
              <a:rPr sz="1275" b="0" i="0" u="none" dirty="0">
                <a:solidFill>
                  <a:srgbClr val="334155"/>
                </a:solidFill>
                <a:latin typeface="DM Sans"/>
              </a:rPr>
              <a:t> ГРЭС-1 и ГРЭС-2 </a:t>
            </a:r>
            <a:r>
              <a:rPr sz="1275" b="0" i="0" u="none" dirty="0" err="1">
                <a:solidFill>
                  <a:srgbClr val="334155"/>
                </a:solidFill>
                <a:latin typeface="DM Sans"/>
              </a:rPr>
              <a:t>входят</a:t>
            </a:r>
            <a:r>
              <a:rPr sz="1275" b="0" i="0" u="none" dirty="0">
                <a:solidFill>
                  <a:srgbClr val="334155"/>
                </a:solidFill>
                <a:latin typeface="DM Sans"/>
              </a:rPr>
              <a:t> в </a:t>
            </a:r>
            <a:r>
              <a:rPr sz="1275" b="0" i="0" u="none" dirty="0" err="1">
                <a:solidFill>
                  <a:srgbClr val="334155"/>
                </a:solidFill>
                <a:latin typeface="DM Sans"/>
              </a:rPr>
              <a:t>число</a:t>
            </a:r>
            <a:r>
              <a:rPr sz="1275" b="0" i="0" u="none" dirty="0">
                <a:solidFill>
                  <a:srgbClr val="334155"/>
                </a:solidFill>
                <a:latin typeface="DM Sans"/>
              </a:rPr>
              <a:t> </a:t>
            </a:r>
            <a:r>
              <a:rPr sz="1275" b="0" i="0" u="none" dirty="0" err="1">
                <a:solidFill>
                  <a:srgbClr val="334155"/>
                </a:solidFill>
                <a:latin typeface="DM Sans"/>
              </a:rPr>
              <a:t>мощнейших</a:t>
            </a:r>
            <a:r>
              <a:rPr sz="1275" b="0" i="0" u="none" dirty="0">
                <a:solidFill>
                  <a:srgbClr val="334155"/>
                </a:solidFill>
                <a:latin typeface="DM Sans"/>
              </a:rPr>
              <a:t> </a:t>
            </a:r>
            <a:r>
              <a:rPr sz="1275" b="0" i="0" u="none" dirty="0" err="1">
                <a:solidFill>
                  <a:srgbClr val="334155"/>
                </a:solidFill>
                <a:latin typeface="DM Sans"/>
              </a:rPr>
              <a:t>тепловых</a:t>
            </a:r>
            <a:r>
              <a:rPr sz="1275" b="0" i="0" u="none" dirty="0">
                <a:solidFill>
                  <a:srgbClr val="334155"/>
                </a:solidFill>
                <a:latin typeface="DM Sans"/>
              </a:rPr>
              <a:t> </a:t>
            </a:r>
            <a:r>
              <a:rPr sz="1275" b="0" i="0" u="none" dirty="0" err="1">
                <a:solidFill>
                  <a:srgbClr val="334155"/>
                </a:solidFill>
                <a:latin typeface="DM Sans"/>
              </a:rPr>
              <a:t>электростанций</a:t>
            </a:r>
            <a:r>
              <a:rPr sz="1275" b="0" i="0" u="none" dirty="0">
                <a:solidFill>
                  <a:srgbClr val="334155"/>
                </a:solidFill>
                <a:latin typeface="DM Sans"/>
              </a:rPr>
              <a:t> </a:t>
            </a:r>
            <a:r>
              <a:rPr sz="1275" b="0" i="0" u="none" dirty="0" err="1">
                <a:solidFill>
                  <a:srgbClr val="334155"/>
                </a:solidFill>
                <a:latin typeface="DM Sans"/>
              </a:rPr>
              <a:t>мира</a:t>
            </a:r>
            <a:r>
              <a:rPr sz="1275" b="0" i="0" u="none" dirty="0">
                <a:solidFill>
                  <a:srgbClr val="334155"/>
                </a:solidFill>
                <a:latin typeface="DM Sans"/>
              </a:rPr>
              <a:t>, </a:t>
            </a:r>
            <a:r>
              <a:rPr sz="1275" b="0" i="0" u="none" dirty="0" err="1">
                <a:solidFill>
                  <a:srgbClr val="334155"/>
                </a:solidFill>
                <a:latin typeface="DM Sans"/>
              </a:rPr>
              <a:t>питая</a:t>
            </a:r>
            <a:r>
              <a:rPr sz="1275" b="0" i="0" u="none" dirty="0">
                <a:solidFill>
                  <a:srgbClr val="334155"/>
                </a:solidFill>
                <a:latin typeface="DM Sans"/>
              </a:rPr>
              <a:t> </a:t>
            </a:r>
            <a:r>
              <a:rPr sz="1275" b="0" i="0" u="none" dirty="0" err="1">
                <a:solidFill>
                  <a:srgbClr val="334155"/>
                </a:solidFill>
                <a:latin typeface="DM Sans"/>
              </a:rPr>
              <a:t>энергосистему</a:t>
            </a:r>
            <a:r>
              <a:rPr sz="1275" b="0" i="0" u="none" dirty="0">
                <a:solidFill>
                  <a:srgbClr val="334155"/>
                </a:solidFill>
                <a:latin typeface="DM Sans"/>
              </a:rPr>
              <a:t> </a:t>
            </a:r>
            <a:r>
              <a:rPr sz="1275" b="0" i="0" u="none" dirty="0" err="1">
                <a:solidFill>
                  <a:srgbClr val="334155"/>
                </a:solidFill>
                <a:latin typeface="DM Sans"/>
              </a:rPr>
              <a:t>Урала</a:t>
            </a:r>
            <a:r>
              <a:rPr sz="1275" b="0" i="0" u="none" dirty="0">
                <a:solidFill>
                  <a:srgbClr val="334155"/>
                </a:solidFill>
                <a:latin typeface="DM Sans"/>
              </a:rPr>
              <a:t> и </a:t>
            </a:r>
            <a:r>
              <a:rPr sz="1275" b="0" i="0" u="none" dirty="0" err="1">
                <a:solidFill>
                  <a:srgbClr val="334155"/>
                </a:solidFill>
                <a:latin typeface="DM Sans"/>
              </a:rPr>
              <a:t>Сибири</a:t>
            </a:r>
            <a:r>
              <a:rPr sz="1275" b="0" i="0" u="none" dirty="0">
                <a:solidFill>
                  <a:srgbClr val="334155"/>
                </a:solidFill>
                <a:latin typeface="DM Sans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67700" y="3860808"/>
            <a:ext cx="3360420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 dirty="0">
                <a:solidFill>
                  <a:srgbClr val="005088"/>
                </a:solidFill>
                <a:latin typeface="Merriweather"/>
              </a:rPr>
              <a:t>ВРП и </a:t>
            </a:r>
            <a:r>
              <a:rPr sz="1350" b="1" i="0" u="none" dirty="0" err="1">
                <a:solidFill>
                  <a:srgbClr val="005088"/>
                </a:solidFill>
                <a:latin typeface="Merriweather"/>
              </a:rPr>
              <a:t>вклад</a:t>
            </a:r>
            <a:r>
              <a:rPr sz="1350" b="1" i="0" u="none" dirty="0">
                <a:solidFill>
                  <a:srgbClr val="005088"/>
                </a:solidFill>
                <a:latin typeface="Merriweather"/>
              </a:rPr>
              <a:t> в </a:t>
            </a:r>
            <a:r>
              <a:rPr sz="1350" b="1" i="0" u="none" dirty="0" err="1">
                <a:solidFill>
                  <a:srgbClr val="005088"/>
                </a:solidFill>
                <a:latin typeface="Merriweather"/>
              </a:rPr>
              <a:t>бюджет</a:t>
            </a:r>
            <a:endParaRPr sz="1350" b="1" i="0" u="none" dirty="0">
              <a:solidFill>
                <a:srgbClr val="005088"/>
              </a:solidFill>
              <a:latin typeface="Merriweather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267700" y="4216229"/>
            <a:ext cx="3200400" cy="12144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 dirty="0">
                <a:solidFill>
                  <a:srgbClr val="334155"/>
                </a:solidFill>
                <a:latin typeface="DM Sans"/>
              </a:rPr>
              <a:t>ВРП </a:t>
            </a:r>
            <a:r>
              <a:rPr sz="1275" b="0" i="0" u="none" dirty="0" err="1">
                <a:solidFill>
                  <a:srgbClr val="334155"/>
                </a:solidFill>
                <a:latin typeface="DM Sans"/>
              </a:rPr>
              <a:t>Югры</a:t>
            </a:r>
            <a:r>
              <a:rPr sz="1275" b="0" i="0" u="none" dirty="0">
                <a:solidFill>
                  <a:srgbClr val="334155"/>
                </a:solidFill>
                <a:latin typeface="DM Sans"/>
              </a:rPr>
              <a:t> </a:t>
            </a:r>
            <a:r>
              <a:rPr sz="1275" b="0" i="0" u="none" dirty="0" err="1">
                <a:solidFill>
                  <a:srgbClr val="334155"/>
                </a:solidFill>
                <a:latin typeface="DM Sans"/>
              </a:rPr>
              <a:t>превышает</a:t>
            </a:r>
            <a:r>
              <a:rPr sz="1275" b="0" i="0" u="none" dirty="0">
                <a:solidFill>
                  <a:srgbClr val="334155"/>
                </a:solidFill>
                <a:latin typeface="DM Sans"/>
              </a:rPr>
              <a:t> 5,5 </a:t>
            </a:r>
            <a:r>
              <a:rPr sz="1275" b="0" i="0" u="none" dirty="0" err="1">
                <a:solidFill>
                  <a:srgbClr val="334155"/>
                </a:solidFill>
                <a:latin typeface="DM Sans"/>
              </a:rPr>
              <a:t>трлн</a:t>
            </a:r>
            <a:r>
              <a:rPr sz="1275" b="0" i="0" u="none" dirty="0">
                <a:solidFill>
                  <a:srgbClr val="334155"/>
                </a:solidFill>
                <a:latin typeface="DM Sans"/>
              </a:rPr>
              <a:t> </a:t>
            </a:r>
            <a:r>
              <a:rPr sz="1275" b="0" i="0" u="none" dirty="0" err="1">
                <a:solidFill>
                  <a:srgbClr val="334155"/>
                </a:solidFill>
                <a:latin typeface="DM Sans"/>
              </a:rPr>
              <a:t>рублей</a:t>
            </a:r>
            <a:r>
              <a:rPr sz="1275" b="0" i="0" u="none" dirty="0">
                <a:solidFill>
                  <a:srgbClr val="334155"/>
                </a:solidFill>
                <a:latin typeface="DM Sans"/>
              </a:rPr>
              <a:t>. </a:t>
            </a:r>
            <a:r>
              <a:rPr sz="1275" b="0" i="0" u="none" dirty="0" err="1">
                <a:solidFill>
                  <a:srgbClr val="334155"/>
                </a:solidFill>
                <a:latin typeface="DM Sans"/>
              </a:rPr>
              <a:t>Регион</a:t>
            </a:r>
            <a:r>
              <a:rPr sz="1275" b="0" i="0" u="none" dirty="0">
                <a:solidFill>
                  <a:srgbClr val="334155"/>
                </a:solidFill>
                <a:latin typeface="DM Sans"/>
              </a:rPr>
              <a:t> </a:t>
            </a:r>
            <a:r>
              <a:rPr sz="1275" b="0" i="0" u="none" dirty="0" err="1">
                <a:solidFill>
                  <a:srgbClr val="334155"/>
                </a:solidFill>
                <a:latin typeface="DM Sans"/>
              </a:rPr>
              <a:t>является</a:t>
            </a:r>
            <a:r>
              <a:rPr sz="1275" b="0" i="0" u="none" dirty="0">
                <a:solidFill>
                  <a:srgbClr val="334155"/>
                </a:solidFill>
                <a:latin typeface="DM Sans"/>
              </a:rPr>
              <a:t> </a:t>
            </a:r>
            <a:r>
              <a:rPr sz="1275" b="0" i="0" u="none" dirty="0" err="1">
                <a:solidFill>
                  <a:srgbClr val="334155"/>
                </a:solidFill>
                <a:latin typeface="DM Sans"/>
              </a:rPr>
              <a:t>одним</a:t>
            </a:r>
            <a:r>
              <a:rPr sz="1275" b="0" i="0" u="none" dirty="0">
                <a:solidFill>
                  <a:srgbClr val="334155"/>
                </a:solidFill>
                <a:latin typeface="DM Sans"/>
              </a:rPr>
              <a:t> </a:t>
            </a:r>
            <a:r>
              <a:rPr sz="1275" b="0" i="0" u="none" dirty="0" err="1">
                <a:solidFill>
                  <a:srgbClr val="334155"/>
                </a:solidFill>
                <a:latin typeface="DM Sans"/>
              </a:rPr>
              <a:t>из</a:t>
            </a:r>
            <a:r>
              <a:rPr sz="1275" b="0" i="0" u="none" dirty="0">
                <a:solidFill>
                  <a:srgbClr val="334155"/>
                </a:solidFill>
                <a:latin typeface="DM Sans"/>
              </a:rPr>
              <a:t> </a:t>
            </a:r>
            <a:r>
              <a:rPr sz="1275" b="0" i="0" u="none" dirty="0" err="1">
                <a:solidFill>
                  <a:srgbClr val="334155"/>
                </a:solidFill>
                <a:latin typeface="DM Sans"/>
              </a:rPr>
              <a:t>ключевых</a:t>
            </a:r>
            <a:r>
              <a:rPr sz="1275" b="0" i="0" u="none" dirty="0">
                <a:solidFill>
                  <a:srgbClr val="334155"/>
                </a:solidFill>
                <a:latin typeface="DM Sans"/>
              </a:rPr>
              <a:t> </a:t>
            </a:r>
            <a:r>
              <a:rPr sz="1275" b="0" i="0" u="none" dirty="0" err="1">
                <a:solidFill>
                  <a:srgbClr val="334155"/>
                </a:solidFill>
                <a:latin typeface="DM Sans"/>
              </a:rPr>
              <a:t>регионов-доноров</a:t>
            </a:r>
            <a:r>
              <a:rPr sz="1275" b="0" i="0" u="none" dirty="0">
                <a:solidFill>
                  <a:srgbClr val="334155"/>
                </a:solidFill>
                <a:latin typeface="DM Sans"/>
              </a:rPr>
              <a:t> </a:t>
            </a:r>
            <a:r>
              <a:rPr sz="1275" b="0" i="0" u="none" dirty="0" err="1">
                <a:solidFill>
                  <a:srgbClr val="334155"/>
                </a:solidFill>
                <a:latin typeface="DM Sans"/>
              </a:rPr>
              <a:t>федерального</a:t>
            </a:r>
            <a:r>
              <a:rPr sz="1275" b="0" i="0" u="none" dirty="0">
                <a:solidFill>
                  <a:srgbClr val="334155"/>
                </a:solidFill>
                <a:latin typeface="DM Sans"/>
              </a:rPr>
              <a:t> </a:t>
            </a:r>
            <a:r>
              <a:rPr sz="1275" b="0" i="0" u="none" dirty="0" err="1">
                <a:solidFill>
                  <a:srgbClr val="334155"/>
                </a:solidFill>
                <a:latin typeface="DM Sans"/>
              </a:rPr>
              <a:t>бюджета</a:t>
            </a:r>
            <a:r>
              <a:rPr sz="1275" b="0" i="0" u="none" dirty="0">
                <a:solidFill>
                  <a:srgbClr val="334155"/>
                </a:solidFill>
                <a:latin typeface="DM Sans"/>
              </a:rPr>
              <a:t> </a:t>
            </a:r>
            <a:r>
              <a:rPr sz="1275" b="0" i="0" u="none" dirty="0" err="1">
                <a:solidFill>
                  <a:srgbClr val="334155"/>
                </a:solidFill>
                <a:latin typeface="DM Sans"/>
              </a:rPr>
              <a:t>Российской</a:t>
            </a:r>
            <a:r>
              <a:rPr sz="1275" b="0" i="0" u="none" dirty="0">
                <a:solidFill>
                  <a:srgbClr val="334155"/>
                </a:solidFill>
                <a:latin typeface="DM Sans"/>
              </a:rPr>
              <a:t> </a:t>
            </a:r>
            <a:r>
              <a:rPr sz="1275" b="0" i="0" u="none" dirty="0" err="1">
                <a:solidFill>
                  <a:srgbClr val="334155"/>
                </a:solidFill>
                <a:latin typeface="DM Sans"/>
              </a:rPr>
              <a:t>Федерации</a:t>
            </a:r>
            <a:r>
              <a:rPr sz="1275" b="0" i="0" u="none" dirty="0">
                <a:solidFill>
                  <a:srgbClr val="334155"/>
                </a:solidFill>
                <a:latin typeface="DM Sans"/>
              </a:rPr>
              <a:t> с </a:t>
            </a:r>
            <a:r>
              <a:rPr sz="1275" b="0" i="0" u="none" dirty="0" err="1">
                <a:solidFill>
                  <a:srgbClr val="334155"/>
                </a:solidFill>
                <a:latin typeface="DM Sans"/>
              </a:rPr>
              <a:t>высокими</a:t>
            </a:r>
            <a:r>
              <a:rPr sz="1275" b="0" i="0" u="none" dirty="0">
                <a:solidFill>
                  <a:srgbClr val="334155"/>
                </a:solidFill>
                <a:latin typeface="DM Sans"/>
              </a:rPr>
              <a:t> </a:t>
            </a:r>
            <a:r>
              <a:rPr sz="1275" b="0" i="0" u="none" dirty="0" err="1">
                <a:solidFill>
                  <a:srgbClr val="334155"/>
                </a:solidFill>
                <a:latin typeface="DM Sans"/>
              </a:rPr>
              <a:t>доходами</a:t>
            </a:r>
            <a:r>
              <a:rPr sz="1275" b="0" i="0" u="none" dirty="0">
                <a:solidFill>
                  <a:srgbClr val="334155"/>
                </a:solidFill>
                <a:latin typeface="DM Sans"/>
              </a:rPr>
              <a:t> </a:t>
            </a:r>
            <a:r>
              <a:rPr sz="1275" b="0" i="0" u="none" dirty="0" err="1">
                <a:solidFill>
                  <a:srgbClr val="334155"/>
                </a:solidFill>
                <a:latin typeface="DM Sans"/>
              </a:rPr>
              <a:t>населения</a:t>
            </a:r>
            <a:r>
              <a:rPr sz="1275" b="0" i="0" u="none" dirty="0">
                <a:solidFill>
                  <a:srgbClr val="334155"/>
                </a:solidFill>
                <a:latin typeface="DM Sans"/>
              </a:rPr>
              <a:t>.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51854668-2C8E-4431-AD89-4D8F4D38B8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6344" y="1102837"/>
            <a:ext cx="3550920" cy="2452034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1404E6C5-5A0C-4E2E-A999-2B761F42CA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8877" y="1102837"/>
            <a:ext cx="3581400" cy="2378576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>
            <a:extLst>
              <a:ext uri="{FF2B5EF4-FFF2-40B4-BE49-F238E27FC236}">
                <a16:creationId xmlns:a16="http://schemas.microsoft.com/office/drawing/2014/main" id="{23C6FA24-A378-4DCA-A251-938D425CC2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1102838"/>
            <a:ext cx="3581400" cy="2378576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7450" y="2031206"/>
            <a:ext cx="5391150" cy="353853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81000" y="6534150"/>
            <a:ext cx="37713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05088"/>
                </a:solidFill>
                <a:latin typeface="DM Sans"/>
              </a:rPr>
              <a:t>ГУАП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34800" y="6534150"/>
            <a:ext cx="762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64748B"/>
                </a:solidFill>
                <a:latin typeface="DM Sans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400" y="419100"/>
            <a:ext cx="7530941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 dirty="0" err="1">
                <a:solidFill>
                  <a:srgbClr val="005088"/>
                </a:solidFill>
                <a:latin typeface="Merriweather"/>
              </a:rPr>
              <a:t>Связь</a:t>
            </a:r>
            <a:r>
              <a:rPr sz="2100" b="1" i="0" u="none" dirty="0">
                <a:solidFill>
                  <a:srgbClr val="005088"/>
                </a:solidFill>
                <a:latin typeface="Merriweather"/>
              </a:rPr>
              <a:t> с </a:t>
            </a:r>
            <a:r>
              <a:rPr sz="2100" b="1" i="0" u="none" dirty="0" err="1">
                <a:solidFill>
                  <a:srgbClr val="005088"/>
                </a:solidFill>
                <a:latin typeface="Merriweather"/>
              </a:rPr>
              <a:t>профилем</a:t>
            </a:r>
            <a:r>
              <a:rPr sz="2100" b="1" i="0" u="none" dirty="0">
                <a:solidFill>
                  <a:srgbClr val="005088"/>
                </a:solidFill>
                <a:latin typeface="Merriweather"/>
              </a:rPr>
              <a:t>: IT, </a:t>
            </a:r>
            <a:r>
              <a:rPr sz="2100" b="1" i="0" u="none" dirty="0" err="1">
                <a:solidFill>
                  <a:srgbClr val="005088"/>
                </a:solidFill>
                <a:latin typeface="Merriweather"/>
              </a:rPr>
              <a:t>цифровизация</a:t>
            </a:r>
            <a:r>
              <a:rPr sz="2100" b="1" i="0" u="none" dirty="0">
                <a:solidFill>
                  <a:srgbClr val="005088"/>
                </a:solidFill>
                <a:latin typeface="Merriweather"/>
              </a:rPr>
              <a:t> и </a:t>
            </a:r>
            <a:r>
              <a:rPr sz="2100" b="1" i="0" u="none" dirty="0" err="1">
                <a:solidFill>
                  <a:srgbClr val="005088"/>
                </a:solidFill>
                <a:latin typeface="Merriweather"/>
              </a:rPr>
              <a:t>инновации</a:t>
            </a:r>
            <a:endParaRPr sz="2100" b="1" i="0" u="none" dirty="0">
              <a:solidFill>
                <a:srgbClr val="005088"/>
              </a:solidFill>
              <a:latin typeface="Merriweather"/>
            </a:endParaRP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56700" y="457200"/>
            <a:ext cx="2101899" cy="2667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57950" y="2820474"/>
            <a:ext cx="5260657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 dirty="0" err="1">
                <a:solidFill>
                  <a:srgbClr val="005088"/>
                </a:solidFill>
                <a:latin typeface="Merriweather"/>
              </a:rPr>
              <a:t>Ключевой</a:t>
            </a:r>
            <a:r>
              <a:rPr sz="1350" b="1" i="0" u="none" dirty="0">
                <a:solidFill>
                  <a:srgbClr val="005088"/>
                </a:solidFill>
                <a:latin typeface="Merriweather"/>
              </a:rPr>
              <a:t> </a:t>
            </a:r>
            <a:r>
              <a:rPr sz="1350" b="1" i="0" u="none" dirty="0" err="1">
                <a:solidFill>
                  <a:srgbClr val="005088"/>
                </a:solidFill>
                <a:latin typeface="Merriweather"/>
              </a:rPr>
              <a:t>профильный</a:t>
            </a:r>
            <a:r>
              <a:rPr sz="1350" b="1" i="0" u="none" dirty="0">
                <a:solidFill>
                  <a:srgbClr val="005088"/>
                </a:solidFill>
                <a:latin typeface="Merriweather"/>
              </a:rPr>
              <a:t> </a:t>
            </a:r>
            <a:r>
              <a:rPr sz="1350" b="1" i="0" u="none" dirty="0" err="1">
                <a:solidFill>
                  <a:srgbClr val="005088"/>
                </a:solidFill>
                <a:latin typeface="Merriweather"/>
              </a:rPr>
              <a:t>вектор</a:t>
            </a:r>
            <a:endParaRPr sz="1350" b="1" i="0" u="none" dirty="0">
              <a:solidFill>
                <a:srgbClr val="005088"/>
              </a:solidFill>
              <a:latin typeface="Merriweather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457950" y="3155158"/>
            <a:ext cx="501015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ts val="1912"/>
              </a:lnSpc>
            </a:pPr>
            <a:r>
              <a:rPr sz="1400" b="0" i="0" u="none" dirty="0" err="1">
                <a:solidFill>
                  <a:srgbClr val="334155"/>
                </a:solidFill>
                <a:latin typeface="DM Sans"/>
              </a:rPr>
              <a:t>Цифровая</a:t>
            </a:r>
            <a:r>
              <a:rPr sz="1400" b="0" i="0" u="none" dirty="0">
                <a:solidFill>
                  <a:srgbClr val="334155"/>
                </a:solidFill>
                <a:latin typeface="DM Sans"/>
              </a:rPr>
              <a:t> </a:t>
            </a:r>
            <a:r>
              <a:rPr sz="1400" b="0" i="0" u="none" dirty="0" err="1">
                <a:solidFill>
                  <a:srgbClr val="334155"/>
                </a:solidFill>
                <a:latin typeface="DM Sans"/>
              </a:rPr>
              <a:t>трансформация</a:t>
            </a:r>
            <a:r>
              <a:rPr sz="1400" b="0" i="0" u="none" dirty="0">
                <a:solidFill>
                  <a:srgbClr val="334155"/>
                </a:solidFill>
                <a:latin typeface="DM Sans"/>
              </a:rPr>
              <a:t> </a:t>
            </a:r>
            <a:r>
              <a:rPr sz="1400" b="0" i="0" u="none" dirty="0" err="1">
                <a:solidFill>
                  <a:srgbClr val="334155"/>
                </a:solidFill>
                <a:latin typeface="DM Sans"/>
              </a:rPr>
              <a:t>нефтегазового</a:t>
            </a:r>
            <a:r>
              <a:rPr sz="1400" b="0" i="0" u="none" dirty="0">
                <a:solidFill>
                  <a:srgbClr val="334155"/>
                </a:solidFill>
                <a:latin typeface="DM Sans"/>
              </a:rPr>
              <a:t> </a:t>
            </a:r>
            <a:r>
              <a:rPr sz="1400" b="0" i="0" u="none" dirty="0" err="1">
                <a:solidFill>
                  <a:srgbClr val="334155"/>
                </a:solidFill>
                <a:latin typeface="DM Sans"/>
              </a:rPr>
              <a:t>сектора</a:t>
            </a:r>
            <a:r>
              <a:rPr sz="1400" b="0" i="0" u="none" dirty="0">
                <a:solidFill>
                  <a:srgbClr val="334155"/>
                </a:solidFill>
                <a:latin typeface="DM Sans"/>
              </a:rPr>
              <a:t> — </a:t>
            </a:r>
            <a:r>
              <a:rPr sz="1400" b="0" i="0" u="none" dirty="0" err="1">
                <a:solidFill>
                  <a:srgbClr val="334155"/>
                </a:solidFill>
                <a:latin typeface="DM Sans"/>
              </a:rPr>
              <a:t>это</a:t>
            </a:r>
            <a:r>
              <a:rPr sz="1400" b="0" i="0" u="none" dirty="0">
                <a:solidFill>
                  <a:srgbClr val="334155"/>
                </a:solidFill>
                <a:latin typeface="DM Sans"/>
              </a:rPr>
              <a:t> </a:t>
            </a:r>
            <a:r>
              <a:rPr sz="1400" b="0" i="0" u="none" dirty="0" err="1">
                <a:solidFill>
                  <a:srgbClr val="334155"/>
                </a:solidFill>
                <a:latin typeface="DM Sans"/>
              </a:rPr>
              <a:t>прямой</a:t>
            </a:r>
            <a:r>
              <a:rPr sz="1400" b="0" i="0" u="none" dirty="0">
                <a:solidFill>
                  <a:srgbClr val="334155"/>
                </a:solidFill>
                <a:latin typeface="DM Sans"/>
              </a:rPr>
              <a:t> </a:t>
            </a:r>
            <a:r>
              <a:rPr sz="1400" b="0" i="0" u="none" dirty="0" err="1">
                <a:solidFill>
                  <a:srgbClr val="334155"/>
                </a:solidFill>
                <a:latin typeface="DM Sans"/>
              </a:rPr>
              <a:t>фокус</a:t>
            </a:r>
            <a:r>
              <a:rPr sz="1400" b="0" i="0" u="none" dirty="0">
                <a:solidFill>
                  <a:srgbClr val="334155"/>
                </a:solidFill>
                <a:latin typeface="DM Sans"/>
              </a:rPr>
              <a:t> </a:t>
            </a:r>
            <a:r>
              <a:rPr sz="1400" b="0" i="0" u="none" dirty="0" err="1">
                <a:solidFill>
                  <a:srgbClr val="334155"/>
                </a:solidFill>
                <a:latin typeface="DM Sans"/>
              </a:rPr>
              <a:t>студентов</a:t>
            </a:r>
            <a:r>
              <a:rPr sz="1400" b="0" i="0" u="none" dirty="0">
                <a:solidFill>
                  <a:srgbClr val="334155"/>
                </a:solidFill>
                <a:latin typeface="DM Sans"/>
              </a:rPr>
              <a:t> IT и </a:t>
            </a:r>
            <a:r>
              <a:rPr sz="1400" b="0" i="0" u="none" dirty="0" err="1">
                <a:solidFill>
                  <a:srgbClr val="334155"/>
                </a:solidFill>
                <a:latin typeface="DM Sans"/>
              </a:rPr>
              <a:t>инженерных</a:t>
            </a:r>
            <a:r>
              <a:rPr sz="1400" b="0" i="0" u="none" dirty="0">
                <a:solidFill>
                  <a:srgbClr val="334155"/>
                </a:solidFill>
                <a:latin typeface="DM Sans"/>
              </a:rPr>
              <a:t> </a:t>
            </a:r>
            <a:r>
              <a:rPr sz="1400" b="0" i="0" u="none" dirty="0" err="1">
                <a:solidFill>
                  <a:srgbClr val="334155"/>
                </a:solidFill>
                <a:latin typeface="DM Sans"/>
              </a:rPr>
              <a:t>направлений</a:t>
            </a:r>
            <a:r>
              <a:rPr sz="1400" b="0" i="0" u="none" dirty="0">
                <a:solidFill>
                  <a:srgbClr val="334155"/>
                </a:solidFill>
                <a:latin typeface="DM Sans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7950" y="3755233"/>
            <a:ext cx="5010150" cy="7286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ts val="1912"/>
              </a:lnSpc>
            </a:pPr>
            <a:r>
              <a:rPr sz="1400" b="0" i="0" u="none" dirty="0" err="1">
                <a:solidFill>
                  <a:srgbClr val="334155"/>
                </a:solidFill>
                <a:latin typeface="DM Sans"/>
              </a:rPr>
              <a:t>Автоматизация</a:t>
            </a:r>
            <a:r>
              <a:rPr sz="1400" b="0" i="0" u="none" dirty="0">
                <a:solidFill>
                  <a:srgbClr val="334155"/>
                </a:solidFill>
                <a:latin typeface="DM Sans"/>
              </a:rPr>
              <a:t> </a:t>
            </a:r>
            <a:r>
              <a:rPr sz="1400" b="0" i="0" u="none" dirty="0" err="1">
                <a:solidFill>
                  <a:srgbClr val="334155"/>
                </a:solidFill>
                <a:latin typeface="DM Sans"/>
              </a:rPr>
              <a:t>распределенных</a:t>
            </a:r>
            <a:r>
              <a:rPr sz="1400" b="0" i="0" u="none" dirty="0">
                <a:solidFill>
                  <a:srgbClr val="334155"/>
                </a:solidFill>
                <a:latin typeface="DM Sans"/>
              </a:rPr>
              <a:t> </a:t>
            </a:r>
            <a:r>
              <a:rPr sz="1400" b="0" i="0" u="none" dirty="0" err="1">
                <a:solidFill>
                  <a:srgbClr val="334155"/>
                </a:solidFill>
                <a:latin typeface="DM Sans"/>
              </a:rPr>
              <a:t>систем</a:t>
            </a:r>
            <a:r>
              <a:rPr sz="1400" b="0" i="0" u="none" dirty="0">
                <a:solidFill>
                  <a:srgbClr val="334155"/>
                </a:solidFill>
                <a:latin typeface="DM Sans"/>
              </a:rPr>
              <a:t> </a:t>
            </a:r>
            <a:r>
              <a:rPr sz="1400" b="0" i="0" u="none" dirty="0" err="1">
                <a:solidFill>
                  <a:srgbClr val="334155"/>
                </a:solidFill>
                <a:latin typeface="DM Sans"/>
              </a:rPr>
              <a:t>добычи</a:t>
            </a:r>
            <a:r>
              <a:rPr sz="1400" b="0" i="0" u="none" dirty="0">
                <a:solidFill>
                  <a:srgbClr val="334155"/>
                </a:solidFill>
                <a:latin typeface="DM Sans"/>
              </a:rPr>
              <a:t>, </a:t>
            </a:r>
            <a:r>
              <a:rPr sz="1400" b="0" i="0" u="none" dirty="0" err="1">
                <a:solidFill>
                  <a:srgbClr val="334155"/>
                </a:solidFill>
                <a:latin typeface="DM Sans"/>
              </a:rPr>
              <a:t>промышленная</a:t>
            </a:r>
            <a:r>
              <a:rPr sz="1400" b="0" i="0" u="none" dirty="0">
                <a:solidFill>
                  <a:srgbClr val="334155"/>
                </a:solidFill>
                <a:latin typeface="DM Sans"/>
              </a:rPr>
              <a:t> </a:t>
            </a:r>
            <a:r>
              <a:rPr sz="1400" b="0" i="0" u="none" dirty="0" err="1">
                <a:solidFill>
                  <a:srgbClr val="334155"/>
                </a:solidFill>
                <a:latin typeface="DM Sans"/>
              </a:rPr>
              <a:t>киберзащита</a:t>
            </a:r>
            <a:r>
              <a:rPr sz="1400" b="0" i="0" u="none" dirty="0">
                <a:solidFill>
                  <a:srgbClr val="334155"/>
                </a:solidFill>
                <a:latin typeface="DM Sans"/>
              </a:rPr>
              <a:t> </a:t>
            </a:r>
            <a:r>
              <a:rPr sz="1400" b="0" i="0" u="none" dirty="0" err="1">
                <a:solidFill>
                  <a:srgbClr val="334155"/>
                </a:solidFill>
                <a:latin typeface="DM Sans"/>
              </a:rPr>
              <a:t>критической</a:t>
            </a:r>
            <a:r>
              <a:rPr sz="1400" b="0" i="0" u="none" dirty="0">
                <a:solidFill>
                  <a:srgbClr val="334155"/>
                </a:solidFill>
                <a:latin typeface="DM Sans"/>
              </a:rPr>
              <a:t> </a:t>
            </a:r>
            <a:r>
              <a:rPr sz="1400" b="0" i="0" u="none" dirty="0" err="1">
                <a:solidFill>
                  <a:srgbClr val="334155"/>
                </a:solidFill>
                <a:latin typeface="DM Sans"/>
              </a:rPr>
              <a:t>инфраструктуры</a:t>
            </a:r>
            <a:r>
              <a:rPr sz="1400" b="0" i="0" u="none" dirty="0">
                <a:solidFill>
                  <a:srgbClr val="334155"/>
                </a:solidFill>
                <a:latin typeface="DM Sans"/>
              </a:rPr>
              <a:t> и </a:t>
            </a:r>
            <a:r>
              <a:rPr sz="1400" b="0" i="0" u="none" dirty="0" err="1">
                <a:solidFill>
                  <a:srgbClr val="334155"/>
                </a:solidFill>
                <a:latin typeface="DM Sans"/>
              </a:rPr>
              <a:t>сквозная</a:t>
            </a:r>
            <a:r>
              <a:rPr sz="1400" b="0" i="0" u="none" dirty="0">
                <a:solidFill>
                  <a:srgbClr val="334155"/>
                </a:solidFill>
                <a:latin typeface="DM Sans"/>
              </a:rPr>
              <a:t> </a:t>
            </a:r>
            <a:r>
              <a:rPr sz="1400" b="0" i="0" u="none" dirty="0" err="1">
                <a:solidFill>
                  <a:srgbClr val="334155"/>
                </a:solidFill>
                <a:latin typeface="DM Sans"/>
              </a:rPr>
              <a:t>аналитика</a:t>
            </a:r>
            <a:r>
              <a:rPr sz="1400" b="0" i="0" u="none" dirty="0">
                <a:solidFill>
                  <a:srgbClr val="334155"/>
                </a:solidFill>
                <a:latin typeface="DM Sans"/>
              </a:rPr>
              <a:t> </a:t>
            </a:r>
            <a:r>
              <a:rPr sz="1400" b="0" i="0" u="none" dirty="0" err="1">
                <a:solidFill>
                  <a:srgbClr val="334155"/>
                </a:solidFill>
                <a:latin typeface="DM Sans"/>
              </a:rPr>
              <a:t>больших</a:t>
            </a:r>
            <a:r>
              <a:rPr sz="1400" b="0" i="0" u="none" dirty="0">
                <a:solidFill>
                  <a:srgbClr val="334155"/>
                </a:solidFill>
                <a:latin typeface="DM Sans"/>
              </a:rPr>
              <a:t> </a:t>
            </a:r>
            <a:r>
              <a:rPr sz="1400" b="0" i="0" u="none" dirty="0" err="1">
                <a:solidFill>
                  <a:srgbClr val="334155"/>
                </a:solidFill>
                <a:latin typeface="DM Sans"/>
              </a:rPr>
              <a:t>данных</a:t>
            </a:r>
            <a:r>
              <a:rPr sz="1400" b="0" i="0" u="none" dirty="0">
                <a:solidFill>
                  <a:srgbClr val="334155"/>
                </a:solidFill>
                <a:latin typeface="DM Sans"/>
              </a:rPr>
              <a:t> </a:t>
            </a:r>
            <a:r>
              <a:rPr sz="1400" b="0" i="0" u="none" dirty="0" err="1">
                <a:solidFill>
                  <a:srgbClr val="334155"/>
                </a:solidFill>
                <a:latin typeface="DM Sans"/>
              </a:rPr>
              <a:t>добычи</a:t>
            </a:r>
            <a:r>
              <a:rPr sz="1400" b="0" i="0" u="none" dirty="0">
                <a:solidFill>
                  <a:srgbClr val="334155"/>
                </a:solidFill>
                <a:latin typeface="DM Sans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0980" y="1852840"/>
            <a:ext cx="5715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 u="none" dirty="0">
                <a:solidFill>
                  <a:srgbClr val="334155"/>
                </a:solidFill>
                <a:latin typeface="DM Sans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130" y="1816410"/>
            <a:ext cx="5162550" cy="974626"/>
          </a:xfrm>
          <a:prstGeom prst="rect">
            <a:avLst/>
          </a:prstGeom>
          <a:noFill/>
        </p:spPr>
        <p:txBody>
          <a:bodyPr wrap="square" lIns="57150" tIns="0" rIns="0" bIns="0" anchor="t">
            <a:spAutoFit/>
          </a:bodyPr>
          <a:lstStyle/>
          <a:p>
            <a:pPr algn="just">
              <a:lnSpc>
                <a:spcPts val="1912"/>
              </a:lnSpc>
            </a:pPr>
            <a:r>
              <a:rPr sz="1600" b="1" i="0" u="none" dirty="0">
                <a:solidFill>
                  <a:srgbClr val="334155"/>
                </a:solidFill>
                <a:latin typeface="+mj-lt"/>
              </a:rPr>
              <a:t>«</a:t>
            </a:r>
            <a:r>
              <a:rPr sz="1600" b="1" i="0" u="none" dirty="0" err="1">
                <a:solidFill>
                  <a:srgbClr val="334155"/>
                </a:solidFill>
                <a:latin typeface="+mj-lt"/>
              </a:rPr>
              <a:t>Цифровое</a:t>
            </a:r>
            <a:r>
              <a:rPr sz="1600" b="1" i="0" u="none" dirty="0">
                <a:solidFill>
                  <a:srgbClr val="334155"/>
                </a:solidFill>
                <a:latin typeface="+mj-lt"/>
              </a:rPr>
              <a:t> </a:t>
            </a:r>
            <a:r>
              <a:rPr sz="1600" b="1" i="0" u="none" dirty="0" err="1">
                <a:solidFill>
                  <a:srgbClr val="334155"/>
                </a:solidFill>
                <a:latin typeface="+mj-lt"/>
              </a:rPr>
              <a:t>месторождение</a:t>
            </a:r>
            <a:r>
              <a:rPr sz="1600" b="1" i="0" u="none" dirty="0">
                <a:solidFill>
                  <a:srgbClr val="334155"/>
                </a:solidFill>
                <a:latin typeface="+mj-lt"/>
              </a:rPr>
              <a:t>»:</a:t>
            </a:r>
            <a:r>
              <a:rPr sz="1600" b="0" i="0" u="none" dirty="0">
                <a:solidFill>
                  <a:srgbClr val="334155"/>
                </a:solidFill>
                <a:latin typeface="+mj-lt"/>
              </a:rPr>
              <a:t> </a:t>
            </a:r>
            <a:r>
              <a:rPr sz="1600" b="0" i="0" u="none" dirty="0" err="1">
                <a:solidFill>
                  <a:srgbClr val="334155"/>
                </a:solidFill>
                <a:latin typeface="+mj-lt"/>
              </a:rPr>
              <a:t>Ведущие</a:t>
            </a:r>
            <a:r>
              <a:rPr sz="1600" b="0" i="0" u="none" dirty="0">
                <a:solidFill>
                  <a:srgbClr val="334155"/>
                </a:solidFill>
                <a:latin typeface="+mj-lt"/>
              </a:rPr>
              <a:t> </a:t>
            </a:r>
            <a:r>
              <a:rPr sz="1600" b="0" i="0" u="none" dirty="0" err="1">
                <a:solidFill>
                  <a:srgbClr val="334155"/>
                </a:solidFill>
                <a:latin typeface="+mj-lt"/>
              </a:rPr>
              <a:t>нефтяные</a:t>
            </a:r>
            <a:r>
              <a:rPr sz="1600" b="0" i="0" u="none" dirty="0">
                <a:solidFill>
                  <a:srgbClr val="334155"/>
                </a:solidFill>
                <a:latin typeface="+mj-lt"/>
              </a:rPr>
              <a:t> </a:t>
            </a:r>
            <a:r>
              <a:rPr sz="1600" b="0" i="0" u="none" dirty="0" err="1">
                <a:solidFill>
                  <a:srgbClr val="334155"/>
                </a:solidFill>
                <a:latin typeface="+mj-lt"/>
              </a:rPr>
              <a:t>компании</a:t>
            </a:r>
            <a:r>
              <a:rPr sz="1600" b="0" i="0" u="none" dirty="0">
                <a:solidFill>
                  <a:srgbClr val="334155"/>
                </a:solidFill>
                <a:latin typeface="+mj-lt"/>
              </a:rPr>
              <a:t> («</a:t>
            </a:r>
            <a:r>
              <a:rPr sz="1600" b="0" i="0" u="none" dirty="0" err="1">
                <a:solidFill>
                  <a:srgbClr val="334155"/>
                </a:solidFill>
                <a:latin typeface="+mj-lt"/>
              </a:rPr>
              <a:t>Газпром</a:t>
            </a:r>
            <a:r>
              <a:rPr sz="1600" b="0" i="0" u="none" dirty="0">
                <a:solidFill>
                  <a:srgbClr val="334155"/>
                </a:solidFill>
                <a:latin typeface="+mj-lt"/>
              </a:rPr>
              <a:t> </a:t>
            </a:r>
            <a:r>
              <a:rPr sz="1600" b="0" i="0" u="none" dirty="0" err="1">
                <a:solidFill>
                  <a:srgbClr val="334155"/>
                </a:solidFill>
                <a:latin typeface="+mj-lt"/>
              </a:rPr>
              <a:t>нефть</a:t>
            </a:r>
            <a:r>
              <a:rPr sz="1600" b="0" i="0" u="none" dirty="0">
                <a:solidFill>
                  <a:srgbClr val="334155"/>
                </a:solidFill>
                <a:latin typeface="+mj-lt"/>
              </a:rPr>
              <a:t>», «</a:t>
            </a:r>
            <a:r>
              <a:rPr sz="1600" b="0" i="0" u="none" dirty="0" err="1">
                <a:solidFill>
                  <a:srgbClr val="334155"/>
                </a:solidFill>
                <a:latin typeface="+mj-lt"/>
              </a:rPr>
              <a:t>Роснефть</a:t>
            </a:r>
            <a:r>
              <a:rPr sz="1600" b="0" i="0" u="none" dirty="0">
                <a:solidFill>
                  <a:srgbClr val="334155"/>
                </a:solidFill>
                <a:latin typeface="+mj-lt"/>
              </a:rPr>
              <a:t>», «</a:t>
            </a:r>
            <a:r>
              <a:rPr sz="1600" b="0" i="0" u="none" dirty="0" err="1">
                <a:solidFill>
                  <a:srgbClr val="334155"/>
                </a:solidFill>
                <a:latin typeface="+mj-lt"/>
              </a:rPr>
              <a:t>Сургутнефтегаз</a:t>
            </a:r>
            <a:r>
              <a:rPr sz="1600" b="0" i="0" u="none" dirty="0">
                <a:solidFill>
                  <a:srgbClr val="334155"/>
                </a:solidFill>
                <a:latin typeface="+mj-lt"/>
              </a:rPr>
              <a:t>») </a:t>
            </a:r>
            <a:r>
              <a:rPr sz="1600" b="0" i="0" u="none" dirty="0" err="1">
                <a:solidFill>
                  <a:srgbClr val="334155"/>
                </a:solidFill>
                <a:latin typeface="+mj-lt"/>
              </a:rPr>
              <a:t>внедряют</a:t>
            </a:r>
            <a:r>
              <a:rPr sz="1600" b="0" i="0" u="none" dirty="0">
                <a:solidFill>
                  <a:srgbClr val="334155"/>
                </a:solidFill>
                <a:latin typeface="+mj-lt"/>
              </a:rPr>
              <a:t> </a:t>
            </a:r>
            <a:r>
              <a:rPr sz="1600" b="0" i="0" u="none" dirty="0" err="1">
                <a:solidFill>
                  <a:srgbClr val="334155"/>
                </a:solidFill>
                <a:latin typeface="+mj-lt"/>
              </a:rPr>
              <a:t>искусственный</a:t>
            </a:r>
            <a:r>
              <a:rPr sz="1600" b="0" i="0" u="none" dirty="0">
                <a:solidFill>
                  <a:srgbClr val="334155"/>
                </a:solidFill>
                <a:latin typeface="+mj-lt"/>
              </a:rPr>
              <a:t> </a:t>
            </a:r>
            <a:r>
              <a:rPr sz="1600" b="0" i="0" u="none" dirty="0" err="1">
                <a:solidFill>
                  <a:srgbClr val="334155"/>
                </a:solidFill>
                <a:latin typeface="+mj-lt"/>
              </a:rPr>
              <a:t>интеллект</a:t>
            </a:r>
            <a:r>
              <a:rPr sz="1600" b="0" i="0" u="none" dirty="0">
                <a:solidFill>
                  <a:srgbClr val="334155"/>
                </a:solidFill>
                <a:latin typeface="+mj-lt"/>
              </a:rPr>
              <a:t> </a:t>
            </a:r>
            <a:r>
              <a:rPr sz="1600" b="0" i="0" u="none" dirty="0" err="1">
                <a:solidFill>
                  <a:srgbClr val="334155"/>
                </a:solidFill>
                <a:latin typeface="+mj-lt"/>
              </a:rPr>
              <a:t>для</a:t>
            </a:r>
            <a:r>
              <a:rPr sz="1600" b="0" i="0" u="none" dirty="0">
                <a:solidFill>
                  <a:srgbClr val="334155"/>
                </a:solidFill>
                <a:latin typeface="+mj-lt"/>
              </a:rPr>
              <a:t> </a:t>
            </a:r>
            <a:r>
              <a:rPr sz="1600" b="0" i="0" u="none" dirty="0" err="1">
                <a:solidFill>
                  <a:srgbClr val="334155"/>
                </a:solidFill>
                <a:latin typeface="+mj-lt"/>
              </a:rPr>
              <a:t>гидродинамического</a:t>
            </a:r>
            <a:r>
              <a:rPr sz="1600" b="0" i="0" u="none" dirty="0">
                <a:solidFill>
                  <a:srgbClr val="334155"/>
                </a:solidFill>
                <a:latin typeface="+mj-lt"/>
              </a:rPr>
              <a:t> </a:t>
            </a:r>
            <a:r>
              <a:rPr sz="1600" b="0" i="0" u="none" dirty="0" err="1">
                <a:solidFill>
                  <a:srgbClr val="334155"/>
                </a:solidFill>
                <a:latin typeface="+mj-lt"/>
              </a:rPr>
              <a:t>моделирования</a:t>
            </a:r>
            <a:r>
              <a:rPr sz="1600" b="0" i="0" u="none" dirty="0">
                <a:solidFill>
                  <a:srgbClr val="334155"/>
                </a:solidFill>
                <a:latin typeface="+mj-lt"/>
              </a:rPr>
              <a:t> </a:t>
            </a:r>
            <a:r>
              <a:rPr sz="1600" b="0" i="0" u="none" dirty="0" err="1">
                <a:solidFill>
                  <a:srgbClr val="334155"/>
                </a:solidFill>
                <a:latin typeface="+mj-lt"/>
              </a:rPr>
              <a:t>пластов</a:t>
            </a:r>
            <a:r>
              <a:rPr sz="1600" b="0" i="0" u="none" dirty="0">
                <a:solidFill>
                  <a:srgbClr val="334155"/>
                </a:solidFill>
                <a:latin typeface="+mj-lt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5475" y="3026056"/>
            <a:ext cx="5715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 u="none">
                <a:solidFill>
                  <a:srgbClr val="334155"/>
                </a:solidFill>
                <a:latin typeface="DM Sans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1174" y="2993973"/>
            <a:ext cx="5162550" cy="974626"/>
          </a:xfrm>
          <a:prstGeom prst="rect">
            <a:avLst/>
          </a:prstGeom>
          <a:noFill/>
        </p:spPr>
        <p:txBody>
          <a:bodyPr wrap="square" lIns="57150" tIns="0" rIns="0" bIns="0" anchor="t">
            <a:spAutoFit/>
          </a:bodyPr>
          <a:lstStyle/>
          <a:p>
            <a:pPr algn="just">
              <a:lnSpc>
                <a:spcPts val="1912"/>
              </a:lnSpc>
            </a:pPr>
            <a:r>
              <a:rPr lang="ru-RU" sz="1600" b="1" i="0" u="none" dirty="0">
                <a:solidFill>
                  <a:srgbClr val="334155"/>
                </a:solidFill>
                <a:latin typeface="+mj-lt"/>
              </a:rPr>
              <a:t>Инфраструктура дата-центров:</a:t>
            </a:r>
            <a:r>
              <a:rPr lang="ru-RU" sz="1600" b="0" i="0" u="none" dirty="0">
                <a:solidFill>
                  <a:srgbClr val="334155"/>
                </a:solidFill>
                <a:latin typeface="+mj-lt"/>
              </a:rPr>
              <a:t> Прохладный климат региона сокращает расходы на охлаждение серверов ЦОД, что делает Югру перспективной для северных серверных хабов.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7110" y="3974023"/>
            <a:ext cx="5715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 u="none" dirty="0">
                <a:solidFill>
                  <a:srgbClr val="334155"/>
                </a:solidFill>
                <a:latin typeface="DM Sans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130" y="3950723"/>
            <a:ext cx="5162550" cy="974626"/>
          </a:xfrm>
          <a:prstGeom prst="rect">
            <a:avLst/>
          </a:prstGeom>
          <a:noFill/>
        </p:spPr>
        <p:txBody>
          <a:bodyPr wrap="square" lIns="57150" tIns="0" rIns="0" bIns="0" anchor="t">
            <a:spAutoFit/>
          </a:bodyPr>
          <a:lstStyle/>
          <a:p>
            <a:pPr algn="just">
              <a:lnSpc>
                <a:spcPts val="1912"/>
              </a:lnSpc>
            </a:pPr>
            <a:r>
              <a:rPr sz="1600" b="1" i="0" u="none" dirty="0" err="1">
                <a:solidFill>
                  <a:srgbClr val="334155"/>
                </a:solidFill>
                <a:latin typeface="+mj-lt"/>
              </a:rPr>
              <a:t>Югорский</a:t>
            </a:r>
            <a:r>
              <a:rPr sz="1600" b="1" i="0" u="none" dirty="0">
                <a:solidFill>
                  <a:srgbClr val="334155"/>
                </a:solidFill>
                <a:latin typeface="+mj-lt"/>
              </a:rPr>
              <a:t> НИИ </a:t>
            </a:r>
            <a:r>
              <a:rPr sz="1600" b="1" i="0" u="none" dirty="0" err="1">
                <a:solidFill>
                  <a:srgbClr val="334155"/>
                </a:solidFill>
                <a:latin typeface="+mj-lt"/>
              </a:rPr>
              <a:t>информационных</a:t>
            </a:r>
            <a:r>
              <a:rPr sz="1600" b="1" i="0" u="none" dirty="0">
                <a:solidFill>
                  <a:srgbClr val="334155"/>
                </a:solidFill>
                <a:latin typeface="+mj-lt"/>
              </a:rPr>
              <a:t> </a:t>
            </a:r>
            <a:r>
              <a:rPr sz="1600" b="1" i="0" u="none" dirty="0" err="1">
                <a:solidFill>
                  <a:srgbClr val="334155"/>
                </a:solidFill>
                <a:latin typeface="+mj-lt"/>
              </a:rPr>
              <a:t>технологий</a:t>
            </a:r>
            <a:r>
              <a:rPr sz="1600" b="1" i="0" u="none" dirty="0">
                <a:solidFill>
                  <a:srgbClr val="334155"/>
                </a:solidFill>
                <a:latin typeface="+mj-lt"/>
              </a:rPr>
              <a:t>:</a:t>
            </a:r>
            <a:r>
              <a:rPr sz="1600" b="0" i="0" u="none" dirty="0">
                <a:solidFill>
                  <a:srgbClr val="334155"/>
                </a:solidFill>
                <a:latin typeface="+mj-lt"/>
              </a:rPr>
              <a:t> </a:t>
            </a:r>
            <a:r>
              <a:rPr sz="1600" b="0" i="0" u="none" dirty="0" err="1">
                <a:solidFill>
                  <a:srgbClr val="334155"/>
                </a:solidFill>
                <a:latin typeface="+mj-lt"/>
              </a:rPr>
              <a:t>Разработка</a:t>
            </a:r>
            <a:r>
              <a:rPr sz="1600" b="0" i="0" u="none" dirty="0">
                <a:solidFill>
                  <a:srgbClr val="334155"/>
                </a:solidFill>
                <a:latin typeface="+mj-lt"/>
              </a:rPr>
              <a:t> </a:t>
            </a:r>
            <a:r>
              <a:rPr sz="1600" b="0" i="0" u="none" dirty="0" err="1">
                <a:solidFill>
                  <a:srgbClr val="334155"/>
                </a:solidFill>
                <a:latin typeface="+mj-lt"/>
              </a:rPr>
              <a:t>специализированных</a:t>
            </a:r>
            <a:r>
              <a:rPr sz="1600" b="0" i="0" u="none" dirty="0">
                <a:solidFill>
                  <a:srgbClr val="334155"/>
                </a:solidFill>
                <a:latin typeface="+mj-lt"/>
              </a:rPr>
              <a:t> ГИС-</a:t>
            </a:r>
            <a:r>
              <a:rPr sz="1600" b="0" i="0" u="none" dirty="0" err="1">
                <a:solidFill>
                  <a:srgbClr val="334155"/>
                </a:solidFill>
                <a:latin typeface="+mj-lt"/>
              </a:rPr>
              <a:t>систем</a:t>
            </a:r>
            <a:r>
              <a:rPr sz="1600" b="0" i="0" u="none" dirty="0">
                <a:solidFill>
                  <a:srgbClr val="334155"/>
                </a:solidFill>
                <a:latin typeface="+mj-lt"/>
              </a:rPr>
              <a:t> </a:t>
            </a:r>
            <a:r>
              <a:rPr sz="1600" b="0" i="0" u="none" dirty="0" err="1">
                <a:solidFill>
                  <a:srgbClr val="334155"/>
                </a:solidFill>
                <a:latin typeface="+mj-lt"/>
              </a:rPr>
              <a:t>экологического</a:t>
            </a:r>
            <a:r>
              <a:rPr sz="1600" b="0" i="0" u="none" dirty="0">
                <a:solidFill>
                  <a:srgbClr val="334155"/>
                </a:solidFill>
                <a:latin typeface="+mj-lt"/>
              </a:rPr>
              <a:t> и </a:t>
            </a:r>
            <a:r>
              <a:rPr sz="1600" b="0" i="0" u="none" dirty="0" err="1">
                <a:solidFill>
                  <a:srgbClr val="334155"/>
                </a:solidFill>
                <a:latin typeface="+mj-lt"/>
              </a:rPr>
              <a:t>лесного</a:t>
            </a:r>
            <a:r>
              <a:rPr sz="1600" b="0" i="0" u="none" dirty="0">
                <a:solidFill>
                  <a:srgbClr val="334155"/>
                </a:solidFill>
                <a:latin typeface="+mj-lt"/>
              </a:rPr>
              <a:t> </a:t>
            </a:r>
            <a:r>
              <a:rPr sz="1600" b="0" i="0" u="none" dirty="0" err="1">
                <a:solidFill>
                  <a:srgbClr val="334155"/>
                </a:solidFill>
                <a:latin typeface="+mj-lt"/>
              </a:rPr>
              <a:t>мониторинга</a:t>
            </a:r>
            <a:r>
              <a:rPr sz="1600" b="0" i="0" u="none" dirty="0">
                <a:solidFill>
                  <a:srgbClr val="334155"/>
                </a:solidFill>
                <a:latin typeface="+mj-lt"/>
              </a:rPr>
              <a:t> </a:t>
            </a:r>
            <a:r>
              <a:rPr sz="1600" b="0" i="0" u="none" dirty="0" err="1">
                <a:solidFill>
                  <a:srgbClr val="334155"/>
                </a:solidFill>
                <a:latin typeface="+mj-lt"/>
              </a:rPr>
              <a:t>тайги</a:t>
            </a:r>
            <a:r>
              <a:rPr sz="1600" b="0" i="0" u="none" dirty="0">
                <a:solidFill>
                  <a:srgbClr val="334155"/>
                </a:solidFill>
                <a:latin typeface="+mj-lt"/>
              </a:rPr>
              <a:t> с </a:t>
            </a:r>
            <a:r>
              <a:rPr sz="1600" b="0" i="0" u="none" dirty="0" err="1">
                <a:solidFill>
                  <a:srgbClr val="334155"/>
                </a:solidFill>
                <a:latin typeface="+mj-lt"/>
              </a:rPr>
              <a:t>беспилотников</a:t>
            </a:r>
            <a:r>
              <a:rPr sz="1600" b="0" i="0" u="none" dirty="0">
                <a:solidFill>
                  <a:srgbClr val="334155"/>
                </a:solidFill>
                <a:latin typeface="+mj-lt"/>
              </a:rPr>
              <a:t> и </a:t>
            </a:r>
            <a:r>
              <a:rPr sz="1600" b="0" i="0" u="none" dirty="0" err="1">
                <a:solidFill>
                  <a:srgbClr val="334155"/>
                </a:solidFill>
                <a:latin typeface="+mj-lt"/>
              </a:rPr>
              <a:t>спутников</a:t>
            </a:r>
            <a:r>
              <a:rPr sz="1600" b="0" i="0" u="none" dirty="0">
                <a:solidFill>
                  <a:srgbClr val="334155"/>
                </a:solidFill>
                <a:latin typeface="+mj-lt"/>
              </a:rPr>
              <a:t>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7110" y="4930773"/>
            <a:ext cx="5715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 u="none">
                <a:solidFill>
                  <a:srgbClr val="334155"/>
                </a:solidFill>
                <a:latin typeface="DM Sans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130" y="4901354"/>
            <a:ext cx="5162550" cy="730969"/>
          </a:xfrm>
          <a:prstGeom prst="rect">
            <a:avLst/>
          </a:prstGeom>
          <a:noFill/>
        </p:spPr>
        <p:txBody>
          <a:bodyPr wrap="square" lIns="57150" tIns="0" rIns="0" bIns="0" anchor="t">
            <a:spAutoFit/>
          </a:bodyPr>
          <a:lstStyle/>
          <a:p>
            <a:pPr algn="just">
              <a:lnSpc>
                <a:spcPts val="1912"/>
              </a:lnSpc>
            </a:pPr>
            <a:r>
              <a:rPr sz="1600" b="1" i="0" u="none" dirty="0" err="1">
                <a:solidFill>
                  <a:srgbClr val="334155"/>
                </a:solidFill>
                <a:latin typeface="+mj-lt"/>
              </a:rPr>
              <a:t>Технопарк</a:t>
            </a:r>
            <a:r>
              <a:rPr sz="1600" b="1" i="0" u="none" dirty="0">
                <a:solidFill>
                  <a:srgbClr val="334155"/>
                </a:solidFill>
                <a:latin typeface="+mj-lt"/>
              </a:rPr>
              <a:t> </a:t>
            </a:r>
            <a:r>
              <a:rPr sz="1600" b="1" i="0" u="none" dirty="0" err="1">
                <a:solidFill>
                  <a:srgbClr val="334155"/>
                </a:solidFill>
                <a:latin typeface="+mj-lt"/>
              </a:rPr>
              <a:t>высоких</a:t>
            </a:r>
            <a:r>
              <a:rPr sz="1600" b="1" i="0" u="none" dirty="0">
                <a:solidFill>
                  <a:srgbClr val="334155"/>
                </a:solidFill>
                <a:latin typeface="+mj-lt"/>
              </a:rPr>
              <a:t> </a:t>
            </a:r>
            <a:r>
              <a:rPr sz="1600" b="1" i="0" u="none" dirty="0" err="1">
                <a:solidFill>
                  <a:srgbClr val="334155"/>
                </a:solidFill>
                <a:latin typeface="+mj-lt"/>
              </a:rPr>
              <a:t>технологий</a:t>
            </a:r>
            <a:r>
              <a:rPr sz="1600" b="1" i="0" u="none" dirty="0">
                <a:solidFill>
                  <a:srgbClr val="334155"/>
                </a:solidFill>
                <a:latin typeface="+mj-lt"/>
              </a:rPr>
              <a:t>:</a:t>
            </a:r>
            <a:r>
              <a:rPr sz="1600" b="0" i="0" u="none" dirty="0">
                <a:solidFill>
                  <a:srgbClr val="334155"/>
                </a:solidFill>
                <a:latin typeface="+mj-lt"/>
              </a:rPr>
              <a:t> </a:t>
            </a:r>
            <a:r>
              <a:rPr sz="1600" b="0" i="0" u="none" dirty="0" err="1">
                <a:solidFill>
                  <a:srgbClr val="334155"/>
                </a:solidFill>
                <a:latin typeface="+mj-lt"/>
              </a:rPr>
              <a:t>Поддержка</a:t>
            </a:r>
            <a:r>
              <a:rPr sz="1600" b="0" i="0" u="none" dirty="0">
                <a:solidFill>
                  <a:srgbClr val="334155"/>
                </a:solidFill>
                <a:latin typeface="+mj-lt"/>
              </a:rPr>
              <a:t> </a:t>
            </a:r>
            <a:r>
              <a:rPr sz="1600" b="0" i="0" u="none" dirty="0" err="1">
                <a:solidFill>
                  <a:srgbClr val="334155"/>
                </a:solidFill>
                <a:latin typeface="+mj-lt"/>
              </a:rPr>
              <a:t>стартапов</a:t>
            </a:r>
            <a:r>
              <a:rPr sz="1600" b="0" i="0" u="none" dirty="0">
                <a:solidFill>
                  <a:srgbClr val="334155"/>
                </a:solidFill>
                <a:latin typeface="+mj-lt"/>
              </a:rPr>
              <a:t> в </a:t>
            </a:r>
            <a:r>
              <a:rPr sz="1600" b="0" i="0" u="none" dirty="0" err="1">
                <a:solidFill>
                  <a:srgbClr val="334155"/>
                </a:solidFill>
                <a:latin typeface="+mj-lt"/>
              </a:rPr>
              <a:t>сфере</a:t>
            </a:r>
            <a:r>
              <a:rPr sz="1600" b="0" i="0" u="none" dirty="0">
                <a:solidFill>
                  <a:srgbClr val="334155"/>
                </a:solidFill>
                <a:latin typeface="+mj-lt"/>
              </a:rPr>
              <a:t> </a:t>
            </a:r>
            <a:r>
              <a:rPr sz="1600" b="0" i="0" u="none" dirty="0" err="1">
                <a:solidFill>
                  <a:srgbClr val="334155"/>
                </a:solidFill>
                <a:latin typeface="+mj-lt"/>
              </a:rPr>
              <a:t>промышленного</a:t>
            </a:r>
            <a:r>
              <a:rPr sz="1600" b="0" i="0" u="none" dirty="0">
                <a:solidFill>
                  <a:srgbClr val="334155"/>
                </a:solidFill>
                <a:latin typeface="+mj-lt"/>
              </a:rPr>
              <a:t> </a:t>
            </a:r>
            <a:r>
              <a:rPr sz="1600" b="0" i="0" u="none" dirty="0" err="1">
                <a:solidFill>
                  <a:srgbClr val="334155"/>
                </a:solidFill>
                <a:latin typeface="+mj-lt"/>
              </a:rPr>
              <a:t>интернета</a:t>
            </a:r>
            <a:r>
              <a:rPr sz="1600" b="0" i="0" u="none" dirty="0">
                <a:solidFill>
                  <a:srgbClr val="334155"/>
                </a:solidFill>
                <a:latin typeface="+mj-lt"/>
              </a:rPr>
              <a:t> </a:t>
            </a:r>
            <a:r>
              <a:rPr sz="1600" b="0" i="0" u="none" dirty="0" err="1">
                <a:solidFill>
                  <a:srgbClr val="334155"/>
                </a:solidFill>
                <a:latin typeface="+mj-lt"/>
              </a:rPr>
              <a:t>вещей</a:t>
            </a:r>
            <a:r>
              <a:rPr sz="1600" b="0" i="0" u="none" dirty="0">
                <a:solidFill>
                  <a:srgbClr val="334155"/>
                </a:solidFill>
                <a:latin typeface="+mj-lt"/>
              </a:rPr>
              <a:t>, </a:t>
            </a:r>
            <a:r>
              <a:rPr sz="1600" b="0" i="0" u="none" dirty="0" err="1">
                <a:solidFill>
                  <a:srgbClr val="334155"/>
                </a:solidFill>
                <a:latin typeface="+mj-lt"/>
              </a:rPr>
              <a:t>телеметрии</a:t>
            </a:r>
            <a:r>
              <a:rPr sz="1600" b="0" i="0" u="none" dirty="0">
                <a:solidFill>
                  <a:srgbClr val="334155"/>
                </a:solidFill>
                <a:latin typeface="+mj-lt"/>
              </a:rPr>
              <a:t> </a:t>
            </a:r>
            <a:r>
              <a:rPr sz="1600" b="0" i="0" u="none" dirty="0" err="1">
                <a:solidFill>
                  <a:srgbClr val="334155"/>
                </a:solidFill>
                <a:latin typeface="+mj-lt"/>
              </a:rPr>
              <a:t>скважин</a:t>
            </a:r>
            <a:r>
              <a:rPr sz="1600" b="0" i="0" u="none" dirty="0">
                <a:solidFill>
                  <a:srgbClr val="334155"/>
                </a:solidFill>
                <a:latin typeface="+mj-lt"/>
              </a:rPr>
              <a:t> и </a:t>
            </a:r>
            <a:r>
              <a:rPr sz="1600" b="0" i="0" u="none" dirty="0" err="1">
                <a:solidFill>
                  <a:srgbClr val="334155"/>
                </a:solidFill>
                <a:latin typeface="+mj-lt"/>
              </a:rPr>
              <a:t>кибербезопасности</a:t>
            </a:r>
            <a:r>
              <a:rPr sz="1600" b="0" i="0" u="none" dirty="0">
                <a:solidFill>
                  <a:srgbClr val="334155"/>
                </a:solidFill>
                <a:latin typeface="+mj-lt"/>
              </a:rPr>
              <a:t> ТЭК.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3867148"/>
            <a:ext cx="3581400" cy="1947862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5780" y="3867148"/>
            <a:ext cx="3581400" cy="194786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0" y="3867148"/>
            <a:ext cx="3581400" cy="194786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81000" y="6534150"/>
            <a:ext cx="37713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05088"/>
                </a:solidFill>
                <a:latin typeface="DM Sans"/>
              </a:rPr>
              <a:t>ГУАП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25275" y="6534150"/>
            <a:ext cx="8572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64748B"/>
                </a:solidFill>
                <a:latin typeface="DM Sans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3400" y="419100"/>
            <a:ext cx="6390798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005088"/>
                </a:solidFill>
                <a:latin typeface="Merriweather"/>
              </a:rPr>
              <a:t>Традиции и праздники коренных народов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05987" y="457200"/>
            <a:ext cx="1852612" cy="2667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23900" y="4038622"/>
            <a:ext cx="336042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 u="none" dirty="0" err="1">
                <a:solidFill>
                  <a:srgbClr val="005088"/>
                </a:solidFill>
                <a:latin typeface="Merriweather"/>
              </a:rPr>
              <a:t>Вороний</a:t>
            </a:r>
            <a:r>
              <a:rPr sz="1600" b="1" i="0" u="none" dirty="0">
                <a:solidFill>
                  <a:srgbClr val="005088"/>
                </a:solidFill>
                <a:latin typeface="Merriweather"/>
              </a:rPr>
              <a:t> </a:t>
            </a:r>
            <a:r>
              <a:rPr sz="1600" b="1" i="0" u="none" dirty="0" err="1">
                <a:solidFill>
                  <a:srgbClr val="005088"/>
                </a:solidFill>
                <a:latin typeface="Merriweather"/>
              </a:rPr>
              <a:t>день</a:t>
            </a:r>
            <a:r>
              <a:rPr sz="1600" b="1" i="0" u="none" dirty="0">
                <a:solidFill>
                  <a:srgbClr val="005088"/>
                </a:solidFill>
                <a:latin typeface="Merriweather"/>
              </a:rPr>
              <a:t> (</a:t>
            </a:r>
            <a:r>
              <a:rPr sz="1600" b="1" i="0" u="none" dirty="0" err="1">
                <a:solidFill>
                  <a:srgbClr val="005088"/>
                </a:solidFill>
                <a:latin typeface="Merriweather"/>
              </a:rPr>
              <a:t>Вурна</a:t>
            </a:r>
            <a:r>
              <a:rPr sz="1600" b="1" i="0" u="none" dirty="0">
                <a:solidFill>
                  <a:srgbClr val="005088"/>
                </a:solidFill>
                <a:latin typeface="Merriweather"/>
              </a:rPr>
              <a:t> </a:t>
            </a:r>
            <a:r>
              <a:rPr sz="1600" b="1" i="0" u="none" dirty="0" err="1">
                <a:solidFill>
                  <a:srgbClr val="005088"/>
                </a:solidFill>
                <a:latin typeface="Merriweather"/>
              </a:rPr>
              <a:t>Хатл</a:t>
            </a:r>
            <a:r>
              <a:rPr sz="1600" b="1" i="0" u="none" dirty="0">
                <a:solidFill>
                  <a:srgbClr val="005088"/>
                </a:solidFill>
                <a:latin typeface="Merriweather"/>
              </a:rPr>
              <a:t>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3900" y="4361111"/>
            <a:ext cx="3200400" cy="971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ts val="1912"/>
              </a:lnSpc>
            </a:pPr>
            <a:r>
              <a:rPr sz="1400" b="0" i="0" u="none" dirty="0" err="1">
                <a:solidFill>
                  <a:srgbClr val="334155"/>
                </a:solidFill>
                <a:latin typeface="+mj-lt"/>
              </a:rPr>
              <a:t>Главный</a:t>
            </a:r>
            <a:r>
              <a:rPr sz="1400" b="0" i="0" u="none" dirty="0">
                <a:solidFill>
                  <a:srgbClr val="334155"/>
                </a:solidFill>
                <a:latin typeface="+mj-lt"/>
              </a:rPr>
              <a:t> </a:t>
            </a:r>
            <a:r>
              <a:rPr sz="1400" b="0" i="0" u="none" dirty="0" err="1">
                <a:solidFill>
                  <a:srgbClr val="334155"/>
                </a:solidFill>
                <a:latin typeface="+mj-lt"/>
              </a:rPr>
              <a:t>весенний</a:t>
            </a:r>
            <a:r>
              <a:rPr sz="1400" b="0" i="0" u="none" dirty="0">
                <a:solidFill>
                  <a:srgbClr val="334155"/>
                </a:solidFill>
                <a:latin typeface="+mj-lt"/>
              </a:rPr>
              <a:t> </a:t>
            </a:r>
            <a:r>
              <a:rPr sz="1400" b="0" i="0" u="none" dirty="0" err="1">
                <a:solidFill>
                  <a:srgbClr val="334155"/>
                </a:solidFill>
                <a:latin typeface="+mj-lt"/>
              </a:rPr>
              <a:t>праздник</a:t>
            </a:r>
            <a:r>
              <a:rPr sz="1400" b="0" i="0" u="none" dirty="0">
                <a:solidFill>
                  <a:srgbClr val="334155"/>
                </a:solidFill>
                <a:latin typeface="+mj-lt"/>
              </a:rPr>
              <a:t> </a:t>
            </a:r>
            <a:r>
              <a:rPr sz="1400" b="0" i="0" u="none" dirty="0" err="1">
                <a:solidFill>
                  <a:srgbClr val="334155"/>
                </a:solidFill>
                <a:latin typeface="+mj-lt"/>
              </a:rPr>
              <a:t>обских</a:t>
            </a:r>
            <a:r>
              <a:rPr sz="1400" b="0" i="0" u="none" dirty="0">
                <a:solidFill>
                  <a:srgbClr val="334155"/>
                </a:solidFill>
                <a:latin typeface="+mj-lt"/>
              </a:rPr>
              <a:t> </a:t>
            </a:r>
            <a:r>
              <a:rPr sz="1400" b="0" i="0" u="none" dirty="0" err="1">
                <a:solidFill>
                  <a:srgbClr val="334155"/>
                </a:solidFill>
                <a:latin typeface="+mj-lt"/>
              </a:rPr>
              <a:t>угров</a:t>
            </a:r>
            <a:r>
              <a:rPr sz="1400" b="0" i="0" u="none" dirty="0">
                <a:solidFill>
                  <a:srgbClr val="334155"/>
                </a:solidFill>
                <a:latin typeface="+mj-lt"/>
              </a:rPr>
              <a:t> (</a:t>
            </a:r>
            <a:r>
              <a:rPr sz="1400" b="0" i="0" u="none" dirty="0" err="1">
                <a:solidFill>
                  <a:srgbClr val="334155"/>
                </a:solidFill>
                <a:latin typeface="+mj-lt"/>
              </a:rPr>
              <a:t>апрель</a:t>
            </a:r>
            <a:r>
              <a:rPr sz="1400" b="0" i="0" u="none" dirty="0">
                <a:solidFill>
                  <a:srgbClr val="334155"/>
                </a:solidFill>
                <a:latin typeface="+mj-lt"/>
              </a:rPr>
              <a:t>). </a:t>
            </a:r>
            <a:r>
              <a:rPr sz="1400" b="0" i="0" u="none" dirty="0" err="1">
                <a:solidFill>
                  <a:srgbClr val="334155"/>
                </a:solidFill>
                <a:latin typeface="+mj-lt"/>
              </a:rPr>
              <a:t>Серая</a:t>
            </a:r>
            <a:r>
              <a:rPr sz="1400" b="0" i="0" u="none" dirty="0">
                <a:solidFill>
                  <a:srgbClr val="334155"/>
                </a:solidFill>
                <a:latin typeface="+mj-lt"/>
              </a:rPr>
              <a:t> </a:t>
            </a:r>
            <a:r>
              <a:rPr sz="1400" b="0" i="0" u="none" dirty="0" err="1">
                <a:solidFill>
                  <a:srgbClr val="334155"/>
                </a:solidFill>
                <a:latin typeface="+mj-lt"/>
              </a:rPr>
              <a:t>ворона</a:t>
            </a:r>
            <a:r>
              <a:rPr sz="1400" b="0" i="0" u="none" dirty="0">
                <a:solidFill>
                  <a:srgbClr val="334155"/>
                </a:solidFill>
                <a:latin typeface="+mj-lt"/>
              </a:rPr>
              <a:t> </a:t>
            </a:r>
            <a:r>
              <a:rPr sz="1400" b="0" i="0" u="none" dirty="0" err="1">
                <a:solidFill>
                  <a:srgbClr val="334155"/>
                </a:solidFill>
                <a:latin typeface="+mj-lt"/>
              </a:rPr>
              <a:t>считается</a:t>
            </a:r>
            <a:r>
              <a:rPr sz="1400" b="0" i="0" u="none" dirty="0">
                <a:solidFill>
                  <a:srgbClr val="334155"/>
                </a:solidFill>
                <a:latin typeface="+mj-lt"/>
              </a:rPr>
              <a:t> </a:t>
            </a:r>
            <a:r>
              <a:rPr sz="1400" b="0" i="0" u="none" dirty="0" err="1">
                <a:solidFill>
                  <a:srgbClr val="334155"/>
                </a:solidFill>
                <a:latin typeface="+mj-lt"/>
              </a:rPr>
              <a:t>вестником</a:t>
            </a:r>
            <a:r>
              <a:rPr sz="1400" b="0" i="0" u="none" dirty="0">
                <a:solidFill>
                  <a:srgbClr val="334155"/>
                </a:solidFill>
                <a:latin typeface="+mj-lt"/>
              </a:rPr>
              <a:t> </a:t>
            </a:r>
            <a:r>
              <a:rPr sz="1400" b="0" i="0" u="none" dirty="0" err="1">
                <a:solidFill>
                  <a:srgbClr val="334155"/>
                </a:solidFill>
                <a:latin typeface="+mj-lt"/>
              </a:rPr>
              <a:t>весны</a:t>
            </a:r>
            <a:r>
              <a:rPr sz="1400" b="0" i="0" u="none" dirty="0">
                <a:solidFill>
                  <a:srgbClr val="334155"/>
                </a:solidFill>
                <a:latin typeface="+mj-lt"/>
              </a:rPr>
              <a:t>, </a:t>
            </a:r>
            <a:r>
              <a:rPr sz="1400" b="0" i="0" u="none" dirty="0" err="1">
                <a:solidFill>
                  <a:srgbClr val="334155"/>
                </a:solidFill>
                <a:latin typeface="+mj-lt"/>
              </a:rPr>
              <a:t>приносящей</a:t>
            </a:r>
            <a:r>
              <a:rPr sz="1400" b="0" i="0" u="none" dirty="0">
                <a:solidFill>
                  <a:srgbClr val="334155"/>
                </a:solidFill>
                <a:latin typeface="+mj-lt"/>
              </a:rPr>
              <a:t> </a:t>
            </a:r>
            <a:r>
              <a:rPr sz="1400" b="0" i="0" u="none" dirty="0" err="1">
                <a:solidFill>
                  <a:srgbClr val="334155"/>
                </a:solidFill>
                <a:latin typeface="+mj-lt"/>
              </a:rPr>
              <a:t>новую</a:t>
            </a:r>
            <a:r>
              <a:rPr sz="1400" b="0" i="0" u="none" dirty="0">
                <a:solidFill>
                  <a:srgbClr val="334155"/>
                </a:solidFill>
                <a:latin typeface="+mj-lt"/>
              </a:rPr>
              <a:t> </a:t>
            </a:r>
            <a:r>
              <a:rPr sz="1400" b="0" i="0" u="none" dirty="0" err="1">
                <a:solidFill>
                  <a:srgbClr val="334155"/>
                </a:solidFill>
                <a:latin typeface="+mj-lt"/>
              </a:rPr>
              <a:t>жизнь</a:t>
            </a:r>
            <a:r>
              <a:rPr sz="1400" b="0" i="0" u="none" dirty="0">
                <a:solidFill>
                  <a:srgbClr val="334155"/>
                </a:solidFill>
                <a:latin typeface="+mj-lt"/>
              </a:rPr>
              <a:t> и </a:t>
            </a:r>
            <a:r>
              <a:rPr sz="1400" b="0" i="0" u="none" dirty="0" err="1">
                <a:solidFill>
                  <a:srgbClr val="334155"/>
                </a:solidFill>
                <a:latin typeface="+mj-lt"/>
              </a:rPr>
              <a:t>пробуждение</a:t>
            </a:r>
            <a:r>
              <a:rPr sz="1400" b="0" i="0" u="none" dirty="0">
                <a:solidFill>
                  <a:srgbClr val="334155"/>
                </a:solidFill>
                <a:latin typeface="+mj-lt"/>
              </a:rPr>
              <a:t> </a:t>
            </a:r>
            <a:r>
              <a:rPr sz="1400" b="0" i="0" u="none" dirty="0" err="1">
                <a:solidFill>
                  <a:srgbClr val="334155"/>
                </a:solidFill>
                <a:latin typeface="+mj-lt"/>
              </a:rPr>
              <a:t>сибирской</a:t>
            </a:r>
            <a:r>
              <a:rPr sz="1400" b="0" i="0" u="none" dirty="0">
                <a:solidFill>
                  <a:srgbClr val="334155"/>
                </a:solidFill>
                <a:latin typeface="+mj-lt"/>
              </a:rPr>
              <a:t> </a:t>
            </a:r>
            <a:r>
              <a:rPr sz="1400" b="0" i="0" u="none" dirty="0" err="1">
                <a:solidFill>
                  <a:srgbClr val="334155"/>
                </a:solidFill>
                <a:latin typeface="+mj-lt"/>
              </a:rPr>
              <a:t>тайги</a:t>
            </a:r>
            <a:r>
              <a:rPr sz="1400" b="0" i="0" u="none" dirty="0">
                <a:solidFill>
                  <a:srgbClr val="334155"/>
                </a:solidFill>
                <a:latin typeface="+mj-lt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4040041"/>
            <a:ext cx="336042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 u="none" dirty="0" err="1">
                <a:solidFill>
                  <a:srgbClr val="005088"/>
                </a:solidFill>
                <a:latin typeface="Merriweather"/>
              </a:rPr>
              <a:t>День</a:t>
            </a:r>
            <a:r>
              <a:rPr sz="1600" b="1" i="0" u="none" dirty="0">
                <a:solidFill>
                  <a:srgbClr val="005088"/>
                </a:solidFill>
                <a:latin typeface="Merriweather"/>
              </a:rPr>
              <a:t> </a:t>
            </a:r>
            <a:r>
              <a:rPr sz="1600" b="1" i="0" u="none" dirty="0" err="1">
                <a:solidFill>
                  <a:srgbClr val="005088"/>
                </a:solidFill>
                <a:latin typeface="Merriweather"/>
              </a:rPr>
              <a:t>оленевода</a:t>
            </a:r>
            <a:endParaRPr sz="1600" b="1" i="0" u="none" dirty="0">
              <a:solidFill>
                <a:srgbClr val="005088"/>
              </a:solidFill>
              <a:latin typeface="Merriweather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526280" y="4341018"/>
            <a:ext cx="3200400" cy="9568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ts val="1912"/>
              </a:lnSpc>
            </a:pPr>
            <a:r>
              <a:rPr sz="1275" b="0" i="0" u="none" dirty="0" err="1">
                <a:solidFill>
                  <a:srgbClr val="334155"/>
                </a:solidFill>
                <a:latin typeface="+mj-lt"/>
              </a:rPr>
              <a:t>Масштабный</a:t>
            </a:r>
            <a:r>
              <a:rPr sz="1275" b="0" i="0" u="none" dirty="0">
                <a:solidFill>
                  <a:srgbClr val="334155"/>
                </a:solidFill>
                <a:latin typeface="+mj-lt"/>
              </a:rPr>
              <a:t> </a:t>
            </a:r>
            <a:r>
              <a:rPr sz="1275" b="0" i="0" u="none" dirty="0" err="1">
                <a:solidFill>
                  <a:srgbClr val="334155"/>
                </a:solidFill>
                <a:latin typeface="+mj-lt"/>
              </a:rPr>
              <a:t>зрелищный</a:t>
            </a:r>
            <a:r>
              <a:rPr sz="1275" b="0" i="0" u="none" dirty="0">
                <a:solidFill>
                  <a:srgbClr val="334155"/>
                </a:solidFill>
                <a:latin typeface="+mj-lt"/>
              </a:rPr>
              <a:t> </a:t>
            </a:r>
            <a:r>
              <a:rPr sz="1275" b="0" i="0" u="none" dirty="0" err="1">
                <a:solidFill>
                  <a:srgbClr val="334155"/>
                </a:solidFill>
                <a:latin typeface="+mj-lt"/>
              </a:rPr>
              <a:t>праздник</a:t>
            </a:r>
            <a:r>
              <a:rPr sz="1275" b="0" i="0" u="none" dirty="0">
                <a:solidFill>
                  <a:srgbClr val="334155"/>
                </a:solidFill>
                <a:latin typeface="+mj-lt"/>
              </a:rPr>
              <a:t> </a:t>
            </a:r>
            <a:r>
              <a:rPr sz="1275" b="0" i="0" u="none" dirty="0" err="1">
                <a:solidFill>
                  <a:srgbClr val="334155"/>
                </a:solidFill>
                <a:latin typeface="+mj-lt"/>
              </a:rPr>
              <a:t>стойбищ</a:t>
            </a:r>
            <a:r>
              <a:rPr sz="1275" b="0" i="0" u="none" dirty="0">
                <a:solidFill>
                  <a:srgbClr val="334155"/>
                </a:solidFill>
                <a:latin typeface="+mj-lt"/>
              </a:rPr>
              <a:t>: </a:t>
            </a:r>
            <a:r>
              <a:rPr sz="1275" b="0" i="0" u="none" dirty="0" err="1">
                <a:solidFill>
                  <a:srgbClr val="334155"/>
                </a:solidFill>
                <a:latin typeface="+mj-lt"/>
              </a:rPr>
              <a:t>гонки</a:t>
            </a:r>
            <a:r>
              <a:rPr sz="1275" b="0" i="0" u="none" dirty="0">
                <a:solidFill>
                  <a:srgbClr val="334155"/>
                </a:solidFill>
                <a:latin typeface="+mj-lt"/>
              </a:rPr>
              <a:t> </a:t>
            </a:r>
            <a:r>
              <a:rPr sz="1275" b="0" i="0" u="none" dirty="0" err="1">
                <a:solidFill>
                  <a:srgbClr val="334155"/>
                </a:solidFill>
                <a:latin typeface="+mj-lt"/>
              </a:rPr>
              <a:t>на</a:t>
            </a:r>
            <a:r>
              <a:rPr sz="1275" b="0" i="0" u="none" dirty="0">
                <a:solidFill>
                  <a:srgbClr val="334155"/>
                </a:solidFill>
                <a:latin typeface="+mj-lt"/>
              </a:rPr>
              <a:t> </a:t>
            </a:r>
            <a:r>
              <a:rPr sz="1275" b="0" i="0" u="none" dirty="0" err="1">
                <a:solidFill>
                  <a:srgbClr val="334155"/>
                </a:solidFill>
                <a:latin typeface="+mj-lt"/>
              </a:rPr>
              <a:t>оленьих</a:t>
            </a:r>
            <a:r>
              <a:rPr sz="1275" b="0" i="0" u="none" dirty="0">
                <a:solidFill>
                  <a:srgbClr val="334155"/>
                </a:solidFill>
                <a:latin typeface="+mj-lt"/>
              </a:rPr>
              <a:t> </a:t>
            </a:r>
            <a:r>
              <a:rPr sz="1275" b="0" i="0" u="none" dirty="0" err="1">
                <a:solidFill>
                  <a:srgbClr val="334155"/>
                </a:solidFill>
                <a:latin typeface="+mj-lt"/>
              </a:rPr>
              <a:t>упряжках</a:t>
            </a:r>
            <a:r>
              <a:rPr sz="1275" b="0" i="0" u="none" dirty="0">
                <a:solidFill>
                  <a:srgbClr val="334155"/>
                </a:solidFill>
                <a:latin typeface="+mj-lt"/>
              </a:rPr>
              <a:t>, </a:t>
            </a:r>
            <a:r>
              <a:rPr sz="1275" b="0" i="0" u="none" dirty="0" err="1">
                <a:solidFill>
                  <a:srgbClr val="334155"/>
                </a:solidFill>
                <a:latin typeface="+mj-lt"/>
              </a:rPr>
              <a:t>метание</a:t>
            </a:r>
            <a:r>
              <a:rPr sz="1275" b="0" i="0" u="none" dirty="0">
                <a:solidFill>
                  <a:srgbClr val="334155"/>
                </a:solidFill>
                <a:latin typeface="+mj-lt"/>
              </a:rPr>
              <a:t> </a:t>
            </a:r>
            <a:r>
              <a:rPr sz="1275" b="0" i="0" u="none" dirty="0" err="1">
                <a:solidFill>
                  <a:srgbClr val="334155"/>
                </a:solidFill>
                <a:latin typeface="+mj-lt"/>
              </a:rPr>
              <a:t>тынзяна</a:t>
            </a:r>
            <a:r>
              <a:rPr sz="1275" b="0" i="0" u="none" dirty="0">
                <a:solidFill>
                  <a:srgbClr val="334155"/>
                </a:solidFill>
                <a:latin typeface="+mj-lt"/>
              </a:rPr>
              <a:t> </a:t>
            </a:r>
            <a:r>
              <a:rPr sz="1275" b="0" i="0" u="none" dirty="0" err="1">
                <a:solidFill>
                  <a:srgbClr val="334155"/>
                </a:solidFill>
                <a:latin typeface="+mj-lt"/>
              </a:rPr>
              <a:t>на</a:t>
            </a:r>
            <a:r>
              <a:rPr sz="1275" b="0" i="0" u="none" dirty="0">
                <a:solidFill>
                  <a:srgbClr val="334155"/>
                </a:solidFill>
                <a:latin typeface="+mj-lt"/>
              </a:rPr>
              <a:t> </a:t>
            </a:r>
            <a:r>
              <a:rPr sz="1275" b="0" i="0" u="none" dirty="0" err="1">
                <a:solidFill>
                  <a:srgbClr val="334155"/>
                </a:solidFill>
                <a:latin typeface="+mj-lt"/>
              </a:rPr>
              <a:t>хорей</a:t>
            </a:r>
            <a:r>
              <a:rPr sz="1275" b="0" i="0" u="none" dirty="0">
                <a:solidFill>
                  <a:srgbClr val="334155"/>
                </a:solidFill>
                <a:latin typeface="+mj-lt"/>
              </a:rPr>
              <a:t>, </a:t>
            </a:r>
            <a:r>
              <a:rPr sz="1275" b="0" i="0" u="none" dirty="0" err="1">
                <a:solidFill>
                  <a:srgbClr val="334155"/>
                </a:solidFill>
                <a:latin typeface="+mj-lt"/>
              </a:rPr>
              <a:t>национальная</a:t>
            </a:r>
            <a:r>
              <a:rPr sz="1275" b="0" i="0" u="none" dirty="0">
                <a:solidFill>
                  <a:srgbClr val="334155"/>
                </a:solidFill>
                <a:latin typeface="+mj-lt"/>
              </a:rPr>
              <a:t> </a:t>
            </a:r>
            <a:r>
              <a:rPr sz="1275" b="0" i="0" u="none" dirty="0" err="1">
                <a:solidFill>
                  <a:srgbClr val="334155"/>
                </a:solidFill>
                <a:latin typeface="+mj-lt"/>
              </a:rPr>
              <a:t>борьба</a:t>
            </a:r>
            <a:r>
              <a:rPr sz="1275" b="0" i="0" u="none" dirty="0">
                <a:solidFill>
                  <a:srgbClr val="334155"/>
                </a:solidFill>
                <a:latin typeface="+mj-lt"/>
              </a:rPr>
              <a:t> и </a:t>
            </a:r>
            <a:r>
              <a:rPr sz="1275" b="0" i="0" u="none" dirty="0" err="1">
                <a:solidFill>
                  <a:srgbClr val="334155"/>
                </a:solidFill>
                <a:latin typeface="+mj-lt"/>
              </a:rPr>
              <a:t>дегустация</a:t>
            </a:r>
            <a:r>
              <a:rPr sz="1275" b="0" i="0" u="none" dirty="0">
                <a:solidFill>
                  <a:srgbClr val="334155"/>
                </a:solidFill>
                <a:latin typeface="+mj-lt"/>
              </a:rPr>
              <a:t> </a:t>
            </a:r>
            <a:r>
              <a:rPr sz="1275" b="0" i="0" u="none" dirty="0" err="1">
                <a:solidFill>
                  <a:srgbClr val="334155"/>
                </a:solidFill>
                <a:latin typeface="+mj-lt"/>
              </a:rPr>
              <a:t>северных</a:t>
            </a:r>
            <a:r>
              <a:rPr sz="1275" b="0" i="0" u="none" dirty="0">
                <a:solidFill>
                  <a:srgbClr val="334155"/>
                </a:solidFill>
                <a:latin typeface="+mj-lt"/>
              </a:rPr>
              <a:t> </a:t>
            </a:r>
            <a:r>
              <a:rPr sz="1275" b="0" i="0" u="none" dirty="0" err="1">
                <a:solidFill>
                  <a:srgbClr val="334155"/>
                </a:solidFill>
                <a:latin typeface="+mj-lt"/>
              </a:rPr>
              <a:t>деликатесов</a:t>
            </a:r>
            <a:r>
              <a:rPr sz="1275" b="0" i="0" u="none" dirty="0">
                <a:solidFill>
                  <a:srgbClr val="334155"/>
                </a:solidFill>
                <a:latin typeface="+mj-lt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67700" y="4040042"/>
            <a:ext cx="336042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 u="none" dirty="0" err="1">
                <a:solidFill>
                  <a:srgbClr val="005088"/>
                </a:solidFill>
                <a:latin typeface="Merriweather"/>
              </a:rPr>
              <a:t>Медвежьи</a:t>
            </a:r>
            <a:r>
              <a:rPr sz="1600" b="1" i="0" u="none" dirty="0">
                <a:solidFill>
                  <a:srgbClr val="005088"/>
                </a:solidFill>
                <a:latin typeface="Merriweather"/>
              </a:rPr>
              <a:t> </a:t>
            </a:r>
            <a:r>
              <a:rPr sz="1600" b="1" i="0" u="none" dirty="0" err="1">
                <a:solidFill>
                  <a:srgbClr val="005088"/>
                </a:solidFill>
                <a:latin typeface="Merriweather"/>
              </a:rPr>
              <a:t>игрища</a:t>
            </a:r>
            <a:endParaRPr sz="1600" b="1" i="0" u="none" dirty="0">
              <a:solidFill>
                <a:srgbClr val="005088"/>
              </a:solidFill>
              <a:latin typeface="Merriweather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267700" y="4341931"/>
            <a:ext cx="3200400" cy="971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ts val="1912"/>
              </a:lnSpc>
            </a:pPr>
            <a:r>
              <a:rPr sz="1400" b="0" i="0" u="none" dirty="0" err="1">
                <a:solidFill>
                  <a:srgbClr val="334155"/>
                </a:solidFill>
                <a:latin typeface="+mj-lt"/>
              </a:rPr>
              <a:t>Сакральный</a:t>
            </a:r>
            <a:r>
              <a:rPr sz="1400" b="0" i="0" u="none" dirty="0">
                <a:solidFill>
                  <a:srgbClr val="334155"/>
                </a:solidFill>
                <a:latin typeface="+mj-lt"/>
              </a:rPr>
              <a:t> </a:t>
            </a:r>
            <a:r>
              <a:rPr sz="1400" b="0" i="0" u="none" dirty="0" err="1">
                <a:solidFill>
                  <a:srgbClr val="334155"/>
                </a:solidFill>
                <a:latin typeface="+mj-lt"/>
              </a:rPr>
              <a:t>обряд</a:t>
            </a:r>
            <a:r>
              <a:rPr sz="1400" b="0" i="0" u="none" dirty="0">
                <a:solidFill>
                  <a:srgbClr val="334155"/>
                </a:solidFill>
                <a:latin typeface="+mj-lt"/>
              </a:rPr>
              <a:t> и </a:t>
            </a:r>
            <a:r>
              <a:rPr sz="1400" b="0" i="0" u="none" dirty="0" err="1">
                <a:solidFill>
                  <a:srgbClr val="334155"/>
                </a:solidFill>
                <a:latin typeface="+mj-lt"/>
              </a:rPr>
              <a:t>древнейший</a:t>
            </a:r>
            <a:r>
              <a:rPr sz="1400" b="0" i="0" u="none" dirty="0">
                <a:solidFill>
                  <a:srgbClr val="334155"/>
                </a:solidFill>
                <a:latin typeface="+mj-lt"/>
              </a:rPr>
              <a:t> </a:t>
            </a:r>
            <a:r>
              <a:rPr sz="1400" b="0" i="0" u="none" dirty="0" err="1">
                <a:solidFill>
                  <a:srgbClr val="334155"/>
                </a:solidFill>
                <a:latin typeface="+mj-lt"/>
              </a:rPr>
              <a:t>театр</a:t>
            </a:r>
            <a:r>
              <a:rPr sz="1400" b="0" i="0" u="none" dirty="0">
                <a:solidFill>
                  <a:srgbClr val="334155"/>
                </a:solidFill>
                <a:latin typeface="+mj-lt"/>
              </a:rPr>
              <a:t> </a:t>
            </a:r>
            <a:r>
              <a:rPr sz="1400" b="0" i="0" u="none" dirty="0" err="1">
                <a:solidFill>
                  <a:srgbClr val="334155"/>
                </a:solidFill>
                <a:latin typeface="+mj-lt"/>
              </a:rPr>
              <a:t>коренных</a:t>
            </a:r>
            <a:r>
              <a:rPr sz="1400" b="0" i="0" u="none" dirty="0">
                <a:solidFill>
                  <a:srgbClr val="334155"/>
                </a:solidFill>
                <a:latin typeface="+mj-lt"/>
              </a:rPr>
              <a:t> </a:t>
            </a:r>
            <a:r>
              <a:rPr sz="1400" b="0" i="0" u="none" dirty="0" err="1">
                <a:solidFill>
                  <a:srgbClr val="334155"/>
                </a:solidFill>
                <a:latin typeface="+mj-lt"/>
              </a:rPr>
              <a:t>народов</a:t>
            </a:r>
            <a:r>
              <a:rPr sz="1400" b="0" i="0" u="none" dirty="0">
                <a:solidFill>
                  <a:srgbClr val="334155"/>
                </a:solidFill>
                <a:latin typeface="+mj-lt"/>
              </a:rPr>
              <a:t>. </a:t>
            </a:r>
            <a:r>
              <a:rPr sz="1400" b="0" i="0" u="none" dirty="0" err="1">
                <a:solidFill>
                  <a:srgbClr val="334155"/>
                </a:solidFill>
                <a:latin typeface="+mj-lt"/>
              </a:rPr>
              <a:t>Сочетает</a:t>
            </a:r>
            <a:r>
              <a:rPr sz="1400" b="0" i="0" u="none" dirty="0">
                <a:solidFill>
                  <a:srgbClr val="334155"/>
                </a:solidFill>
                <a:latin typeface="+mj-lt"/>
              </a:rPr>
              <a:t> </a:t>
            </a:r>
            <a:r>
              <a:rPr sz="1400" b="0" i="0" u="none" dirty="0" err="1">
                <a:solidFill>
                  <a:srgbClr val="334155"/>
                </a:solidFill>
                <a:latin typeface="+mj-lt"/>
              </a:rPr>
              <a:t>исполнение</a:t>
            </a:r>
            <a:r>
              <a:rPr sz="1400" b="0" i="0" u="none" dirty="0">
                <a:solidFill>
                  <a:srgbClr val="334155"/>
                </a:solidFill>
                <a:latin typeface="+mj-lt"/>
              </a:rPr>
              <a:t> </a:t>
            </a:r>
            <a:r>
              <a:rPr sz="1400" b="0" i="0" u="none" dirty="0" err="1">
                <a:solidFill>
                  <a:srgbClr val="334155"/>
                </a:solidFill>
                <a:latin typeface="+mj-lt"/>
              </a:rPr>
              <a:t>священных</a:t>
            </a:r>
            <a:r>
              <a:rPr sz="1400" b="0" i="0" u="none" dirty="0">
                <a:solidFill>
                  <a:srgbClr val="334155"/>
                </a:solidFill>
                <a:latin typeface="+mj-lt"/>
              </a:rPr>
              <a:t> </a:t>
            </a:r>
            <a:r>
              <a:rPr sz="1400" b="0" i="0" u="none" dirty="0" err="1">
                <a:solidFill>
                  <a:srgbClr val="334155"/>
                </a:solidFill>
                <a:latin typeface="+mj-lt"/>
              </a:rPr>
              <a:t>песен</a:t>
            </a:r>
            <a:r>
              <a:rPr sz="1400" b="0" i="0" u="none" dirty="0">
                <a:solidFill>
                  <a:srgbClr val="334155"/>
                </a:solidFill>
                <a:latin typeface="+mj-lt"/>
              </a:rPr>
              <a:t>, </a:t>
            </a:r>
            <a:r>
              <a:rPr sz="1400" b="0" i="0" u="none" dirty="0" err="1">
                <a:solidFill>
                  <a:srgbClr val="334155"/>
                </a:solidFill>
                <a:latin typeface="+mj-lt"/>
              </a:rPr>
              <a:t>танцев</a:t>
            </a:r>
            <a:r>
              <a:rPr sz="1400" b="0" i="0" u="none" dirty="0">
                <a:solidFill>
                  <a:srgbClr val="334155"/>
                </a:solidFill>
                <a:latin typeface="+mj-lt"/>
              </a:rPr>
              <a:t> в </a:t>
            </a:r>
            <a:r>
              <a:rPr sz="1400" b="0" i="0" u="none" dirty="0" err="1">
                <a:solidFill>
                  <a:srgbClr val="334155"/>
                </a:solidFill>
                <a:latin typeface="+mj-lt"/>
              </a:rPr>
              <a:t>масках</a:t>
            </a:r>
            <a:r>
              <a:rPr sz="1400" b="0" i="0" u="none" dirty="0">
                <a:solidFill>
                  <a:srgbClr val="334155"/>
                </a:solidFill>
                <a:latin typeface="+mj-lt"/>
              </a:rPr>
              <a:t> и </a:t>
            </a:r>
            <a:r>
              <a:rPr sz="1400" b="0" i="0" u="none" dirty="0" err="1">
                <a:solidFill>
                  <a:srgbClr val="334155"/>
                </a:solidFill>
                <a:latin typeface="+mj-lt"/>
              </a:rPr>
              <a:t>мифологических</a:t>
            </a:r>
            <a:r>
              <a:rPr sz="1400" b="0" i="0" u="none" dirty="0">
                <a:solidFill>
                  <a:srgbClr val="334155"/>
                </a:solidFill>
                <a:latin typeface="+mj-lt"/>
              </a:rPr>
              <a:t> </a:t>
            </a:r>
            <a:r>
              <a:rPr sz="1400" b="0" i="0" u="none" dirty="0" err="1">
                <a:solidFill>
                  <a:srgbClr val="334155"/>
                </a:solidFill>
                <a:latin typeface="+mj-lt"/>
              </a:rPr>
              <a:t>представлений</a:t>
            </a:r>
            <a:r>
              <a:rPr sz="1400" b="0" i="0" u="none" dirty="0">
                <a:solidFill>
                  <a:srgbClr val="334155"/>
                </a:solidFill>
                <a:latin typeface="+mj-lt"/>
              </a:rPr>
              <a:t>.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CD191D72-E69D-46E4-8B04-E504A54BDE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1089921"/>
            <a:ext cx="3550920" cy="2494120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>
            <a:extLst>
              <a:ext uri="{FF2B5EF4-FFF2-40B4-BE49-F238E27FC236}">
                <a16:creationId xmlns:a16="http://schemas.microsoft.com/office/drawing/2014/main" id="{44D85200-C97D-4FA2-850D-11045FC56E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35780" y="1089921"/>
            <a:ext cx="3581400" cy="2494120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4" name="Picture 8">
            <a:extLst>
              <a:ext uri="{FF2B5EF4-FFF2-40B4-BE49-F238E27FC236}">
                <a16:creationId xmlns:a16="http://schemas.microsoft.com/office/drawing/2014/main" id="{81B46552-5701-4416-8551-34BE664871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38160" y="1089921"/>
            <a:ext cx="3581400" cy="2494120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7450" y="1991501"/>
            <a:ext cx="5391150" cy="32956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81000" y="6534150"/>
            <a:ext cx="37713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05088"/>
                </a:solidFill>
                <a:latin typeface="DM Sans"/>
              </a:rPr>
              <a:t>ГУАП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25275" y="6534150"/>
            <a:ext cx="85725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/>
            <a:r>
              <a:rPr sz="1400" b="1" i="0" u="none">
                <a:solidFill>
                  <a:srgbClr val="64748B"/>
                </a:solidFill>
                <a:latin typeface="DM Sans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400" y="419100"/>
            <a:ext cx="592074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005088"/>
                </a:solidFill>
                <a:latin typeface="Merriweather"/>
              </a:rPr>
              <a:t>Современная культурная жизнь в Югре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7887" y="457200"/>
            <a:ext cx="1890712" cy="2667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54140" y="2750209"/>
            <a:ext cx="5260657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/>
            <a:r>
              <a:rPr sz="1400" b="1" i="0" u="none" dirty="0" err="1">
                <a:solidFill>
                  <a:srgbClr val="005088"/>
                </a:solidFill>
                <a:latin typeface="Merriweather"/>
              </a:rPr>
              <a:t>Синтез</a:t>
            </a:r>
            <a:r>
              <a:rPr sz="1400" b="1" i="0" u="none" dirty="0">
                <a:solidFill>
                  <a:srgbClr val="005088"/>
                </a:solidFill>
                <a:latin typeface="Merriweather"/>
              </a:rPr>
              <a:t> </a:t>
            </a:r>
            <a:r>
              <a:rPr sz="1400" b="1" i="0" u="none" dirty="0" err="1">
                <a:solidFill>
                  <a:srgbClr val="005088"/>
                </a:solidFill>
                <a:latin typeface="Merriweather"/>
              </a:rPr>
              <a:t>традиций</a:t>
            </a:r>
            <a:r>
              <a:rPr sz="1400" b="1" i="0" u="none" dirty="0">
                <a:solidFill>
                  <a:srgbClr val="005088"/>
                </a:solidFill>
                <a:latin typeface="Merriweather"/>
              </a:rPr>
              <a:t> и </a:t>
            </a:r>
            <a:r>
              <a:rPr sz="1400" b="1" i="0" u="none" dirty="0" err="1">
                <a:solidFill>
                  <a:srgbClr val="005088"/>
                </a:solidFill>
                <a:latin typeface="Merriweather"/>
              </a:rPr>
              <a:t>модерна</a:t>
            </a:r>
            <a:endParaRPr sz="1400" b="1" i="0" u="none" dirty="0">
              <a:solidFill>
                <a:srgbClr val="005088"/>
              </a:solidFill>
              <a:latin typeface="Merriweather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457950" y="3090220"/>
            <a:ext cx="5010150" cy="9610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ts val="1912"/>
              </a:lnSpc>
            </a:pPr>
            <a:r>
              <a:rPr sz="1400" b="0" i="0" u="none" dirty="0" err="1">
                <a:solidFill>
                  <a:srgbClr val="334155"/>
                </a:solidFill>
                <a:latin typeface="+mj-lt"/>
              </a:rPr>
              <a:t>Современный</a:t>
            </a:r>
            <a:r>
              <a:rPr sz="1400" b="0" i="0" u="none" dirty="0">
                <a:solidFill>
                  <a:srgbClr val="334155"/>
                </a:solidFill>
                <a:latin typeface="+mj-lt"/>
              </a:rPr>
              <a:t> ХМАО </a:t>
            </a:r>
            <a:r>
              <a:rPr sz="1400" b="0" i="0" u="none" dirty="0" err="1">
                <a:solidFill>
                  <a:srgbClr val="334155"/>
                </a:solidFill>
                <a:latin typeface="+mj-lt"/>
              </a:rPr>
              <a:t>разрушает</a:t>
            </a:r>
            <a:r>
              <a:rPr sz="1400" b="0" i="0" u="none" dirty="0">
                <a:solidFill>
                  <a:srgbClr val="334155"/>
                </a:solidFill>
                <a:latin typeface="+mj-lt"/>
              </a:rPr>
              <a:t> </a:t>
            </a:r>
            <a:r>
              <a:rPr sz="1400" b="0" i="0" u="none" dirty="0" err="1">
                <a:solidFill>
                  <a:srgbClr val="334155"/>
                </a:solidFill>
                <a:latin typeface="+mj-lt"/>
              </a:rPr>
              <a:t>стереотип</a:t>
            </a:r>
            <a:r>
              <a:rPr sz="1400" b="0" i="0" u="none" dirty="0">
                <a:solidFill>
                  <a:srgbClr val="334155"/>
                </a:solidFill>
                <a:latin typeface="+mj-lt"/>
              </a:rPr>
              <a:t> о </a:t>
            </a:r>
            <a:r>
              <a:rPr sz="1400" b="0" i="0" u="none" dirty="0" err="1">
                <a:solidFill>
                  <a:srgbClr val="334155"/>
                </a:solidFill>
                <a:latin typeface="+mj-lt"/>
              </a:rPr>
              <a:t>сугубо</a:t>
            </a:r>
            <a:r>
              <a:rPr sz="1400" b="0" i="0" u="none" dirty="0">
                <a:solidFill>
                  <a:srgbClr val="334155"/>
                </a:solidFill>
                <a:latin typeface="+mj-lt"/>
              </a:rPr>
              <a:t> «</a:t>
            </a:r>
            <a:r>
              <a:rPr sz="1400" b="0" i="0" u="none" dirty="0" err="1">
                <a:solidFill>
                  <a:srgbClr val="334155"/>
                </a:solidFill>
                <a:latin typeface="+mj-lt"/>
              </a:rPr>
              <a:t>вахтовом</a:t>
            </a:r>
            <a:r>
              <a:rPr sz="1400" b="0" i="0" u="none" dirty="0">
                <a:solidFill>
                  <a:srgbClr val="334155"/>
                </a:solidFill>
                <a:latin typeface="+mj-lt"/>
              </a:rPr>
              <a:t> </a:t>
            </a:r>
            <a:r>
              <a:rPr sz="1400" b="0" i="0" u="none" dirty="0" err="1">
                <a:solidFill>
                  <a:srgbClr val="334155"/>
                </a:solidFill>
                <a:latin typeface="+mj-lt"/>
              </a:rPr>
              <a:t>крае</a:t>
            </a:r>
            <a:r>
              <a:rPr sz="1400" b="0" i="0" u="none" dirty="0">
                <a:solidFill>
                  <a:srgbClr val="334155"/>
                </a:solidFill>
                <a:latin typeface="+mj-lt"/>
              </a:rPr>
              <a:t>»: </a:t>
            </a:r>
            <a:r>
              <a:rPr sz="1400" b="0" i="0" u="none" dirty="0" err="1">
                <a:solidFill>
                  <a:srgbClr val="334155"/>
                </a:solidFill>
                <a:latin typeface="+mj-lt"/>
              </a:rPr>
              <a:t>города</a:t>
            </a:r>
            <a:r>
              <a:rPr sz="1400" b="0" i="0" u="none" dirty="0">
                <a:solidFill>
                  <a:srgbClr val="334155"/>
                </a:solidFill>
                <a:latin typeface="+mj-lt"/>
              </a:rPr>
              <a:t> </a:t>
            </a:r>
            <a:r>
              <a:rPr sz="1400" b="0" i="0" u="none" dirty="0" err="1">
                <a:solidFill>
                  <a:srgbClr val="334155"/>
                </a:solidFill>
                <a:latin typeface="+mj-lt"/>
              </a:rPr>
              <a:t>Югры</a:t>
            </a:r>
            <a:r>
              <a:rPr sz="1400" b="0" i="0" u="none" dirty="0">
                <a:solidFill>
                  <a:srgbClr val="334155"/>
                </a:solidFill>
                <a:latin typeface="+mj-lt"/>
              </a:rPr>
              <a:t> </a:t>
            </a:r>
            <a:r>
              <a:rPr sz="1400" b="0" i="0" u="none" dirty="0" err="1">
                <a:solidFill>
                  <a:srgbClr val="334155"/>
                </a:solidFill>
                <a:latin typeface="+mj-lt"/>
              </a:rPr>
              <a:t>обладают</a:t>
            </a:r>
            <a:r>
              <a:rPr sz="1400" b="0" i="0" u="none" dirty="0">
                <a:solidFill>
                  <a:srgbClr val="334155"/>
                </a:solidFill>
                <a:latin typeface="+mj-lt"/>
              </a:rPr>
              <a:t> </a:t>
            </a:r>
            <a:r>
              <a:rPr sz="1400" b="0" i="0" u="none" dirty="0" err="1">
                <a:solidFill>
                  <a:srgbClr val="334155"/>
                </a:solidFill>
                <a:latin typeface="+mj-lt"/>
              </a:rPr>
              <a:t>развитой</a:t>
            </a:r>
            <a:r>
              <a:rPr sz="1400" b="0" i="0" u="none" dirty="0">
                <a:solidFill>
                  <a:srgbClr val="334155"/>
                </a:solidFill>
                <a:latin typeface="+mj-lt"/>
              </a:rPr>
              <a:t> </a:t>
            </a:r>
            <a:r>
              <a:rPr sz="1400" b="0" i="0" u="none" dirty="0" err="1">
                <a:solidFill>
                  <a:srgbClr val="334155"/>
                </a:solidFill>
                <a:latin typeface="+mj-lt"/>
              </a:rPr>
              <a:t>сетью</a:t>
            </a:r>
            <a:r>
              <a:rPr sz="1400" b="0" i="0" u="none" dirty="0">
                <a:solidFill>
                  <a:srgbClr val="334155"/>
                </a:solidFill>
                <a:latin typeface="+mj-lt"/>
              </a:rPr>
              <a:t> </a:t>
            </a:r>
            <a:r>
              <a:rPr sz="1400" b="0" i="0" u="none" dirty="0" err="1">
                <a:solidFill>
                  <a:srgbClr val="334155"/>
                </a:solidFill>
                <a:latin typeface="+mj-lt"/>
              </a:rPr>
              <a:t>современных</a:t>
            </a:r>
            <a:r>
              <a:rPr sz="1400" b="0" i="0" u="none" dirty="0">
                <a:solidFill>
                  <a:srgbClr val="334155"/>
                </a:solidFill>
                <a:latin typeface="+mj-lt"/>
              </a:rPr>
              <a:t> </a:t>
            </a:r>
            <a:r>
              <a:rPr sz="1400" b="0" i="0" u="none" dirty="0" err="1">
                <a:solidFill>
                  <a:srgbClr val="334155"/>
                </a:solidFill>
                <a:latin typeface="+mj-lt"/>
              </a:rPr>
              <a:t>библиотек</a:t>
            </a:r>
            <a:r>
              <a:rPr sz="1400" b="0" i="0" u="none" dirty="0">
                <a:solidFill>
                  <a:srgbClr val="334155"/>
                </a:solidFill>
                <a:latin typeface="+mj-lt"/>
              </a:rPr>
              <a:t>, </a:t>
            </a:r>
            <a:r>
              <a:rPr sz="1400" b="0" i="0" u="none" dirty="0" err="1">
                <a:solidFill>
                  <a:srgbClr val="334155"/>
                </a:solidFill>
                <a:latin typeface="+mj-lt"/>
              </a:rPr>
              <a:t>арт-резиденций</a:t>
            </a:r>
            <a:r>
              <a:rPr sz="1400" b="0" i="0" u="none" dirty="0">
                <a:solidFill>
                  <a:srgbClr val="334155"/>
                </a:solidFill>
                <a:latin typeface="+mj-lt"/>
              </a:rPr>
              <a:t> («</a:t>
            </a:r>
            <a:r>
              <a:rPr sz="1400" b="0" i="0" u="none" dirty="0" err="1">
                <a:solidFill>
                  <a:srgbClr val="334155"/>
                </a:solidFill>
                <a:latin typeface="+mj-lt"/>
              </a:rPr>
              <a:t>Ядро</a:t>
            </a:r>
            <a:r>
              <a:rPr sz="1400" b="0" i="0" u="none" dirty="0">
                <a:solidFill>
                  <a:srgbClr val="334155"/>
                </a:solidFill>
                <a:latin typeface="+mj-lt"/>
              </a:rPr>
              <a:t>»), </a:t>
            </a:r>
            <a:r>
              <a:rPr sz="1400" b="0" i="0" u="none" dirty="0" err="1">
                <a:solidFill>
                  <a:srgbClr val="334155"/>
                </a:solidFill>
                <a:latin typeface="+mj-lt"/>
              </a:rPr>
              <a:t>театров</a:t>
            </a:r>
            <a:r>
              <a:rPr sz="1400" b="0" i="0" u="none" dirty="0">
                <a:solidFill>
                  <a:srgbClr val="334155"/>
                </a:solidFill>
                <a:latin typeface="+mj-lt"/>
              </a:rPr>
              <a:t> </a:t>
            </a:r>
            <a:r>
              <a:rPr sz="1400" b="0" i="0" u="none" dirty="0" err="1">
                <a:solidFill>
                  <a:srgbClr val="334155"/>
                </a:solidFill>
                <a:latin typeface="+mj-lt"/>
              </a:rPr>
              <a:t>обско-угорских</a:t>
            </a:r>
            <a:r>
              <a:rPr sz="1400" b="0" i="0" u="none" dirty="0">
                <a:solidFill>
                  <a:srgbClr val="334155"/>
                </a:solidFill>
                <a:latin typeface="+mj-lt"/>
              </a:rPr>
              <a:t> </a:t>
            </a:r>
            <a:r>
              <a:rPr sz="1400" b="0" i="0" u="none" dirty="0" err="1">
                <a:solidFill>
                  <a:srgbClr val="334155"/>
                </a:solidFill>
                <a:latin typeface="+mj-lt"/>
              </a:rPr>
              <a:t>народов</a:t>
            </a:r>
            <a:r>
              <a:rPr sz="1400" b="0" i="0" u="none" dirty="0">
                <a:solidFill>
                  <a:srgbClr val="334155"/>
                </a:solidFill>
                <a:latin typeface="+mj-lt"/>
              </a:rPr>
              <a:t> («</a:t>
            </a:r>
            <a:r>
              <a:rPr sz="1400" b="0" i="0" u="none" dirty="0" err="1">
                <a:solidFill>
                  <a:srgbClr val="334155"/>
                </a:solidFill>
                <a:latin typeface="+mj-lt"/>
              </a:rPr>
              <a:t>Солнце</a:t>
            </a:r>
            <a:r>
              <a:rPr sz="1400" b="0" i="0" u="none" dirty="0">
                <a:solidFill>
                  <a:srgbClr val="334155"/>
                </a:solidFill>
                <a:latin typeface="+mj-lt"/>
              </a:rPr>
              <a:t>») и </a:t>
            </a:r>
            <a:r>
              <a:rPr sz="1400" b="0" i="0" u="none" dirty="0" err="1">
                <a:solidFill>
                  <a:srgbClr val="334155"/>
                </a:solidFill>
                <a:latin typeface="+mj-lt"/>
              </a:rPr>
              <a:t>креативных</a:t>
            </a:r>
            <a:r>
              <a:rPr sz="1400" b="0" i="0" u="none" dirty="0">
                <a:solidFill>
                  <a:srgbClr val="334155"/>
                </a:solidFill>
                <a:latin typeface="+mj-lt"/>
              </a:rPr>
              <a:t> </a:t>
            </a:r>
            <a:r>
              <a:rPr sz="1400" b="0" i="0" u="none" dirty="0" err="1">
                <a:solidFill>
                  <a:srgbClr val="334155"/>
                </a:solidFill>
                <a:latin typeface="+mj-lt"/>
              </a:rPr>
              <a:t>пространств</a:t>
            </a:r>
            <a:r>
              <a:rPr sz="1400" b="0" i="0" u="none" dirty="0">
                <a:solidFill>
                  <a:srgbClr val="334155"/>
                </a:solidFill>
                <a:latin typeface="+mj-lt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3393" y="1962980"/>
            <a:ext cx="5715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/>
            <a:r>
              <a:rPr sz="1600" b="0" i="0" u="none">
                <a:solidFill>
                  <a:srgbClr val="334155"/>
                </a:solidFill>
                <a:latin typeface="+mj-lt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543" y="1965362"/>
            <a:ext cx="5162550" cy="728662"/>
          </a:xfrm>
          <a:prstGeom prst="rect">
            <a:avLst/>
          </a:prstGeom>
          <a:noFill/>
        </p:spPr>
        <p:txBody>
          <a:bodyPr wrap="square" lIns="57150" tIns="0" rIns="0" bIns="0" anchor="t">
            <a:spAutoFit/>
          </a:bodyPr>
          <a:lstStyle/>
          <a:p>
            <a:pPr algn="just">
              <a:lnSpc>
                <a:spcPts val="1912"/>
              </a:lnSpc>
            </a:pPr>
            <a:r>
              <a:rPr sz="1600" b="1" i="0" u="none" dirty="0" err="1">
                <a:solidFill>
                  <a:srgbClr val="334155"/>
                </a:solidFill>
                <a:latin typeface="+mj-lt"/>
              </a:rPr>
              <a:t>Международный</a:t>
            </a:r>
            <a:r>
              <a:rPr sz="1600" b="1" i="0" u="none" dirty="0">
                <a:solidFill>
                  <a:srgbClr val="334155"/>
                </a:solidFill>
                <a:latin typeface="+mj-lt"/>
              </a:rPr>
              <a:t> </a:t>
            </a:r>
            <a:r>
              <a:rPr sz="1600" b="1" i="0" u="none" dirty="0" err="1">
                <a:solidFill>
                  <a:srgbClr val="334155"/>
                </a:solidFill>
                <a:latin typeface="+mj-lt"/>
              </a:rPr>
              <a:t>кинофестиваль</a:t>
            </a:r>
            <a:r>
              <a:rPr sz="1600" b="1" i="0" u="none" dirty="0">
                <a:solidFill>
                  <a:srgbClr val="334155"/>
                </a:solidFill>
                <a:latin typeface="+mj-lt"/>
              </a:rPr>
              <a:t> «</a:t>
            </a:r>
            <a:r>
              <a:rPr sz="1600" b="1" i="0" u="none" dirty="0" err="1">
                <a:solidFill>
                  <a:srgbClr val="334155"/>
                </a:solidFill>
                <a:latin typeface="+mj-lt"/>
              </a:rPr>
              <a:t>Дух</a:t>
            </a:r>
            <a:r>
              <a:rPr sz="1600" b="1" i="0" u="none" dirty="0">
                <a:solidFill>
                  <a:srgbClr val="334155"/>
                </a:solidFill>
                <a:latin typeface="+mj-lt"/>
              </a:rPr>
              <a:t> </a:t>
            </a:r>
            <a:r>
              <a:rPr sz="1600" b="1" i="0" u="none" dirty="0" err="1">
                <a:solidFill>
                  <a:srgbClr val="334155"/>
                </a:solidFill>
                <a:latin typeface="+mj-lt"/>
              </a:rPr>
              <a:t>огня</a:t>
            </a:r>
            <a:r>
              <a:rPr sz="1600" b="1" i="0" u="none" dirty="0">
                <a:solidFill>
                  <a:srgbClr val="334155"/>
                </a:solidFill>
                <a:latin typeface="+mj-lt"/>
              </a:rPr>
              <a:t>»:</a:t>
            </a:r>
            <a:r>
              <a:rPr sz="1600" b="0" i="0" u="none" dirty="0">
                <a:solidFill>
                  <a:srgbClr val="334155"/>
                </a:solidFill>
                <a:latin typeface="+mj-lt"/>
              </a:rPr>
              <a:t> </a:t>
            </a:r>
            <a:r>
              <a:rPr sz="1600" b="0" i="0" u="none" dirty="0" err="1">
                <a:solidFill>
                  <a:srgbClr val="334155"/>
                </a:solidFill>
                <a:latin typeface="+mj-lt"/>
              </a:rPr>
              <a:t>Ежегодный</a:t>
            </a:r>
            <a:r>
              <a:rPr sz="1600" b="0" i="0" u="none" dirty="0">
                <a:solidFill>
                  <a:srgbClr val="334155"/>
                </a:solidFill>
                <a:latin typeface="+mj-lt"/>
              </a:rPr>
              <a:t> </a:t>
            </a:r>
            <a:r>
              <a:rPr sz="1600" b="0" i="0" u="none" dirty="0" err="1">
                <a:solidFill>
                  <a:srgbClr val="334155"/>
                </a:solidFill>
                <a:latin typeface="+mj-lt"/>
              </a:rPr>
              <a:t>фестиваль</a:t>
            </a:r>
            <a:r>
              <a:rPr sz="1600" b="0" i="0" u="none" dirty="0">
                <a:solidFill>
                  <a:srgbClr val="334155"/>
                </a:solidFill>
                <a:latin typeface="+mj-lt"/>
              </a:rPr>
              <a:t> </a:t>
            </a:r>
            <a:r>
              <a:rPr sz="1600" b="0" i="0" u="none" dirty="0" err="1">
                <a:solidFill>
                  <a:srgbClr val="334155"/>
                </a:solidFill>
                <a:latin typeface="+mj-lt"/>
              </a:rPr>
              <a:t>кинематографических</a:t>
            </a:r>
            <a:r>
              <a:rPr sz="1600" b="0" i="0" u="none" dirty="0">
                <a:solidFill>
                  <a:srgbClr val="334155"/>
                </a:solidFill>
                <a:latin typeface="+mj-lt"/>
              </a:rPr>
              <a:t> </a:t>
            </a:r>
            <a:r>
              <a:rPr sz="1600" b="0" i="0" u="none" dirty="0" err="1">
                <a:solidFill>
                  <a:srgbClr val="334155"/>
                </a:solidFill>
                <a:latin typeface="+mj-lt"/>
              </a:rPr>
              <a:t>дебютов</a:t>
            </a:r>
            <a:r>
              <a:rPr sz="1600" b="0" i="0" u="none" dirty="0">
                <a:solidFill>
                  <a:srgbClr val="334155"/>
                </a:solidFill>
                <a:latin typeface="+mj-lt"/>
              </a:rPr>
              <a:t> в </a:t>
            </a:r>
            <a:r>
              <a:rPr sz="1600" b="0" i="0" u="none" dirty="0" err="1">
                <a:solidFill>
                  <a:srgbClr val="334155"/>
                </a:solidFill>
                <a:latin typeface="+mj-lt"/>
              </a:rPr>
              <a:t>Ханты-Мансийске</a:t>
            </a:r>
            <a:r>
              <a:rPr sz="1600" b="0" i="0" u="none" dirty="0">
                <a:solidFill>
                  <a:srgbClr val="334155"/>
                </a:solidFill>
                <a:latin typeface="+mj-lt"/>
              </a:rPr>
              <a:t>, </a:t>
            </a:r>
            <a:r>
              <a:rPr sz="1600" b="0" i="0" u="none" dirty="0" err="1">
                <a:solidFill>
                  <a:srgbClr val="334155"/>
                </a:solidFill>
                <a:latin typeface="+mj-lt"/>
              </a:rPr>
              <a:t>основанный</a:t>
            </a:r>
            <a:r>
              <a:rPr sz="1600" b="0" i="0" u="none" dirty="0">
                <a:solidFill>
                  <a:srgbClr val="334155"/>
                </a:solidFill>
                <a:latin typeface="+mj-lt"/>
              </a:rPr>
              <a:t> </a:t>
            </a:r>
            <a:r>
              <a:rPr sz="1600" b="0" i="0" u="none" dirty="0" err="1">
                <a:solidFill>
                  <a:srgbClr val="334155"/>
                </a:solidFill>
                <a:latin typeface="+mj-lt"/>
              </a:rPr>
              <a:t>Сергеем</a:t>
            </a:r>
            <a:r>
              <a:rPr sz="1600" b="0" i="0" u="none" dirty="0">
                <a:solidFill>
                  <a:srgbClr val="334155"/>
                </a:solidFill>
                <a:latin typeface="+mj-lt"/>
              </a:rPr>
              <a:t> </a:t>
            </a:r>
            <a:r>
              <a:rPr sz="1600" b="0" i="0" u="none" dirty="0" err="1">
                <a:solidFill>
                  <a:srgbClr val="334155"/>
                </a:solidFill>
                <a:latin typeface="+mj-lt"/>
              </a:rPr>
              <a:t>Соловьевым</a:t>
            </a:r>
            <a:r>
              <a:rPr sz="1600" b="0" i="0" u="none" dirty="0">
                <a:solidFill>
                  <a:srgbClr val="334155"/>
                </a:solidFill>
                <a:latin typeface="+mj-lt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3393" y="2786893"/>
            <a:ext cx="5715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/>
            <a:r>
              <a:rPr sz="1600" b="0" i="0" u="none">
                <a:solidFill>
                  <a:srgbClr val="334155"/>
                </a:solidFill>
                <a:latin typeface="+mj-lt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543" y="2789274"/>
            <a:ext cx="5162550" cy="728662"/>
          </a:xfrm>
          <a:prstGeom prst="rect">
            <a:avLst/>
          </a:prstGeom>
          <a:noFill/>
        </p:spPr>
        <p:txBody>
          <a:bodyPr wrap="square" lIns="57150" tIns="0" rIns="0" bIns="0" anchor="t">
            <a:spAutoFit/>
          </a:bodyPr>
          <a:lstStyle/>
          <a:p>
            <a:pPr algn="just">
              <a:lnSpc>
                <a:spcPts val="1912"/>
              </a:lnSpc>
            </a:pPr>
            <a:r>
              <a:rPr sz="1600" b="1" i="0" u="none" dirty="0" err="1">
                <a:solidFill>
                  <a:srgbClr val="334155"/>
                </a:solidFill>
                <a:latin typeface="+mj-lt"/>
              </a:rPr>
              <a:t>Биатлонный</a:t>
            </a:r>
            <a:r>
              <a:rPr sz="1600" b="1" i="0" u="none" dirty="0">
                <a:solidFill>
                  <a:srgbClr val="334155"/>
                </a:solidFill>
                <a:latin typeface="+mj-lt"/>
              </a:rPr>
              <a:t> </a:t>
            </a:r>
            <a:r>
              <a:rPr sz="1600" b="1" i="0" u="none" dirty="0" err="1">
                <a:solidFill>
                  <a:srgbClr val="334155"/>
                </a:solidFill>
                <a:latin typeface="+mj-lt"/>
              </a:rPr>
              <a:t>центр</a:t>
            </a:r>
            <a:r>
              <a:rPr sz="1600" b="1" i="0" u="none" dirty="0">
                <a:solidFill>
                  <a:srgbClr val="334155"/>
                </a:solidFill>
                <a:latin typeface="+mj-lt"/>
              </a:rPr>
              <a:t> </a:t>
            </a:r>
            <a:r>
              <a:rPr sz="1600" b="1" i="0" u="none" dirty="0" err="1">
                <a:solidFill>
                  <a:srgbClr val="334155"/>
                </a:solidFill>
                <a:latin typeface="+mj-lt"/>
              </a:rPr>
              <a:t>мирового</a:t>
            </a:r>
            <a:r>
              <a:rPr sz="1600" b="1" i="0" u="none" dirty="0">
                <a:solidFill>
                  <a:srgbClr val="334155"/>
                </a:solidFill>
                <a:latin typeface="+mj-lt"/>
              </a:rPr>
              <a:t> </a:t>
            </a:r>
            <a:r>
              <a:rPr sz="1600" b="1" i="0" u="none" dirty="0" err="1">
                <a:solidFill>
                  <a:srgbClr val="334155"/>
                </a:solidFill>
                <a:latin typeface="+mj-lt"/>
              </a:rPr>
              <a:t>уровня</a:t>
            </a:r>
            <a:r>
              <a:rPr sz="1600" b="1" i="0" u="none" dirty="0">
                <a:solidFill>
                  <a:srgbClr val="334155"/>
                </a:solidFill>
                <a:latin typeface="+mj-lt"/>
              </a:rPr>
              <a:t>:</a:t>
            </a:r>
            <a:r>
              <a:rPr sz="1600" b="0" i="0" u="none" dirty="0">
                <a:solidFill>
                  <a:srgbClr val="334155"/>
                </a:solidFill>
                <a:latin typeface="+mj-lt"/>
              </a:rPr>
              <a:t> </a:t>
            </a:r>
            <a:r>
              <a:rPr sz="1600" b="0" i="0" u="none" dirty="0" err="1">
                <a:solidFill>
                  <a:srgbClr val="334155"/>
                </a:solidFill>
                <a:latin typeface="+mj-lt"/>
              </a:rPr>
              <a:t>Центр</a:t>
            </a:r>
            <a:r>
              <a:rPr sz="1600" b="0" i="0" u="none" dirty="0">
                <a:solidFill>
                  <a:srgbClr val="334155"/>
                </a:solidFill>
                <a:latin typeface="+mj-lt"/>
              </a:rPr>
              <a:t> </a:t>
            </a:r>
            <a:r>
              <a:rPr sz="1600" b="0" i="0" u="none" dirty="0" err="1">
                <a:solidFill>
                  <a:srgbClr val="334155"/>
                </a:solidFill>
                <a:latin typeface="+mj-lt"/>
              </a:rPr>
              <a:t>зимних</a:t>
            </a:r>
            <a:r>
              <a:rPr sz="1600" b="0" i="0" u="none" dirty="0">
                <a:solidFill>
                  <a:srgbClr val="334155"/>
                </a:solidFill>
                <a:latin typeface="+mj-lt"/>
              </a:rPr>
              <a:t> </a:t>
            </a:r>
            <a:r>
              <a:rPr sz="1600" b="0" i="0" u="none" dirty="0" err="1">
                <a:solidFill>
                  <a:srgbClr val="334155"/>
                </a:solidFill>
                <a:latin typeface="+mj-lt"/>
              </a:rPr>
              <a:t>видов</a:t>
            </a:r>
            <a:r>
              <a:rPr sz="1600" b="0" i="0" u="none" dirty="0">
                <a:solidFill>
                  <a:srgbClr val="334155"/>
                </a:solidFill>
                <a:latin typeface="+mj-lt"/>
              </a:rPr>
              <a:t> </a:t>
            </a:r>
            <a:r>
              <a:rPr sz="1600" b="0" i="0" u="none" dirty="0" err="1">
                <a:solidFill>
                  <a:srgbClr val="334155"/>
                </a:solidFill>
                <a:latin typeface="+mj-lt"/>
              </a:rPr>
              <a:t>спорта</a:t>
            </a:r>
            <a:r>
              <a:rPr sz="1600" b="0" i="0" u="none" dirty="0">
                <a:solidFill>
                  <a:srgbClr val="334155"/>
                </a:solidFill>
                <a:latin typeface="+mj-lt"/>
              </a:rPr>
              <a:t> </a:t>
            </a:r>
            <a:r>
              <a:rPr sz="1600" b="0" i="0" u="none" dirty="0" err="1">
                <a:solidFill>
                  <a:srgbClr val="334155"/>
                </a:solidFill>
                <a:latin typeface="+mj-lt"/>
              </a:rPr>
              <a:t>им</a:t>
            </a:r>
            <a:r>
              <a:rPr sz="1600" b="0" i="0" u="none" dirty="0">
                <a:solidFill>
                  <a:srgbClr val="334155"/>
                </a:solidFill>
                <a:latin typeface="+mj-lt"/>
              </a:rPr>
              <a:t>. А.В. </a:t>
            </a:r>
            <a:r>
              <a:rPr sz="1600" b="0" i="0" u="none" dirty="0" err="1">
                <a:solidFill>
                  <a:srgbClr val="334155"/>
                </a:solidFill>
                <a:latin typeface="+mj-lt"/>
              </a:rPr>
              <a:t>Филипенко</a:t>
            </a:r>
            <a:r>
              <a:rPr sz="1600" b="0" i="0" u="none" dirty="0">
                <a:solidFill>
                  <a:srgbClr val="334155"/>
                </a:solidFill>
                <a:latin typeface="+mj-lt"/>
              </a:rPr>
              <a:t>, </a:t>
            </a:r>
            <a:r>
              <a:rPr sz="1600" b="0" i="0" u="none" dirty="0" err="1">
                <a:solidFill>
                  <a:srgbClr val="334155"/>
                </a:solidFill>
                <a:latin typeface="+mj-lt"/>
              </a:rPr>
              <a:t>регулярно</a:t>
            </a:r>
            <a:r>
              <a:rPr sz="1600" b="0" i="0" u="none" dirty="0">
                <a:solidFill>
                  <a:srgbClr val="334155"/>
                </a:solidFill>
                <a:latin typeface="+mj-lt"/>
              </a:rPr>
              <a:t> </a:t>
            </a:r>
            <a:r>
              <a:rPr sz="1600" b="0" i="0" u="none" dirty="0" err="1">
                <a:solidFill>
                  <a:srgbClr val="334155"/>
                </a:solidFill>
                <a:latin typeface="+mj-lt"/>
              </a:rPr>
              <a:t>принимающий</a:t>
            </a:r>
            <a:r>
              <a:rPr sz="1600" b="0" i="0" u="none" dirty="0">
                <a:solidFill>
                  <a:srgbClr val="334155"/>
                </a:solidFill>
                <a:latin typeface="+mj-lt"/>
              </a:rPr>
              <a:t> </a:t>
            </a:r>
            <a:r>
              <a:rPr sz="1600" b="0" i="0" u="none" dirty="0" err="1">
                <a:solidFill>
                  <a:srgbClr val="334155"/>
                </a:solidFill>
                <a:latin typeface="+mj-lt"/>
              </a:rPr>
              <a:t>этапы</a:t>
            </a:r>
            <a:r>
              <a:rPr sz="1600" b="0" i="0" u="none" dirty="0">
                <a:solidFill>
                  <a:srgbClr val="334155"/>
                </a:solidFill>
                <a:latin typeface="+mj-lt"/>
              </a:rPr>
              <a:t> </a:t>
            </a:r>
            <a:r>
              <a:rPr sz="1600" b="0" i="0" u="none" dirty="0" err="1">
                <a:solidFill>
                  <a:srgbClr val="334155"/>
                </a:solidFill>
                <a:latin typeface="+mj-lt"/>
              </a:rPr>
              <a:t>Кубка</a:t>
            </a:r>
            <a:r>
              <a:rPr sz="1600" b="0" i="0" u="none" dirty="0">
                <a:solidFill>
                  <a:srgbClr val="334155"/>
                </a:solidFill>
                <a:latin typeface="+mj-lt"/>
              </a:rPr>
              <a:t> </a:t>
            </a:r>
            <a:r>
              <a:rPr sz="1600" b="0" i="0" u="none" dirty="0" err="1">
                <a:solidFill>
                  <a:srgbClr val="334155"/>
                </a:solidFill>
                <a:latin typeface="+mj-lt"/>
              </a:rPr>
              <a:t>мира</a:t>
            </a:r>
            <a:r>
              <a:rPr sz="1600" b="0" i="0" u="none" dirty="0">
                <a:solidFill>
                  <a:srgbClr val="334155"/>
                </a:solidFill>
                <a:latin typeface="+mj-lt"/>
              </a:rPr>
              <a:t> и </a:t>
            </a:r>
            <a:r>
              <a:rPr sz="1600" b="0" i="0" u="none" dirty="0" err="1">
                <a:solidFill>
                  <a:srgbClr val="334155"/>
                </a:solidFill>
                <a:latin typeface="+mj-lt"/>
              </a:rPr>
              <a:t>чемпионаты</a:t>
            </a:r>
            <a:r>
              <a:rPr sz="1600" b="0" i="0" u="none" dirty="0">
                <a:solidFill>
                  <a:srgbClr val="334155"/>
                </a:solidFill>
                <a:latin typeface="+mj-lt"/>
              </a:rPr>
              <a:t> </a:t>
            </a:r>
            <a:r>
              <a:rPr sz="1600" b="0" i="0" u="none" dirty="0" err="1">
                <a:solidFill>
                  <a:srgbClr val="334155"/>
                </a:solidFill>
                <a:latin typeface="+mj-lt"/>
              </a:rPr>
              <a:t>России</a:t>
            </a:r>
            <a:r>
              <a:rPr sz="1600" b="0" i="0" u="none" dirty="0">
                <a:solidFill>
                  <a:srgbClr val="334155"/>
                </a:solidFill>
                <a:latin typeface="+mj-lt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3393" y="3610805"/>
            <a:ext cx="5715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/>
            <a:r>
              <a:rPr sz="1600" b="0" i="0" u="none">
                <a:solidFill>
                  <a:srgbClr val="334155"/>
                </a:solidFill>
                <a:latin typeface="+mj-lt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543" y="3613187"/>
            <a:ext cx="5162550" cy="730969"/>
          </a:xfrm>
          <a:prstGeom prst="rect">
            <a:avLst/>
          </a:prstGeom>
          <a:noFill/>
        </p:spPr>
        <p:txBody>
          <a:bodyPr wrap="square" lIns="57150" tIns="0" rIns="0" bIns="0" anchor="t">
            <a:spAutoFit/>
          </a:bodyPr>
          <a:lstStyle/>
          <a:p>
            <a:pPr algn="just">
              <a:lnSpc>
                <a:spcPts val="1912"/>
              </a:lnSpc>
            </a:pPr>
            <a:r>
              <a:rPr sz="1600" b="1" i="0" u="none">
                <a:solidFill>
                  <a:srgbClr val="334155"/>
                </a:solidFill>
                <a:latin typeface="+mj-lt"/>
              </a:rPr>
              <a:t>Музей природы и человека:</a:t>
            </a:r>
            <a:r>
              <a:rPr sz="1600" b="0" i="0" u="none">
                <a:solidFill>
                  <a:srgbClr val="334155"/>
                </a:solidFill>
                <a:latin typeface="+mj-lt"/>
              </a:rPr>
              <a:t> Старейший музей округа с ценнейшими палеонтологическими и этнографическими коллекциями.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3393" y="4434718"/>
            <a:ext cx="5715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/>
            <a:r>
              <a:rPr sz="1600" b="0" i="0" u="none">
                <a:solidFill>
                  <a:srgbClr val="334155"/>
                </a:solidFill>
                <a:latin typeface="+mj-lt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543" y="4437099"/>
            <a:ext cx="5162550" cy="728662"/>
          </a:xfrm>
          <a:prstGeom prst="rect">
            <a:avLst/>
          </a:prstGeom>
          <a:noFill/>
        </p:spPr>
        <p:txBody>
          <a:bodyPr wrap="square" lIns="57150" tIns="0" rIns="0" bIns="0" anchor="t">
            <a:spAutoFit/>
          </a:bodyPr>
          <a:lstStyle/>
          <a:p>
            <a:pPr algn="just">
              <a:lnSpc>
                <a:spcPts val="1912"/>
              </a:lnSpc>
            </a:pPr>
            <a:r>
              <a:rPr sz="1600" b="1" i="0" u="none">
                <a:solidFill>
                  <a:srgbClr val="334155"/>
                </a:solidFill>
                <a:latin typeface="+mj-lt"/>
              </a:rPr>
              <a:t>Югорский лыжный марафон:</a:t>
            </a:r>
            <a:r>
              <a:rPr sz="1600" b="0" i="0" u="none">
                <a:solidFill>
                  <a:srgbClr val="334155"/>
                </a:solidFill>
                <a:latin typeface="+mj-lt"/>
              </a:rPr>
              <a:t> Массовое всероссийское спортивное событие, привлекающее тысячи любителей лыжного спорта со всей России.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81000" y="6534150"/>
            <a:ext cx="37713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05088"/>
                </a:solidFill>
                <a:latin typeface="DM Sans"/>
              </a:rPr>
              <a:t>ГУАП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668125" y="6534150"/>
            <a:ext cx="14287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64748B"/>
                </a:solidFill>
                <a:latin typeface="DM Sans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400" y="419100"/>
            <a:ext cx="7460932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005088"/>
                </a:solidFill>
                <a:latin typeface="Merriweather"/>
              </a:rPr>
              <a:t>Культурные артефакты и важные объекты Югры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5558" y="457200"/>
            <a:ext cx="1233041" cy="2667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5593" y="1201380"/>
            <a:ext cx="2664840" cy="197500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8" name="TextBox 7"/>
          <p:cNvSpPr txBox="1"/>
          <p:nvPr/>
        </p:nvSpPr>
        <p:spPr>
          <a:xfrm>
            <a:off x="551593" y="1495675"/>
            <a:ext cx="5715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/>
            <a:r>
              <a:rPr sz="1600" b="0" i="0" u="none">
                <a:solidFill>
                  <a:srgbClr val="334155"/>
                </a:solidFill>
                <a:latin typeface="+mj-lt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8743" y="1498056"/>
            <a:ext cx="5162550" cy="1218282"/>
          </a:xfrm>
          <a:prstGeom prst="rect">
            <a:avLst/>
          </a:prstGeom>
          <a:noFill/>
        </p:spPr>
        <p:txBody>
          <a:bodyPr wrap="square" lIns="57150" tIns="0" rIns="0" bIns="0" anchor="t">
            <a:spAutoFit/>
          </a:bodyPr>
          <a:lstStyle/>
          <a:p>
            <a:pPr algn="just">
              <a:lnSpc>
                <a:spcPts val="1912"/>
              </a:lnSpc>
            </a:pPr>
            <a:r>
              <a:rPr sz="1600" b="1" i="0" u="none" dirty="0" err="1">
                <a:solidFill>
                  <a:srgbClr val="334155"/>
                </a:solidFill>
                <a:latin typeface="+mj-lt"/>
              </a:rPr>
              <a:t>Археопарк</a:t>
            </a:r>
            <a:r>
              <a:rPr sz="1600" b="1" i="0" u="none" dirty="0">
                <a:solidFill>
                  <a:srgbClr val="334155"/>
                </a:solidFill>
                <a:latin typeface="+mj-lt"/>
              </a:rPr>
              <a:t> в </a:t>
            </a:r>
            <a:r>
              <a:rPr sz="1600" b="1" i="0" u="none" dirty="0" err="1">
                <a:solidFill>
                  <a:srgbClr val="334155"/>
                </a:solidFill>
                <a:latin typeface="+mj-lt"/>
              </a:rPr>
              <a:t>Ханты-Мансийске</a:t>
            </a:r>
            <a:r>
              <a:rPr sz="1600" b="1" i="0" u="none" dirty="0">
                <a:solidFill>
                  <a:srgbClr val="334155"/>
                </a:solidFill>
                <a:latin typeface="+mj-lt"/>
              </a:rPr>
              <a:t>:</a:t>
            </a:r>
            <a:r>
              <a:rPr sz="1600" b="0" i="0" u="none" dirty="0">
                <a:solidFill>
                  <a:srgbClr val="334155"/>
                </a:solidFill>
                <a:latin typeface="+mj-lt"/>
              </a:rPr>
              <a:t> У </a:t>
            </a:r>
            <a:r>
              <a:rPr sz="1600" b="0" i="0" u="none" dirty="0" err="1">
                <a:solidFill>
                  <a:srgbClr val="334155"/>
                </a:solidFill>
                <a:latin typeface="+mj-lt"/>
              </a:rPr>
              <a:t>подножия</a:t>
            </a:r>
            <a:r>
              <a:rPr sz="1600" b="0" i="0" u="none" dirty="0">
                <a:solidFill>
                  <a:srgbClr val="334155"/>
                </a:solidFill>
                <a:latin typeface="+mj-lt"/>
              </a:rPr>
              <a:t> </a:t>
            </a:r>
            <a:r>
              <a:rPr sz="1600" b="0" i="0" u="none" dirty="0" err="1">
                <a:solidFill>
                  <a:srgbClr val="334155"/>
                </a:solidFill>
                <a:latin typeface="+mj-lt"/>
              </a:rPr>
              <a:t>Самаровского</a:t>
            </a:r>
            <a:r>
              <a:rPr sz="1600" b="0" i="0" u="none" dirty="0">
                <a:solidFill>
                  <a:srgbClr val="334155"/>
                </a:solidFill>
                <a:latin typeface="+mj-lt"/>
              </a:rPr>
              <a:t> </a:t>
            </a:r>
            <a:r>
              <a:rPr sz="1600" b="0" i="0" u="none" dirty="0" err="1">
                <a:solidFill>
                  <a:srgbClr val="334155"/>
                </a:solidFill>
                <a:latin typeface="+mj-lt"/>
              </a:rPr>
              <a:t>останца</a:t>
            </a:r>
            <a:r>
              <a:rPr sz="1600" b="0" i="0" u="none" dirty="0">
                <a:solidFill>
                  <a:srgbClr val="334155"/>
                </a:solidFill>
                <a:latin typeface="+mj-lt"/>
              </a:rPr>
              <a:t> </a:t>
            </a:r>
            <a:r>
              <a:rPr sz="1600" b="0" i="0" u="none" dirty="0" err="1">
                <a:solidFill>
                  <a:srgbClr val="334155"/>
                </a:solidFill>
                <a:latin typeface="+mj-lt"/>
              </a:rPr>
              <a:t>установлена</a:t>
            </a:r>
            <a:r>
              <a:rPr sz="1600" b="0" i="0" u="none" dirty="0">
                <a:solidFill>
                  <a:srgbClr val="334155"/>
                </a:solidFill>
                <a:latin typeface="+mj-lt"/>
              </a:rPr>
              <a:t> </a:t>
            </a:r>
            <a:r>
              <a:rPr sz="1600" b="0" i="0" u="none" dirty="0" err="1">
                <a:solidFill>
                  <a:srgbClr val="334155"/>
                </a:solidFill>
                <a:latin typeface="+mj-lt"/>
              </a:rPr>
              <a:t>уникальная</a:t>
            </a:r>
            <a:r>
              <a:rPr sz="1600" b="0" i="0" u="none" dirty="0">
                <a:solidFill>
                  <a:srgbClr val="334155"/>
                </a:solidFill>
                <a:latin typeface="+mj-lt"/>
              </a:rPr>
              <a:t> </a:t>
            </a:r>
            <a:r>
              <a:rPr sz="1600" b="0" i="0" u="none" dirty="0" err="1">
                <a:solidFill>
                  <a:srgbClr val="334155"/>
                </a:solidFill>
                <a:latin typeface="+mj-lt"/>
              </a:rPr>
              <a:t>бронзовая</a:t>
            </a:r>
            <a:r>
              <a:rPr sz="1600" b="0" i="0" u="none" dirty="0">
                <a:solidFill>
                  <a:srgbClr val="334155"/>
                </a:solidFill>
                <a:latin typeface="+mj-lt"/>
              </a:rPr>
              <a:t> </a:t>
            </a:r>
            <a:r>
              <a:rPr sz="1600" b="0" i="0" u="none" dirty="0" err="1">
                <a:solidFill>
                  <a:srgbClr val="334155"/>
                </a:solidFill>
                <a:latin typeface="+mj-lt"/>
              </a:rPr>
              <a:t>скульптурная</a:t>
            </a:r>
            <a:r>
              <a:rPr sz="1600" b="0" i="0" u="none" dirty="0">
                <a:solidFill>
                  <a:srgbClr val="334155"/>
                </a:solidFill>
                <a:latin typeface="+mj-lt"/>
              </a:rPr>
              <a:t> </a:t>
            </a:r>
            <a:r>
              <a:rPr sz="1600" b="0" i="0" u="none" dirty="0" err="1">
                <a:solidFill>
                  <a:srgbClr val="334155"/>
                </a:solidFill>
                <a:latin typeface="+mj-lt"/>
              </a:rPr>
              <a:t>композиция</a:t>
            </a:r>
            <a:r>
              <a:rPr sz="1600" b="0" i="0" u="none" dirty="0">
                <a:solidFill>
                  <a:srgbClr val="334155"/>
                </a:solidFill>
                <a:latin typeface="+mj-lt"/>
              </a:rPr>
              <a:t> </a:t>
            </a:r>
            <a:r>
              <a:rPr sz="1600" b="0" i="0" u="none" dirty="0" err="1">
                <a:solidFill>
                  <a:srgbClr val="334155"/>
                </a:solidFill>
                <a:latin typeface="+mj-lt"/>
              </a:rPr>
              <a:t>доисторических</a:t>
            </a:r>
            <a:r>
              <a:rPr sz="1600" b="0" i="0" u="none" dirty="0">
                <a:solidFill>
                  <a:srgbClr val="334155"/>
                </a:solidFill>
                <a:latin typeface="+mj-lt"/>
              </a:rPr>
              <a:t> </a:t>
            </a:r>
            <a:r>
              <a:rPr sz="1600" b="0" i="0" u="none" dirty="0" err="1">
                <a:solidFill>
                  <a:srgbClr val="334155"/>
                </a:solidFill>
                <a:latin typeface="+mj-lt"/>
              </a:rPr>
              <a:t>животных</a:t>
            </a:r>
            <a:r>
              <a:rPr sz="1600" b="0" i="0" u="none" dirty="0">
                <a:solidFill>
                  <a:srgbClr val="334155"/>
                </a:solidFill>
                <a:latin typeface="+mj-lt"/>
              </a:rPr>
              <a:t> (</a:t>
            </a:r>
            <a:r>
              <a:rPr sz="1600" b="0" i="0" u="none" dirty="0" err="1">
                <a:solidFill>
                  <a:srgbClr val="334155"/>
                </a:solidFill>
                <a:latin typeface="+mj-lt"/>
              </a:rPr>
              <a:t>мамонты</a:t>
            </a:r>
            <a:r>
              <a:rPr sz="1600" b="0" i="0" u="none" dirty="0">
                <a:solidFill>
                  <a:srgbClr val="334155"/>
                </a:solidFill>
                <a:latin typeface="+mj-lt"/>
              </a:rPr>
              <a:t> в </a:t>
            </a:r>
            <a:r>
              <a:rPr sz="1600" b="0" i="0" u="none" dirty="0" err="1">
                <a:solidFill>
                  <a:srgbClr val="334155"/>
                </a:solidFill>
                <a:latin typeface="+mj-lt"/>
              </a:rPr>
              <a:t>натуральную</a:t>
            </a:r>
            <a:r>
              <a:rPr sz="1600" b="0" i="0" u="none" dirty="0">
                <a:solidFill>
                  <a:srgbClr val="334155"/>
                </a:solidFill>
                <a:latin typeface="+mj-lt"/>
              </a:rPr>
              <a:t> </a:t>
            </a:r>
            <a:r>
              <a:rPr sz="1600" b="0" i="0" u="none" dirty="0" err="1">
                <a:solidFill>
                  <a:srgbClr val="334155"/>
                </a:solidFill>
                <a:latin typeface="+mj-lt"/>
              </a:rPr>
              <a:t>величину</a:t>
            </a:r>
            <a:r>
              <a:rPr sz="1600" b="0" i="0" u="none" dirty="0">
                <a:solidFill>
                  <a:srgbClr val="334155"/>
                </a:solidFill>
                <a:latin typeface="+mj-lt"/>
              </a:rPr>
              <a:t>, </a:t>
            </a:r>
            <a:r>
              <a:rPr sz="1600" b="0" i="0" u="none" dirty="0" err="1">
                <a:solidFill>
                  <a:srgbClr val="334155"/>
                </a:solidFill>
                <a:latin typeface="+mj-lt"/>
              </a:rPr>
              <a:t>шерстистые</a:t>
            </a:r>
            <a:r>
              <a:rPr sz="1600" b="0" i="0" u="none" dirty="0">
                <a:solidFill>
                  <a:srgbClr val="334155"/>
                </a:solidFill>
                <a:latin typeface="+mj-lt"/>
              </a:rPr>
              <a:t> </a:t>
            </a:r>
            <a:r>
              <a:rPr sz="1600" b="0" i="0" u="none" dirty="0" err="1">
                <a:solidFill>
                  <a:srgbClr val="334155"/>
                </a:solidFill>
                <a:latin typeface="+mj-lt"/>
              </a:rPr>
              <a:t>носороги</a:t>
            </a:r>
            <a:r>
              <a:rPr sz="1600" b="0" i="0" u="none" dirty="0">
                <a:solidFill>
                  <a:srgbClr val="334155"/>
                </a:solidFill>
                <a:latin typeface="+mj-lt"/>
              </a:rPr>
              <a:t>, </a:t>
            </a:r>
            <a:r>
              <a:rPr sz="1600" b="0" i="0" u="none" dirty="0" err="1">
                <a:solidFill>
                  <a:srgbClr val="334155"/>
                </a:solidFill>
                <a:latin typeface="+mj-lt"/>
              </a:rPr>
              <a:t>пещерные</a:t>
            </a:r>
            <a:r>
              <a:rPr sz="1600" b="0" i="0" u="none" dirty="0">
                <a:solidFill>
                  <a:srgbClr val="334155"/>
                </a:solidFill>
                <a:latin typeface="+mj-lt"/>
              </a:rPr>
              <a:t> </a:t>
            </a:r>
            <a:r>
              <a:rPr sz="1600" b="0" i="0" u="none" dirty="0" err="1">
                <a:solidFill>
                  <a:srgbClr val="334155"/>
                </a:solidFill>
                <a:latin typeface="+mj-lt"/>
              </a:rPr>
              <a:t>медведи</a:t>
            </a:r>
            <a:r>
              <a:rPr sz="1600" b="0" i="0" u="none" dirty="0">
                <a:solidFill>
                  <a:srgbClr val="334155"/>
                </a:solidFill>
                <a:latin typeface="+mj-lt"/>
              </a:rPr>
              <a:t>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8743" y="4516313"/>
            <a:ext cx="5715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/>
            <a:r>
              <a:rPr sz="1600" b="0" i="0" u="none">
                <a:solidFill>
                  <a:srgbClr val="334155"/>
                </a:solidFill>
                <a:latin typeface="+mj-lt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5893" y="4518694"/>
            <a:ext cx="5162550" cy="971550"/>
          </a:xfrm>
          <a:prstGeom prst="rect">
            <a:avLst/>
          </a:prstGeom>
          <a:noFill/>
        </p:spPr>
        <p:txBody>
          <a:bodyPr wrap="square" lIns="57150" tIns="0" rIns="0" bIns="0" anchor="t">
            <a:spAutoFit/>
          </a:bodyPr>
          <a:lstStyle/>
          <a:p>
            <a:pPr algn="just">
              <a:lnSpc>
                <a:spcPts val="1912"/>
              </a:lnSpc>
            </a:pPr>
            <a:r>
              <a:rPr sz="1600" b="1" i="0" u="none">
                <a:solidFill>
                  <a:srgbClr val="334155"/>
                </a:solidFill>
                <a:latin typeface="+mj-lt"/>
              </a:rPr>
              <a:t>Барсова Гора (Сургутский район):</a:t>
            </a:r>
            <a:r>
              <a:rPr sz="1600" b="0" i="0" u="none">
                <a:solidFill>
                  <a:srgbClr val="334155"/>
                </a:solidFill>
                <a:latin typeface="+mj-lt"/>
              </a:rPr>
              <a:t> Грандиозный археологический комплекс, вошедший в предварительные списки культурного наследия. Свыше 60 городищ и стоянок от неолита до средневековья.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3400" y="3174005"/>
            <a:ext cx="5715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/>
            <a:r>
              <a:rPr sz="1600" b="0" i="0" u="none">
                <a:solidFill>
                  <a:srgbClr val="334155"/>
                </a:solidFill>
                <a:latin typeface="+mj-lt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0550" y="3176386"/>
            <a:ext cx="5162550" cy="730969"/>
          </a:xfrm>
          <a:prstGeom prst="rect">
            <a:avLst/>
          </a:prstGeom>
          <a:noFill/>
        </p:spPr>
        <p:txBody>
          <a:bodyPr wrap="square" lIns="57150" tIns="0" rIns="0" bIns="0" anchor="t">
            <a:spAutoFit/>
          </a:bodyPr>
          <a:lstStyle/>
          <a:p>
            <a:pPr algn="just">
              <a:lnSpc>
                <a:spcPts val="1912"/>
              </a:lnSpc>
            </a:pPr>
            <a:r>
              <a:rPr sz="1600" b="1" i="0" u="none" dirty="0" err="1">
                <a:solidFill>
                  <a:srgbClr val="334155"/>
                </a:solidFill>
                <a:latin typeface="+mj-lt"/>
              </a:rPr>
              <a:t>Югорский</a:t>
            </a:r>
            <a:r>
              <a:rPr sz="1600" b="1" i="0" u="none" dirty="0">
                <a:solidFill>
                  <a:srgbClr val="334155"/>
                </a:solidFill>
                <a:latin typeface="+mj-lt"/>
              </a:rPr>
              <a:t> </a:t>
            </a:r>
            <a:r>
              <a:rPr sz="1600" b="1" i="0" u="none" dirty="0" err="1">
                <a:solidFill>
                  <a:srgbClr val="334155"/>
                </a:solidFill>
                <a:latin typeface="+mj-lt"/>
              </a:rPr>
              <a:t>вантовый</a:t>
            </a:r>
            <a:r>
              <a:rPr sz="1600" b="1" i="0" u="none" dirty="0">
                <a:solidFill>
                  <a:srgbClr val="334155"/>
                </a:solidFill>
                <a:latin typeface="+mj-lt"/>
              </a:rPr>
              <a:t> </a:t>
            </a:r>
            <a:r>
              <a:rPr sz="1600" b="1" i="0" u="none" dirty="0" err="1">
                <a:solidFill>
                  <a:srgbClr val="334155"/>
                </a:solidFill>
                <a:latin typeface="+mj-lt"/>
              </a:rPr>
              <a:t>мост</a:t>
            </a:r>
            <a:r>
              <a:rPr sz="1600" b="1" i="0" u="none" dirty="0">
                <a:solidFill>
                  <a:srgbClr val="334155"/>
                </a:solidFill>
                <a:latin typeface="+mj-lt"/>
              </a:rPr>
              <a:t> «</a:t>
            </a:r>
            <a:r>
              <a:rPr sz="1600" b="1" i="0" u="none" dirty="0" err="1">
                <a:solidFill>
                  <a:srgbClr val="334155"/>
                </a:solidFill>
                <a:latin typeface="+mj-lt"/>
              </a:rPr>
              <a:t>Красный</a:t>
            </a:r>
            <a:r>
              <a:rPr sz="1600" b="1" i="0" u="none" dirty="0">
                <a:solidFill>
                  <a:srgbClr val="334155"/>
                </a:solidFill>
                <a:latin typeface="+mj-lt"/>
              </a:rPr>
              <a:t> </a:t>
            </a:r>
            <a:r>
              <a:rPr sz="1600" b="1" i="0" u="none" dirty="0" err="1">
                <a:solidFill>
                  <a:srgbClr val="334155"/>
                </a:solidFill>
                <a:latin typeface="+mj-lt"/>
              </a:rPr>
              <a:t>дракон</a:t>
            </a:r>
            <a:r>
              <a:rPr sz="1600" b="1" i="0" u="none" dirty="0">
                <a:solidFill>
                  <a:srgbClr val="334155"/>
                </a:solidFill>
                <a:latin typeface="+mj-lt"/>
              </a:rPr>
              <a:t>»:</a:t>
            </a:r>
            <a:r>
              <a:rPr sz="1600" b="0" i="0" u="none" dirty="0">
                <a:solidFill>
                  <a:srgbClr val="334155"/>
                </a:solidFill>
                <a:latin typeface="+mj-lt"/>
              </a:rPr>
              <a:t> </a:t>
            </a:r>
            <a:r>
              <a:rPr sz="1600" b="0" i="0" u="none" dirty="0" err="1">
                <a:solidFill>
                  <a:srgbClr val="334155"/>
                </a:solidFill>
                <a:latin typeface="+mj-lt"/>
              </a:rPr>
              <a:t>Уникальный</a:t>
            </a:r>
            <a:r>
              <a:rPr sz="1600" b="0" i="0" u="none" dirty="0">
                <a:solidFill>
                  <a:srgbClr val="334155"/>
                </a:solidFill>
                <a:latin typeface="+mj-lt"/>
              </a:rPr>
              <a:t> </a:t>
            </a:r>
            <a:r>
              <a:rPr sz="1600" b="0" i="0" u="none" dirty="0" err="1">
                <a:solidFill>
                  <a:srgbClr val="334155"/>
                </a:solidFill>
                <a:latin typeface="+mj-lt"/>
              </a:rPr>
              <a:t>мост</a:t>
            </a:r>
            <a:r>
              <a:rPr sz="1600" b="0" i="0" u="none" dirty="0">
                <a:solidFill>
                  <a:srgbClr val="334155"/>
                </a:solidFill>
                <a:latin typeface="+mj-lt"/>
              </a:rPr>
              <a:t> </a:t>
            </a:r>
            <a:r>
              <a:rPr sz="1600" b="0" i="0" u="none" dirty="0" err="1">
                <a:solidFill>
                  <a:srgbClr val="334155"/>
                </a:solidFill>
                <a:latin typeface="+mj-lt"/>
              </a:rPr>
              <a:t>через</a:t>
            </a:r>
            <a:r>
              <a:rPr sz="1600" b="0" i="0" u="none" dirty="0">
                <a:solidFill>
                  <a:srgbClr val="334155"/>
                </a:solidFill>
                <a:latin typeface="+mj-lt"/>
              </a:rPr>
              <a:t> </a:t>
            </a:r>
            <a:r>
              <a:rPr sz="1600" b="0" i="0" u="none" dirty="0" err="1">
                <a:solidFill>
                  <a:srgbClr val="334155"/>
                </a:solidFill>
                <a:latin typeface="+mj-lt"/>
              </a:rPr>
              <a:t>реку</a:t>
            </a:r>
            <a:r>
              <a:rPr sz="1600" b="0" i="0" u="none" dirty="0">
                <a:solidFill>
                  <a:srgbClr val="334155"/>
                </a:solidFill>
                <a:latin typeface="+mj-lt"/>
              </a:rPr>
              <a:t> </a:t>
            </a:r>
            <a:r>
              <a:rPr sz="1600" b="0" i="0" u="none" dirty="0" err="1">
                <a:solidFill>
                  <a:srgbClr val="334155"/>
                </a:solidFill>
                <a:latin typeface="+mj-lt"/>
              </a:rPr>
              <a:t>Иртыш</a:t>
            </a:r>
            <a:r>
              <a:rPr sz="1600" b="0" i="0" u="none" dirty="0">
                <a:solidFill>
                  <a:srgbClr val="334155"/>
                </a:solidFill>
                <a:latin typeface="+mj-lt"/>
              </a:rPr>
              <a:t>, </a:t>
            </a:r>
            <a:r>
              <a:rPr sz="1600" b="0" i="0" u="none" dirty="0" err="1">
                <a:solidFill>
                  <a:srgbClr val="334155"/>
                </a:solidFill>
                <a:latin typeface="+mj-lt"/>
              </a:rPr>
              <a:t>архитектурная</a:t>
            </a:r>
            <a:r>
              <a:rPr sz="1600" b="0" i="0" u="none" dirty="0">
                <a:solidFill>
                  <a:srgbClr val="334155"/>
                </a:solidFill>
                <a:latin typeface="+mj-lt"/>
              </a:rPr>
              <a:t> </a:t>
            </a:r>
            <a:r>
              <a:rPr sz="1600" b="0" i="0" u="none" dirty="0" err="1">
                <a:solidFill>
                  <a:srgbClr val="334155"/>
                </a:solidFill>
                <a:latin typeface="+mj-lt"/>
              </a:rPr>
              <a:t>жемчужина</a:t>
            </a:r>
            <a:r>
              <a:rPr sz="1600" b="0" i="0" u="none" dirty="0">
                <a:solidFill>
                  <a:srgbClr val="334155"/>
                </a:solidFill>
                <a:latin typeface="+mj-lt"/>
              </a:rPr>
              <a:t> </a:t>
            </a:r>
            <a:r>
              <a:rPr sz="1600" b="0" i="0" u="none" dirty="0" err="1">
                <a:solidFill>
                  <a:srgbClr val="334155"/>
                </a:solidFill>
                <a:latin typeface="+mj-lt"/>
              </a:rPr>
              <a:t>Сибири</a:t>
            </a:r>
            <a:r>
              <a:rPr sz="1600" b="0" i="0" u="none" dirty="0">
                <a:solidFill>
                  <a:srgbClr val="334155"/>
                </a:solidFill>
                <a:latin typeface="+mj-lt"/>
              </a:rPr>
              <a:t>.</a:t>
            </a:r>
          </a:p>
        </p:txBody>
      </p:sp>
      <p:pic>
        <p:nvPicPr>
          <p:cNvPr id="5124" name="Picture 4">
            <a:extLst>
              <a:ext uri="{FF2B5EF4-FFF2-40B4-BE49-F238E27FC236}">
                <a16:creationId xmlns:a16="http://schemas.microsoft.com/office/drawing/2014/main" id="{B0AC267A-AC0D-4CC9-8AF9-D7D7EE3E75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85593" y="3322273"/>
            <a:ext cx="5633593" cy="2510163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6" name="Picture 6">
            <a:extLst>
              <a:ext uri="{FF2B5EF4-FFF2-40B4-BE49-F238E27FC236}">
                <a16:creationId xmlns:a16="http://schemas.microsoft.com/office/drawing/2014/main" id="{0BFE2B1F-094C-4E47-B4D4-6B1E7B89A0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56545" y="1204678"/>
            <a:ext cx="2762641" cy="1971708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130" y="1514991"/>
            <a:ext cx="5824064" cy="1638018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199" y="1526359"/>
            <a:ext cx="5809671" cy="163397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0130" y="3314627"/>
            <a:ext cx="5824060" cy="1638017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2199" y="3276120"/>
            <a:ext cx="5809671" cy="163397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81000" y="6534150"/>
            <a:ext cx="37713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05088"/>
                </a:solidFill>
                <a:latin typeface="DM Sans"/>
              </a:rPr>
              <a:t>ГУАП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58599" y="6534150"/>
            <a:ext cx="152401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 dirty="0">
                <a:solidFill>
                  <a:srgbClr val="64748B"/>
                </a:solidFill>
                <a:latin typeface="DM Sans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3400" y="419100"/>
            <a:ext cx="6280785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005088"/>
                </a:solidFill>
                <a:latin typeface="Merriweather"/>
              </a:rPr>
              <a:t>SWOT-анализ потенциала развития ХМАО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64699" y="457200"/>
            <a:ext cx="2393900" cy="2667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26269" y="1676609"/>
            <a:ext cx="5300662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u="none" dirty="0" err="1">
                <a:solidFill>
                  <a:srgbClr val="16A34A"/>
                </a:solidFill>
              </a:rPr>
              <a:t>Сильные</a:t>
            </a:r>
            <a:r>
              <a:rPr sz="1400" b="1" i="0" u="none" dirty="0">
                <a:solidFill>
                  <a:srgbClr val="16A34A"/>
                </a:solidFill>
              </a:rPr>
              <a:t> </a:t>
            </a:r>
            <a:r>
              <a:rPr sz="1400" b="1" i="0" u="none" dirty="0" err="1">
                <a:solidFill>
                  <a:srgbClr val="16A34A"/>
                </a:solidFill>
              </a:rPr>
              <a:t>стороны</a:t>
            </a:r>
            <a:endParaRPr sz="1400" b="1" i="0" u="none" dirty="0">
              <a:solidFill>
                <a:srgbClr val="16A34A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426703" y="1647283"/>
            <a:ext cx="5300662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u="none" dirty="0" err="1">
                <a:solidFill>
                  <a:srgbClr val="DC2626"/>
                </a:solidFill>
              </a:rPr>
              <a:t>Слабые</a:t>
            </a:r>
            <a:r>
              <a:rPr sz="1400" b="1" i="0" u="none" dirty="0">
                <a:solidFill>
                  <a:srgbClr val="DC2626"/>
                </a:solidFill>
              </a:rPr>
              <a:t> </a:t>
            </a:r>
            <a:r>
              <a:rPr sz="1400" b="1" i="0" u="none" dirty="0" err="1">
                <a:solidFill>
                  <a:srgbClr val="DC2626"/>
                </a:solidFill>
              </a:rPr>
              <a:t>стороны</a:t>
            </a:r>
            <a:endParaRPr sz="1400" b="1" i="0" u="none" dirty="0">
              <a:solidFill>
                <a:srgbClr val="DC2626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26269" y="3398644"/>
            <a:ext cx="5300662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u="none" dirty="0" err="1">
                <a:solidFill>
                  <a:srgbClr val="2563EB"/>
                </a:solidFill>
              </a:rPr>
              <a:t>Возможности</a:t>
            </a:r>
            <a:endParaRPr sz="1400" b="1" i="0" u="none" dirty="0">
              <a:solidFill>
                <a:srgbClr val="2563EB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415088" y="3410398"/>
            <a:ext cx="5300662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u="none" dirty="0" err="1">
                <a:solidFill>
                  <a:srgbClr val="D97706"/>
                </a:solidFill>
              </a:rPr>
              <a:t>Угрозы</a:t>
            </a:r>
            <a:endParaRPr sz="1400" b="1" i="0" u="none" dirty="0">
              <a:solidFill>
                <a:srgbClr val="D97706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69565" y="1959457"/>
            <a:ext cx="4876800" cy="208006"/>
          </a:xfrm>
          <a:prstGeom prst="rect">
            <a:avLst/>
          </a:prstGeom>
          <a:noFill/>
        </p:spPr>
        <p:txBody>
          <a:bodyPr wrap="square" lIns="47625" tIns="0" rIns="0" bIns="0" anchor="t">
            <a:spAutoFit/>
          </a:bodyPr>
          <a:lstStyle/>
          <a:p>
            <a:pPr algn="just">
              <a:lnSpc>
                <a:spcPts val="1575"/>
              </a:lnSpc>
            </a:pPr>
            <a:r>
              <a:rPr sz="1400" b="0" i="0" u="none" dirty="0" err="1">
                <a:solidFill>
                  <a:srgbClr val="334155"/>
                </a:solidFill>
              </a:rPr>
              <a:t>Колоссальные</a:t>
            </a:r>
            <a:r>
              <a:rPr sz="1400" b="0" i="0" u="none" dirty="0">
                <a:solidFill>
                  <a:srgbClr val="334155"/>
                </a:solidFill>
              </a:rPr>
              <a:t> </a:t>
            </a:r>
            <a:r>
              <a:rPr sz="1400" b="0" i="0" u="none" dirty="0" err="1">
                <a:solidFill>
                  <a:srgbClr val="334155"/>
                </a:solidFill>
              </a:rPr>
              <a:t>запасы</a:t>
            </a:r>
            <a:r>
              <a:rPr sz="1400" b="0" i="0" u="none" dirty="0">
                <a:solidFill>
                  <a:srgbClr val="334155"/>
                </a:solidFill>
              </a:rPr>
              <a:t> </a:t>
            </a:r>
            <a:r>
              <a:rPr sz="1400" b="0" i="0" u="none" dirty="0" err="1">
                <a:solidFill>
                  <a:srgbClr val="334155"/>
                </a:solidFill>
              </a:rPr>
              <a:t>нефти</a:t>
            </a:r>
            <a:r>
              <a:rPr sz="1400" b="0" i="0" u="none" dirty="0">
                <a:solidFill>
                  <a:srgbClr val="334155"/>
                </a:solidFill>
              </a:rPr>
              <a:t> и </a:t>
            </a:r>
            <a:r>
              <a:rPr sz="1400" b="0" i="0" u="none" dirty="0" err="1">
                <a:solidFill>
                  <a:srgbClr val="334155"/>
                </a:solidFill>
              </a:rPr>
              <a:t>природного</a:t>
            </a:r>
            <a:r>
              <a:rPr sz="1400" b="0" i="0" u="none" dirty="0">
                <a:solidFill>
                  <a:srgbClr val="334155"/>
                </a:solidFill>
              </a:rPr>
              <a:t> </a:t>
            </a:r>
            <a:r>
              <a:rPr sz="1400" b="0" i="0" u="none" dirty="0" err="1">
                <a:solidFill>
                  <a:srgbClr val="334155"/>
                </a:solidFill>
              </a:rPr>
              <a:t>газа</a:t>
            </a:r>
            <a:r>
              <a:rPr sz="1400" b="0" i="0" u="none" dirty="0">
                <a:solidFill>
                  <a:srgbClr val="334155"/>
                </a:solidFill>
              </a:rPr>
              <a:t>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9565" y="2222392"/>
            <a:ext cx="4876800" cy="208006"/>
          </a:xfrm>
          <a:prstGeom prst="rect">
            <a:avLst/>
          </a:prstGeom>
          <a:noFill/>
        </p:spPr>
        <p:txBody>
          <a:bodyPr wrap="square" lIns="47625" tIns="0" rIns="0" bIns="0" anchor="t">
            <a:spAutoFit/>
          </a:bodyPr>
          <a:lstStyle/>
          <a:p>
            <a:pPr algn="just">
              <a:lnSpc>
                <a:spcPts val="1575"/>
              </a:lnSpc>
            </a:pPr>
            <a:r>
              <a:rPr sz="1400" b="0" i="0" u="none" dirty="0" err="1">
                <a:solidFill>
                  <a:srgbClr val="334155"/>
                </a:solidFill>
              </a:rPr>
              <a:t>Высокий</a:t>
            </a:r>
            <a:r>
              <a:rPr sz="1400" b="0" i="0" u="none" dirty="0">
                <a:solidFill>
                  <a:srgbClr val="334155"/>
                </a:solidFill>
              </a:rPr>
              <a:t> </a:t>
            </a:r>
            <a:r>
              <a:rPr sz="1400" b="0" i="0" u="none" dirty="0" err="1">
                <a:solidFill>
                  <a:srgbClr val="334155"/>
                </a:solidFill>
              </a:rPr>
              <a:t>уровень</a:t>
            </a:r>
            <a:r>
              <a:rPr sz="1400" b="0" i="0" u="none" dirty="0">
                <a:solidFill>
                  <a:srgbClr val="334155"/>
                </a:solidFill>
              </a:rPr>
              <a:t> ВРП и </a:t>
            </a:r>
            <a:r>
              <a:rPr sz="1400" b="0" i="0" u="none" dirty="0" err="1">
                <a:solidFill>
                  <a:srgbClr val="334155"/>
                </a:solidFill>
              </a:rPr>
              <a:t>доходов</a:t>
            </a:r>
            <a:r>
              <a:rPr sz="1400" b="0" i="0" u="none" dirty="0">
                <a:solidFill>
                  <a:srgbClr val="334155"/>
                </a:solidFill>
              </a:rPr>
              <a:t> </a:t>
            </a:r>
            <a:r>
              <a:rPr sz="1400" b="0" i="0" u="none" dirty="0" err="1">
                <a:solidFill>
                  <a:srgbClr val="334155"/>
                </a:solidFill>
              </a:rPr>
              <a:t>жителей</a:t>
            </a:r>
            <a:r>
              <a:rPr sz="1400" b="0" i="0" u="none" dirty="0">
                <a:solidFill>
                  <a:srgbClr val="334155"/>
                </a:solidFill>
              </a:rPr>
              <a:t>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9565" y="2465371"/>
            <a:ext cx="4876800" cy="205184"/>
          </a:xfrm>
          <a:prstGeom prst="rect">
            <a:avLst/>
          </a:prstGeom>
          <a:noFill/>
        </p:spPr>
        <p:txBody>
          <a:bodyPr wrap="square" lIns="47625" tIns="0" rIns="0" bIns="0" anchor="t">
            <a:spAutoFit/>
          </a:bodyPr>
          <a:lstStyle/>
          <a:p>
            <a:pPr algn="just">
              <a:lnSpc>
                <a:spcPts val="1575"/>
              </a:lnSpc>
            </a:pPr>
            <a:r>
              <a:rPr sz="1400" b="0" i="0" u="none" dirty="0" err="1">
                <a:solidFill>
                  <a:srgbClr val="334155"/>
                </a:solidFill>
              </a:rPr>
              <a:t>Лидерство</a:t>
            </a:r>
            <a:r>
              <a:rPr sz="1400" b="0" i="0" u="none" dirty="0">
                <a:solidFill>
                  <a:srgbClr val="334155"/>
                </a:solidFill>
              </a:rPr>
              <a:t> в </a:t>
            </a:r>
            <a:r>
              <a:rPr sz="1400" b="0" i="0" u="none" dirty="0" err="1">
                <a:solidFill>
                  <a:srgbClr val="334155"/>
                </a:solidFill>
              </a:rPr>
              <a:t>энергетике</a:t>
            </a:r>
            <a:r>
              <a:rPr sz="1400" b="0" i="0" u="none" dirty="0">
                <a:solidFill>
                  <a:srgbClr val="334155"/>
                </a:solidFill>
              </a:rPr>
              <a:t> и </a:t>
            </a:r>
            <a:r>
              <a:rPr sz="1400" b="0" i="0" u="none" dirty="0" err="1">
                <a:solidFill>
                  <a:srgbClr val="334155"/>
                </a:solidFill>
              </a:rPr>
              <a:t>развитая</a:t>
            </a:r>
            <a:r>
              <a:rPr sz="1400" b="0" i="0" u="none" dirty="0">
                <a:solidFill>
                  <a:srgbClr val="334155"/>
                </a:solidFill>
              </a:rPr>
              <a:t> </a:t>
            </a:r>
            <a:r>
              <a:rPr sz="1400" b="0" i="0" u="none" dirty="0" err="1">
                <a:solidFill>
                  <a:srgbClr val="334155"/>
                </a:solidFill>
              </a:rPr>
              <a:t>инфраструктура</a:t>
            </a:r>
            <a:r>
              <a:rPr sz="1400" b="0" i="0" u="none" dirty="0">
                <a:solidFill>
                  <a:srgbClr val="334155"/>
                </a:solidFill>
              </a:rPr>
              <a:t> ТЭК.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7104" y="2751023"/>
            <a:ext cx="4876800" cy="208006"/>
          </a:xfrm>
          <a:prstGeom prst="rect">
            <a:avLst/>
          </a:prstGeom>
          <a:noFill/>
        </p:spPr>
        <p:txBody>
          <a:bodyPr wrap="square" lIns="47625" tIns="0" rIns="0" bIns="0" anchor="t">
            <a:spAutoFit/>
          </a:bodyPr>
          <a:lstStyle/>
          <a:p>
            <a:pPr algn="just">
              <a:lnSpc>
                <a:spcPts val="1575"/>
              </a:lnSpc>
            </a:pPr>
            <a:r>
              <a:rPr sz="1400" b="0" i="0" u="none" dirty="0" err="1">
                <a:solidFill>
                  <a:srgbClr val="334155"/>
                </a:solidFill>
              </a:rPr>
              <a:t>Молодой</a:t>
            </a:r>
            <a:r>
              <a:rPr sz="1400" b="0" i="0" u="none" dirty="0">
                <a:solidFill>
                  <a:srgbClr val="334155"/>
                </a:solidFill>
              </a:rPr>
              <a:t> </a:t>
            </a:r>
            <a:r>
              <a:rPr sz="1400" b="0" i="0" u="none" dirty="0" err="1">
                <a:solidFill>
                  <a:srgbClr val="334155"/>
                </a:solidFill>
              </a:rPr>
              <a:t>средний</a:t>
            </a:r>
            <a:r>
              <a:rPr sz="1400" b="0" i="0" u="none" dirty="0">
                <a:solidFill>
                  <a:srgbClr val="334155"/>
                </a:solidFill>
              </a:rPr>
              <a:t> </a:t>
            </a:r>
            <a:r>
              <a:rPr sz="1400" b="0" i="0" u="none" dirty="0" err="1">
                <a:solidFill>
                  <a:srgbClr val="334155"/>
                </a:solidFill>
              </a:rPr>
              <a:t>возраст</a:t>
            </a:r>
            <a:r>
              <a:rPr sz="1400" b="0" i="0" u="none" dirty="0">
                <a:solidFill>
                  <a:srgbClr val="334155"/>
                </a:solidFill>
              </a:rPr>
              <a:t> </a:t>
            </a:r>
            <a:r>
              <a:rPr sz="1400" b="0" i="0" u="none" dirty="0" err="1">
                <a:solidFill>
                  <a:srgbClr val="334155"/>
                </a:solidFill>
              </a:rPr>
              <a:t>населения</a:t>
            </a:r>
            <a:r>
              <a:rPr sz="1400" b="0" i="0" u="none" dirty="0">
                <a:solidFill>
                  <a:srgbClr val="334155"/>
                </a:solidFill>
              </a:rPr>
              <a:t> (~36 </a:t>
            </a:r>
            <a:r>
              <a:rPr sz="1400" b="0" i="0" u="none" dirty="0" err="1">
                <a:solidFill>
                  <a:srgbClr val="334155"/>
                </a:solidFill>
              </a:rPr>
              <a:t>лет</a:t>
            </a:r>
            <a:r>
              <a:rPr sz="1400" b="0" i="0" u="none" dirty="0">
                <a:solidFill>
                  <a:srgbClr val="334155"/>
                </a:solidFill>
              </a:rPr>
              <a:t>).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91164" y="1964185"/>
            <a:ext cx="4876800" cy="205184"/>
          </a:xfrm>
          <a:prstGeom prst="rect">
            <a:avLst/>
          </a:prstGeom>
          <a:noFill/>
        </p:spPr>
        <p:txBody>
          <a:bodyPr wrap="square" lIns="47625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400" b="0" i="0" u="none">
                <a:solidFill>
                  <a:srgbClr val="334155"/>
                </a:solidFill>
              </a:rPr>
              <a:t>Монопрофильность экономики и сырьевая зависимость.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91164" y="2202310"/>
            <a:ext cx="4876800" cy="208006"/>
          </a:xfrm>
          <a:prstGeom prst="rect">
            <a:avLst/>
          </a:prstGeom>
          <a:noFill/>
        </p:spPr>
        <p:txBody>
          <a:bodyPr wrap="square" lIns="47625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400" b="0" i="0" u="none">
                <a:solidFill>
                  <a:srgbClr val="334155"/>
                </a:solidFill>
              </a:rPr>
              <a:t>Суровый климат и заболоченность территории.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91164" y="2440435"/>
            <a:ext cx="4876800" cy="205184"/>
          </a:xfrm>
          <a:prstGeom prst="rect">
            <a:avLst/>
          </a:prstGeom>
          <a:noFill/>
        </p:spPr>
        <p:txBody>
          <a:bodyPr wrap="square" lIns="47625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400" b="0" i="0" u="none">
                <a:solidFill>
                  <a:srgbClr val="334155"/>
                </a:solidFill>
              </a:rPr>
              <a:t>Удорожание добычи («трудная» нефть Баженовской свиты).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91164" y="2678560"/>
            <a:ext cx="4876800" cy="208006"/>
          </a:xfrm>
          <a:prstGeom prst="rect">
            <a:avLst/>
          </a:prstGeom>
          <a:noFill/>
        </p:spPr>
        <p:txBody>
          <a:bodyPr wrap="square" lIns="47625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400" b="0" i="0" u="none">
                <a:solidFill>
                  <a:srgbClr val="334155"/>
                </a:solidFill>
              </a:rPr>
              <a:t>Ограниченность круглогодичных дорог в малых селах.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7104" y="3748969"/>
            <a:ext cx="4876800" cy="208006"/>
          </a:xfrm>
          <a:prstGeom prst="rect">
            <a:avLst/>
          </a:prstGeom>
          <a:noFill/>
        </p:spPr>
        <p:txBody>
          <a:bodyPr wrap="square" lIns="47625" tIns="0" rIns="0" bIns="0" anchor="t">
            <a:spAutoFit/>
          </a:bodyPr>
          <a:lstStyle/>
          <a:p>
            <a:pPr algn="just">
              <a:lnSpc>
                <a:spcPts val="1575"/>
              </a:lnSpc>
            </a:pPr>
            <a:r>
              <a:rPr sz="1400" b="0" i="0" u="none">
                <a:solidFill>
                  <a:srgbClr val="334155"/>
                </a:solidFill>
              </a:rPr>
              <a:t>Развитие нефтегазохимии и глубокой переработки.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7104" y="3987094"/>
            <a:ext cx="4876800" cy="208006"/>
          </a:xfrm>
          <a:prstGeom prst="rect">
            <a:avLst/>
          </a:prstGeom>
          <a:noFill/>
        </p:spPr>
        <p:txBody>
          <a:bodyPr wrap="square" lIns="47625" tIns="0" rIns="0" bIns="0" anchor="t">
            <a:spAutoFit/>
          </a:bodyPr>
          <a:lstStyle/>
          <a:p>
            <a:pPr algn="just">
              <a:lnSpc>
                <a:spcPts val="1575"/>
              </a:lnSpc>
            </a:pPr>
            <a:r>
              <a:rPr sz="1400" b="0" i="0" u="none">
                <a:solidFill>
                  <a:srgbClr val="334155"/>
                </a:solidFill>
              </a:rPr>
              <a:t>Внедрение ИИ в геологоразведку («Умная скважина»).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7104" y="4225219"/>
            <a:ext cx="4876800" cy="208006"/>
          </a:xfrm>
          <a:prstGeom prst="rect">
            <a:avLst/>
          </a:prstGeom>
          <a:noFill/>
        </p:spPr>
        <p:txBody>
          <a:bodyPr wrap="square" lIns="47625" tIns="0" rIns="0" bIns="0" anchor="t">
            <a:spAutoFit/>
          </a:bodyPr>
          <a:lstStyle/>
          <a:p>
            <a:pPr algn="just">
              <a:lnSpc>
                <a:spcPts val="1575"/>
              </a:lnSpc>
            </a:pPr>
            <a:r>
              <a:rPr sz="1400" b="0" i="0" u="none">
                <a:solidFill>
                  <a:srgbClr val="334155"/>
                </a:solidFill>
              </a:rPr>
              <a:t>Этнотуризм, экологический и экстремальный туризм.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7104" y="4463344"/>
            <a:ext cx="4876800" cy="205184"/>
          </a:xfrm>
          <a:prstGeom prst="rect">
            <a:avLst/>
          </a:prstGeom>
          <a:noFill/>
        </p:spPr>
        <p:txBody>
          <a:bodyPr wrap="square" lIns="47625" tIns="0" rIns="0" bIns="0" anchor="t">
            <a:spAutoFit/>
          </a:bodyPr>
          <a:lstStyle/>
          <a:p>
            <a:pPr algn="just">
              <a:lnSpc>
                <a:spcPts val="1575"/>
              </a:lnSpc>
            </a:pPr>
            <a:r>
              <a:rPr sz="1400" b="0" i="0" u="none">
                <a:solidFill>
                  <a:srgbClr val="334155"/>
                </a:solidFill>
              </a:rPr>
              <a:t>Импортозамещение высокотехнологичного оборудования.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91164" y="3703392"/>
            <a:ext cx="4876800" cy="208006"/>
          </a:xfrm>
          <a:prstGeom prst="rect">
            <a:avLst/>
          </a:prstGeom>
          <a:noFill/>
        </p:spPr>
        <p:txBody>
          <a:bodyPr wrap="square" lIns="47625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400" b="0" i="0" u="none">
                <a:solidFill>
                  <a:srgbClr val="334155"/>
                </a:solidFill>
              </a:rPr>
              <a:t>Колебания мировых цен на энергоносители.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91164" y="3941517"/>
            <a:ext cx="4876800" cy="208006"/>
          </a:xfrm>
          <a:prstGeom prst="rect">
            <a:avLst/>
          </a:prstGeom>
          <a:noFill/>
        </p:spPr>
        <p:txBody>
          <a:bodyPr wrap="square" lIns="47625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400" b="0" i="0" u="none">
                <a:solidFill>
                  <a:srgbClr val="334155"/>
                </a:solidFill>
              </a:rPr>
              <a:t>Экологические риски для хрупких экосистем тайги.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91164" y="4179642"/>
            <a:ext cx="4876800" cy="205184"/>
          </a:xfrm>
          <a:prstGeom prst="rect">
            <a:avLst/>
          </a:prstGeom>
          <a:noFill/>
        </p:spPr>
        <p:txBody>
          <a:bodyPr wrap="square" lIns="47625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400" b="0" i="0" u="none">
                <a:solidFill>
                  <a:srgbClr val="334155"/>
                </a:solidFill>
              </a:rPr>
              <a:t>Внешние технологические санкции на буровое оборудование.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91164" y="4417767"/>
            <a:ext cx="4876800" cy="208006"/>
          </a:xfrm>
          <a:prstGeom prst="rect">
            <a:avLst/>
          </a:prstGeom>
          <a:noFill/>
        </p:spPr>
        <p:txBody>
          <a:bodyPr wrap="square" lIns="47625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400" b="0" i="0" u="none" dirty="0" err="1">
                <a:solidFill>
                  <a:srgbClr val="334155"/>
                </a:solidFill>
              </a:rPr>
              <a:t>Истощение</a:t>
            </a:r>
            <a:r>
              <a:rPr sz="1400" b="0" i="0" u="none" dirty="0">
                <a:solidFill>
                  <a:srgbClr val="334155"/>
                </a:solidFill>
              </a:rPr>
              <a:t> </a:t>
            </a:r>
            <a:r>
              <a:rPr sz="1400" b="0" i="0" u="none" dirty="0" err="1">
                <a:solidFill>
                  <a:srgbClr val="334155"/>
                </a:solidFill>
              </a:rPr>
              <a:t>легкоизвлекаемых</a:t>
            </a:r>
            <a:r>
              <a:rPr sz="1400" b="0" i="0" u="none" dirty="0">
                <a:solidFill>
                  <a:srgbClr val="334155"/>
                </a:solidFill>
              </a:rPr>
              <a:t> </a:t>
            </a:r>
            <a:r>
              <a:rPr sz="1400" b="0" i="0" u="none" dirty="0" err="1">
                <a:solidFill>
                  <a:srgbClr val="334155"/>
                </a:solidFill>
              </a:rPr>
              <a:t>запасов</a:t>
            </a:r>
            <a:r>
              <a:rPr sz="1400" b="0" i="0" u="none" dirty="0">
                <a:solidFill>
                  <a:srgbClr val="334155"/>
                </a:solidFill>
              </a:rPr>
              <a:t> </a:t>
            </a:r>
            <a:r>
              <a:rPr sz="1400" b="0" i="0" u="none" dirty="0" err="1">
                <a:solidFill>
                  <a:srgbClr val="334155"/>
                </a:solidFill>
              </a:rPr>
              <a:t>зрелых</a:t>
            </a:r>
            <a:r>
              <a:rPr sz="1400" b="0" i="0" u="none" dirty="0">
                <a:solidFill>
                  <a:srgbClr val="334155"/>
                </a:solidFill>
              </a:rPr>
              <a:t> </a:t>
            </a:r>
            <a:r>
              <a:rPr sz="1400" b="0" i="0" u="none" dirty="0" err="1">
                <a:solidFill>
                  <a:srgbClr val="334155"/>
                </a:solidFill>
              </a:rPr>
              <a:t>пластов</a:t>
            </a:r>
            <a:r>
              <a:rPr sz="1400" b="0" i="0" u="none" dirty="0">
                <a:solidFill>
                  <a:srgbClr val="334155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755" y="2743200"/>
            <a:ext cx="11125200" cy="1371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81000" y="6534150"/>
            <a:ext cx="37713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05088"/>
                </a:solidFill>
                <a:latin typeface="DM Sans"/>
              </a:rPr>
              <a:t>ГУАП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58599" y="6534150"/>
            <a:ext cx="152401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ru-RU" sz="1050" b="1" i="0" u="none" dirty="0">
                <a:solidFill>
                  <a:srgbClr val="64748B"/>
                </a:solidFill>
                <a:latin typeface="DM Sans"/>
              </a:rPr>
              <a:t>1</a:t>
            </a:r>
            <a:r>
              <a:rPr sz="1050" b="1" i="0" u="none" dirty="0">
                <a:solidFill>
                  <a:srgbClr val="64748B"/>
                </a:solidFill>
                <a:latin typeface="DM Sans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3400" y="419100"/>
            <a:ext cx="4670583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005088"/>
                </a:solidFill>
                <a:latin typeface="Merriweather"/>
              </a:rPr>
              <a:t>Социокультурный код региона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80414" y="457200"/>
            <a:ext cx="1678185" cy="2667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6775" y="2978748"/>
            <a:ext cx="10458450" cy="9005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ts val="2400"/>
              </a:lnSpc>
            </a:pPr>
            <a:r>
              <a:rPr b="1" i="0" u="none" dirty="0" err="1">
                <a:solidFill>
                  <a:srgbClr val="115E59"/>
                </a:solidFill>
                <a:latin typeface="+mj-lt"/>
              </a:rPr>
              <a:t>Формула</a:t>
            </a:r>
            <a:r>
              <a:rPr b="1" i="0" u="none" dirty="0">
                <a:solidFill>
                  <a:srgbClr val="115E59"/>
                </a:solidFill>
                <a:latin typeface="+mj-lt"/>
              </a:rPr>
              <a:t>:</a:t>
            </a:r>
            <a:r>
              <a:rPr b="0" i="0" u="none" dirty="0">
                <a:solidFill>
                  <a:srgbClr val="115E59"/>
                </a:solidFill>
                <a:latin typeface="+mj-lt"/>
              </a:rPr>
              <a:t> «</a:t>
            </a:r>
            <a:r>
              <a:rPr b="0" i="0" u="none" dirty="0" err="1">
                <a:solidFill>
                  <a:srgbClr val="115E59"/>
                </a:solidFill>
                <a:latin typeface="+mj-lt"/>
              </a:rPr>
              <a:t>Югра</a:t>
            </a:r>
            <a:r>
              <a:rPr b="0" i="0" u="none" dirty="0">
                <a:solidFill>
                  <a:srgbClr val="115E59"/>
                </a:solidFill>
                <a:latin typeface="+mj-lt"/>
              </a:rPr>
              <a:t> — </a:t>
            </a:r>
            <a:r>
              <a:rPr b="0" i="0" u="none" dirty="0" err="1">
                <a:solidFill>
                  <a:srgbClr val="115E59"/>
                </a:solidFill>
                <a:latin typeface="+mj-lt"/>
              </a:rPr>
              <a:t>это</a:t>
            </a:r>
            <a:r>
              <a:rPr b="0" i="0" u="none" dirty="0">
                <a:solidFill>
                  <a:srgbClr val="115E59"/>
                </a:solidFill>
                <a:latin typeface="+mj-lt"/>
              </a:rPr>
              <a:t> </a:t>
            </a:r>
            <a:r>
              <a:rPr b="0" i="0" u="none" dirty="0" err="1">
                <a:solidFill>
                  <a:srgbClr val="115E59"/>
                </a:solidFill>
                <a:latin typeface="+mj-lt"/>
              </a:rPr>
              <a:t>союз</a:t>
            </a:r>
            <a:r>
              <a:rPr b="0" i="0" u="none" dirty="0">
                <a:solidFill>
                  <a:srgbClr val="115E59"/>
                </a:solidFill>
                <a:latin typeface="+mj-lt"/>
              </a:rPr>
              <a:t> </a:t>
            </a:r>
            <a:r>
              <a:rPr b="0" i="0" u="none" dirty="0" err="1">
                <a:solidFill>
                  <a:srgbClr val="115E59"/>
                </a:solidFill>
                <a:latin typeface="+mj-lt"/>
              </a:rPr>
              <a:t>древней</a:t>
            </a:r>
            <a:r>
              <a:rPr b="0" i="0" u="none" dirty="0">
                <a:solidFill>
                  <a:srgbClr val="115E59"/>
                </a:solidFill>
                <a:latin typeface="+mj-lt"/>
              </a:rPr>
              <a:t> </a:t>
            </a:r>
            <a:r>
              <a:rPr b="0" i="0" u="none" dirty="0" err="1">
                <a:solidFill>
                  <a:srgbClr val="115E59"/>
                </a:solidFill>
                <a:latin typeface="+mj-lt"/>
              </a:rPr>
              <a:t>таежной</a:t>
            </a:r>
            <a:r>
              <a:rPr b="0" i="0" u="none" dirty="0">
                <a:solidFill>
                  <a:srgbClr val="115E59"/>
                </a:solidFill>
                <a:latin typeface="+mj-lt"/>
              </a:rPr>
              <a:t> </a:t>
            </a:r>
            <a:r>
              <a:rPr b="0" i="0" u="none" dirty="0" err="1">
                <a:solidFill>
                  <a:srgbClr val="115E59"/>
                </a:solidFill>
                <a:latin typeface="+mj-lt"/>
              </a:rPr>
              <a:t>мудрости</a:t>
            </a:r>
            <a:r>
              <a:rPr b="0" i="0" u="none" dirty="0">
                <a:solidFill>
                  <a:srgbClr val="115E59"/>
                </a:solidFill>
                <a:latin typeface="+mj-lt"/>
              </a:rPr>
              <a:t> и </a:t>
            </a:r>
            <a:r>
              <a:rPr b="0" i="0" u="none" dirty="0" err="1">
                <a:solidFill>
                  <a:srgbClr val="115E59"/>
                </a:solidFill>
                <a:latin typeface="+mj-lt"/>
              </a:rPr>
              <a:t>несгибаемого</a:t>
            </a:r>
            <a:r>
              <a:rPr b="0" i="0" u="none" dirty="0">
                <a:solidFill>
                  <a:srgbClr val="115E59"/>
                </a:solidFill>
                <a:latin typeface="+mj-lt"/>
              </a:rPr>
              <a:t> </a:t>
            </a:r>
            <a:r>
              <a:rPr b="0" i="0" u="none" dirty="0" err="1">
                <a:solidFill>
                  <a:srgbClr val="115E59"/>
                </a:solidFill>
                <a:latin typeface="+mj-lt"/>
              </a:rPr>
              <a:t>первопроходческого</a:t>
            </a:r>
            <a:r>
              <a:rPr b="0" i="0" u="none" dirty="0">
                <a:solidFill>
                  <a:srgbClr val="115E59"/>
                </a:solidFill>
                <a:latin typeface="+mj-lt"/>
              </a:rPr>
              <a:t> </a:t>
            </a:r>
            <a:r>
              <a:rPr b="0" i="0" u="none" dirty="0" err="1">
                <a:solidFill>
                  <a:srgbClr val="115E59"/>
                </a:solidFill>
                <a:latin typeface="+mj-lt"/>
              </a:rPr>
              <a:t>духа</a:t>
            </a:r>
            <a:r>
              <a:rPr b="0" i="0" u="none" dirty="0">
                <a:solidFill>
                  <a:srgbClr val="115E59"/>
                </a:solidFill>
                <a:latin typeface="+mj-lt"/>
              </a:rPr>
              <a:t> </a:t>
            </a:r>
            <a:r>
              <a:rPr b="0" i="0" u="none" dirty="0" err="1">
                <a:solidFill>
                  <a:srgbClr val="115E59"/>
                </a:solidFill>
                <a:latin typeface="+mj-lt"/>
              </a:rPr>
              <a:t>нефтяников</a:t>
            </a:r>
            <a:r>
              <a:rPr b="0" i="0" u="none" dirty="0">
                <a:solidFill>
                  <a:srgbClr val="115E59"/>
                </a:solidFill>
                <a:latin typeface="+mj-lt"/>
              </a:rPr>
              <a:t>, </a:t>
            </a:r>
            <a:r>
              <a:rPr b="0" i="0" u="none" dirty="0" err="1">
                <a:solidFill>
                  <a:srgbClr val="115E59"/>
                </a:solidFill>
                <a:latin typeface="+mj-lt"/>
              </a:rPr>
              <a:t>сплавивший</a:t>
            </a:r>
            <a:r>
              <a:rPr b="0" i="0" u="none" dirty="0">
                <a:solidFill>
                  <a:srgbClr val="115E59"/>
                </a:solidFill>
                <a:latin typeface="+mj-lt"/>
              </a:rPr>
              <a:t> </a:t>
            </a:r>
            <a:r>
              <a:rPr b="0" i="0" u="none" dirty="0" err="1">
                <a:solidFill>
                  <a:srgbClr val="115E59"/>
                </a:solidFill>
                <a:latin typeface="+mj-lt"/>
              </a:rPr>
              <a:t>суровый</a:t>
            </a:r>
            <a:r>
              <a:rPr b="0" i="0" u="none" dirty="0">
                <a:solidFill>
                  <a:srgbClr val="115E59"/>
                </a:solidFill>
                <a:latin typeface="+mj-lt"/>
              </a:rPr>
              <a:t> </a:t>
            </a:r>
            <a:r>
              <a:rPr b="0" i="0" u="none" dirty="0" err="1">
                <a:solidFill>
                  <a:srgbClr val="115E59"/>
                </a:solidFill>
                <a:latin typeface="+mj-lt"/>
              </a:rPr>
              <a:t>северный</a:t>
            </a:r>
            <a:r>
              <a:rPr b="0" i="0" u="none" dirty="0">
                <a:solidFill>
                  <a:srgbClr val="115E59"/>
                </a:solidFill>
                <a:latin typeface="+mj-lt"/>
              </a:rPr>
              <a:t> </a:t>
            </a:r>
            <a:r>
              <a:rPr b="0" i="0" u="none" dirty="0" err="1">
                <a:solidFill>
                  <a:srgbClr val="115E59"/>
                </a:solidFill>
                <a:latin typeface="+mj-lt"/>
              </a:rPr>
              <a:t>климат</a:t>
            </a:r>
            <a:r>
              <a:rPr b="0" i="0" u="none" dirty="0">
                <a:solidFill>
                  <a:srgbClr val="115E59"/>
                </a:solidFill>
                <a:latin typeface="+mj-lt"/>
              </a:rPr>
              <a:t> в </a:t>
            </a:r>
            <a:r>
              <a:rPr b="0" i="0" u="none" dirty="0" err="1">
                <a:solidFill>
                  <a:srgbClr val="115E59"/>
                </a:solidFill>
                <a:latin typeface="+mj-lt"/>
              </a:rPr>
              <a:t>тепло</a:t>
            </a:r>
            <a:r>
              <a:rPr b="0" i="0" u="none" dirty="0">
                <a:solidFill>
                  <a:srgbClr val="115E59"/>
                </a:solidFill>
                <a:latin typeface="+mj-lt"/>
              </a:rPr>
              <a:t> </a:t>
            </a:r>
            <a:r>
              <a:rPr b="0" i="0" u="none" dirty="0" err="1">
                <a:solidFill>
                  <a:srgbClr val="115E59"/>
                </a:solidFill>
                <a:latin typeface="+mj-lt"/>
              </a:rPr>
              <a:t>человеческой</a:t>
            </a:r>
            <a:r>
              <a:rPr b="0" i="0" u="none" dirty="0">
                <a:solidFill>
                  <a:srgbClr val="115E59"/>
                </a:solidFill>
                <a:latin typeface="+mj-lt"/>
              </a:rPr>
              <a:t> </a:t>
            </a:r>
            <a:r>
              <a:rPr b="0" i="0" u="none" dirty="0" err="1">
                <a:solidFill>
                  <a:srgbClr val="115E59"/>
                </a:solidFill>
                <a:latin typeface="+mj-lt"/>
              </a:rPr>
              <a:t>взаимовыручки</a:t>
            </a:r>
            <a:r>
              <a:rPr b="0" i="0" u="none" dirty="0">
                <a:solidFill>
                  <a:srgbClr val="115E59"/>
                </a:solidFill>
                <a:latin typeface="+mj-lt"/>
              </a:rPr>
              <a:t> и </a:t>
            </a:r>
            <a:r>
              <a:rPr b="0" i="0" u="none" dirty="0" err="1">
                <a:solidFill>
                  <a:srgbClr val="115E59"/>
                </a:solidFill>
                <a:latin typeface="+mj-lt"/>
              </a:rPr>
              <a:t>индустриальную</a:t>
            </a:r>
            <a:r>
              <a:rPr b="0" i="0" u="none" dirty="0">
                <a:solidFill>
                  <a:srgbClr val="115E59"/>
                </a:solidFill>
                <a:latin typeface="+mj-lt"/>
              </a:rPr>
              <a:t> </a:t>
            </a:r>
            <a:r>
              <a:rPr b="0" i="0" u="none" dirty="0" err="1">
                <a:solidFill>
                  <a:srgbClr val="115E59"/>
                </a:solidFill>
                <a:latin typeface="+mj-lt"/>
              </a:rPr>
              <a:t>мощь</a:t>
            </a:r>
            <a:r>
              <a:rPr b="0" i="0" u="none" dirty="0">
                <a:solidFill>
                  <a:srgbClr val="115E59"/>
                </a:solidFill>
                <a:latin typeface="+mj-lt"/>
              </a:rPr>
              <a:t> </a:t>
            </a:r>
            <a:r>
              <a:rPr b="0" i="0" u="none" dirty="0" err="1">
                <a:solidFill>
                  <a:srgbClr val="115E59"/>
                </a:solidFill>
                <a:latin typeface="+mj-lt"/>
              </a:rPr>
              <a:t>Державы</a:t>
            </a:r>
            <a:r>
              <a:rPr b="0" i="0" u="none" dirty="0">
                <a:solidFill>
                  <a:srgbClr val="115E59"/>
                </a:solidFill>
                <a:latin typeface="+mj-lt"/>
              </a:rPr>
              <a:t>».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098" y="3684435"/>
            <a:ext cx="3581400" cy="1947862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3998" y="3684435"/>
            <a:ext cx="3581400" cy="194786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5898" y="3684435"/>
            <a:ext cx="3581400" cy="194786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81000" y="6534150"/>
            <a:ext cx="37713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05088"/>
                </a:solidFill>
                <a:latin typeface="DM Sans"/>
              </a:rPr>
              <a:t>ГУАП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617299" y="6534149"/>
            <a:ext cx="193702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 dirty="0">
                <a:solidFill>
                  <a:srgbClr val="64748B"/>
                </a:solidFill>
                <a:latin typeface="DM Sans"/>
              </a:rP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3400" y="419100"/>
            <a:ext cx="6790848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005088"/>
                </a:solidFill>
                <a:latin typeface="Merriweather"/>
              </a:rPr>
              <a:t>Важнейшие исторические события и победы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42450" y="457200"/>
            <a:ext cx="1816149" cy="2667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82598" y="3913035"/>
            <a:ext cx="3360420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/>
            <a:r>
              <a:rPr sz="1400" b="1" i="0" u="none">
                <a:solidFill>
                  <a:srgbClr val="005088"/>
                </a:solidFill>
                <a:latin typeface="Merriweather"/>
              </a:rPr>
              <a:t>Присоединение Югры (XVI в.)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2598" y="4227360"/>
            <a:ext cx="3200400" cy="12144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1912"/>
              </a:lnSpc>
            </a:pPr>
            <a:r>
              <a:rPr sz="1400" b="0" i="0" u="none">
                <a:solidFill>
                  <a:srgbClr val="334155"/>
                </a:solidFill>
                <a:latin typeface="+mj-lt"/>
              </a:rPr>
              <a:t>Походы Ермака и сибирских казаков, основание старейших форпостов России — Березова (1593 г.) и Сургута (1594 г.), ставших опорными пунктами продвижения в Сибирь.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54498" y="3913035"/>
            <a:ext cx="3360420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/>
            <a:r>
              <a:rPr sz="1400" b="1" i="0" u="none">
                <a:solidFill>
                  <a:srgbClr val="005088"/>
                </a:solidFill>
                <a:latin typeface="Merriweather"/>
              </a:rPr>
              <a:t>Трудовой фронт в ВОВ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54498" y="4227360"/>
            <a:ext cx="3200400" cy="12144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1912"/>
              </a:lnSpc>
            </a:pPr>
            <a:r>
              <a:rPr sz="1400" b="0" i="0" u="none">
                <a:solidFill>
                  <a:srgbClr val="334155"/>
                </a:solidFill>
                <a:latin typeface="+mj-lt"/>
              </a:rPr>
              <a:t>Югра дала фронту миллионы банок рыбных консервов, тонны ценной пушнины, авиационную древесину. Тысячи коренных жителей и сибиряков проявили героизм в боях за Родину.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6398" y="3913035"/>
            <a:ext cx="3360420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/>
            <a:r>
              <a:rPr sz="1400" b="1" i="0" u="none">
                <a:solidFill>
                  <a:srgbClr val="005088"/>
                </a:solidFill>
                <a:latin typeface="Merriweather"/>
              </a:rPr>
              <a:t>Открытие Самотлора (1965 г.)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6398" y="4227360"/>
            <a:ext cx="3200400" cy="12144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1912"/>
              </a:lnSpc>
            </a:pPr>
            <a:r>
              <a:rPr sz="1400" b="0" i="0" u="none">
                <a:solidFill>
                  <a:srgbClr val="334155"/>
                </a:solidFill>
                <a:latin typeface="+mj-lt"/>
              </a:rPr>
              <a:t>Бурение скважины Р-1 открыло легендарное Самотлорское месторождение — одно из крупнейших в истории человечества, изменившее геополитический вес СССР и РФ.</a:t>
            </a:r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3450FB88-9E9C-41BA-B598-0A82809682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0796" y="1225703"/>
            <a:ext cx="3723770" cy="2080904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>
            <a:extLst>
              <a:ext uri="{FF2B5EF4-FFF2-40B4-BE49-F238E27FC236}">
                <a16:creationId xmlns:a16="http://schemas.microsoft.com/office/drawing/2014/main" id="{614C3620-2334-47CD-BF7D-C61F5B3BE6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33826" y="1099335"/>
            <a:ext cx="3611572" cy="2317209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0" name="Picture 6" descr="Picture background">
            <a:extLst>
              <a:ext uri="{FF2B5EF4-FFF2-40B4-BE49-F238E27FC236}">
                <a16:creationId xmlns:a16="http://schemas.microsoft.com/office/drawing/2014/main" id="{E4A271BF-55EC-4AC4-AA80-583A3743FC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5898" y="1111790"/>
            <a:ext cx="3550920" cy="2317209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3665734"/>
            <a:ext cx="3581400" cy="219075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5300" y="3665734"/>
            <a:ext cx="3581400" cy="21907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7200" y="3665734"/>
            <a:ext cx="3581400" cy="21907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81000" y="6534150"/>
            <a:ext cx="37713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05088"/>
                </a:solidFill>
                <a:latin typeface="DM Sans"/>
              </a:rPr>
              <a:t>ГУАП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628120" y="6534149"/>
            <a:ext cx="18288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 dirty="0">
                <a:solidFill>
                  <a:srgbClr val="64748B"/>
                </a:solidFill>
                <a:latin typeface="DM Sans"/>
              </a:rP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3400" y="419100"/>
            <a:ext cx="5560695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005088"/>
                </a:solidFill>
                <a:latin typeface="Merriweather"/>
              </a:rPr>
              <a:t>Портреты выдающихся людей Югры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04350" y="457200"/>
            <a:ext cx="1854249" cy="2667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23900" y="3894334"/>
            <a:ext cx="3360420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u="none">
                <a:solidFill>
                  <a:srgbClr val="005088"/>
                </a:solidFill>
                <a:latin typeface="Merriweather"/>
              </a:rPr>
              <a:t>Юван Шесталов (1937–2011)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3900" y="4208659"/>
            <a:ext cx="3200400" cy="1457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1912"/>
              </a:lnSpc>
            </a:pPr>
            <a:r>
              <a:rPr sz="1400" b="0" i="0" u="none">
                <a:solidFill>
                  <a:srgbClr val="334155"/>
                </a:solidFill>
                <a:latin typeface="+mj-lt"/>
              </a:rPr>
              <a:t>Первый всемирно признанный мансийский писатель и поэт. Его произведения («Языческая поэма», «Тайна Сорни-Най») открыли миру глубокую культуру и философию обских угров.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95800" y="3894334"/>
            <a:ext cx="3360420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u="none">
                <a:solidFill>
                  <a:srgbClr val="005088"/>
                </a:solidFill>
                <a:latin typeface="Merriweather"/>
              </a:rPr>
              <a:t>Виктор Муравленко (1912–1977)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95800" y="4208659"/>
            <a:ext cx="3200400" cy="12144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1912"/>
              </a:lnSpc>
            </a:pPr>
            <a:r>
              <a:rPr sz="1400" b="0" i="0" u="none" dirty="0" err="1">
                <a:solidFill>
                  <a:srgbClr val="334155"/>
                </a:solidFill>
                <a:latin typeface="+mj-lt"/>
              </a:rPr>
              <a:t>Легендарный</a:t>
            </a:r>
            <a:r>
              <a:rPr sz="1400" b="0" i="0" u="none" dirty="0">
                <a:solidFill>
                  <a:srgbClr val="334155"/>
                </a:solidFill>
                <a:latin typeface="+mj-lt"/>
              </a:rPr>
              <a:t> </a:t>
            </a:r>
            <a:r>
              <a:rPr sz="1400" b="0" i="0" u="none" dirty="0" err="1">
                <a:solidFill>
                  <a:srgbClr val="334155"/>
                </a:solidFill>
                <a:latin typeface="+mj-lt"/>
              </a:rPr>
              <a:t>руководитель</a:t>
            </a:r>
            <a:r>
              <a:rPr sz="1400" b="0" i="0" u="none" dirty="0">
                <a:solidFill>
                  <a:srgbClr val="334155"/>
                </a:solidFill>
                <a:latin typeface="+mj-lt"/>
              </a:rPr>
              <a:t> «</a:t>
            </a:r>
            <a:r>
              <a:rPr sz="1400" b="0" i="0" u="none" dirty="0" err="1">
                <a:solidFill>
                  <a:srgbClr val="334155"/>
                </a:solidFill>
                <a:latin typeface="+mj-lt"/>
              </a:rPr>
              <a:t>Главтюменьнефтегаза</a:t>
            </a:r>
            <a:r>
              <a:rPr sz="1400" b="0" i="0" u="none" dirty="0">
                <a:solidFill>
                  <a:srgbClr val="334155"/>
                </a:solidFill>
                <a:latin typeface="+mj-lt"/>
              </a:rPr>
              <a:t>». </a:t>
            </a:r>
            <a:r>
              <a:rPr sz="1400" b="0" i="0" u="none" dirty="0" err="1">
                <a:solidFill>
                  <a:srgbClr val="334155"/>
                </a:solidFill>
                <a:latin typeface="+mj-lt"/>
              </a:rPr>
              <a:t>Организатор</a:t>
            </a:r>
            <a:r>
              <a:rPr sz="1400" b="0" i="0" u="none" dirty="0">
                <a:solidFill>
                  <a:srgbClr val="334155"/>
                </a:solidFill>
                <a:latin typeface="+mj-lt"/>
              </a:rPr>
              <a:t> </a:t>
            </a:r>
            <a:r>
              <a:rPr sz="1400" b="0" i="0" u="none" dirty="0" err="1">
                <a:solidFill>
                  <a:srgbClr val="334155"/>
                </a:solidFill>
                <a:latin typeface="+mj-lt"/>
              </a:rPr>
              <a:t>гигантской</a:t>
            </a:r>
            <a:r>
              <a:rPr sz="1400" b="0" i="0" u="none" dirty="0">
                <a:solidFill>
                  <a:srgbClr val="334155"/>
                </a:solidFill>
                <a:latin typeface="+mj-lt"/>
              </a:rPr>
              <a:t> </a:t>
            </a:r>
            <a:r>
              <a:rPr sz="1400" b="0" i="0" u="none" dirty="0" err="1">
                <a:solidFill>
                  <a:srgbClr val="334155"/>
                </a:solidFill>
                <a:latin typeface="+mj-lt"/>
              </a:rPr>
              <a:t>стройки</a:t>
            </a:r>
            <a:r>
              <a:rPr sz="1400" b="0" i="0" u="none" dirty="0">
                <a:solidFill>
                  <a:srgbClr val="334155"/>
                </a:solidFill>
                <a:latin typeface="+mj-lt"/>
              </a:rPr>
              <a:t> </a:t>
            </a:r>
            <a:r>
              <a:rPr sz="1400" b="0" i="0" u="none" dirty="0" err="1">
                <a:solidFill>
                  <a:srgbClr val="334155"/>
                </a:solidFill>
                <a:latin typeface="+mj-lt"/>
              </a:rPr>
              <a:t>Западно-Сибирского</a:t>
            </a:r>
            <a:r>
              <a:rPr sz="1400" b="0" i="0" u="none" dirty="0">
                <a:solidFill>
                  <a:srgbClr val="334155"/>
                </a:solidFill>
                <a:latin typeface="+mj-lt"/>
              </a:rPr>
              <a:t> ТЭК в </a:t>
            </a:r>
            <a:r>
              <a:rPr sz="1400" b="0" i="0" u="none" dirty="0" err="1">
                <a:solidFill>
                  <a:srgbClr val="334155"/>
                </a:solidFill>
                <a:latin typeface="+mj-lt"/>
              </a:rPr>
              <a:t>сложнейших</a:t>
            </a:r>
            <a:r>
              <a:rPr sz="1400" b="0" i="0" u="none" dirty="0">
                <a:solidFill>
                  <a:srgbClr val="334155"/>
                </a:solidFill>
                <a:latin typeface="+mj-lt"/>
              </a:rPr>
              <a:t> </a:t>
            </a:r>
            <a:r>
              <a:rPr sz="1400" b="0" i="0" u="none" dirty="0" err="1">
                <a:solidFill>
                  <a:srgbClr val="334155"/>
                </a:solidFill>
                <a:latin typeface="+mj-lt"/>
              </a:rPr>
              <a:t>таежно-болотных</a:t>
            </a:r>
            <a:r>
              <a:rPr sz="1400" b="0" i="0" u="none" dirty="0">
                <a:solidFill>
                  <a:srgbClr val="334155"/>
                </a:solidFill>
                <a:latin typeface="+mj-lt"/>
              </a:rPr>
              <a:t> </a:t>
            </a:r>
            <a:r>
              <a:rPr sz="1400" b="0" i="0" u="none" dirty="0" err="1">
                <a:solidFill>
                  <a:srgbClr val="334155"/>
                </a:solidFill>
                <a:latin typeface="+mj-lt"/>
              </a:rPr>
              <a:t>условиях</a:t>
            </a:r>
            <a:r>
              <a:rPr lang="en-US" sz="1400" dirty="0">
                <a:solidFill>
                  <a:srgbClr val="334155"/>
                </a:solidFill>
                <a:latin typeface="+mj-lt"/>
              </a:rPr>
              <a:t> </a:t>
            </a:r>
            <a:r>
              <a:rPr sz="1400" b="0" i="0" u="none" dirty="0" err="1">
                <a:solidFill>
                  <a:srgbClr val="334155"/>
                </a:solidFill>
                <a:latin typeface="+mj-lt"/>
              </a:rPr>
              <a:t>севера</a:t>
            </a:r>
            <a:r>
              <a:rPr sz="1400" b="0" i="0" u="none" dirty="0">
                <a:solidFill>
                  <a:srgbClr val="334155"/>
                </a:solidFill>
                <a:latin typeface="+mj-lt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67700" y="3894334"/>
            <a:ext cx="3360420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u="none">
                <a:solidFill>
                  <a:srgbClr val="005088"/>
                </a:solidFill>
                <a:latin typeface="Merriweather"/>
              </a:rPr>
              <a:t>Александр Филипенко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67700" y="4208659"/>
            <a:ext cx="3200400" cy="12047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1912"/>
              </a:lnSpc>
            </a:pPr>
            <a:r>
              <a:rPr sz="1400" b="0" i="0" u="none">
                <a:solidFill>
                  <a:srgbClr val="334155"/>
                </a:solidFill>
                <a:latin typeface="+mj-lt"/>
              </a:rPr>
              <a:t>Первый губернатор ХМАО (1995–2010). Превратил округ из вахтового сырьевого придатка в комфортный, цветущий регион с передовой культурой, спортом и наукой.</a:t>
            </a: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B5ADDFD1-EBBF-4605-9FF5-58222885AED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835" r="12201"/>
          <a:stretch/>
        </p:blipFill>
        <p:spPr bwMode="auto">
          <a:xfrm>
            <a:off x="533400" y="927992"/>
            <a:ext cx="3550920" cy="2571750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>
            <a:extLst>
              <a:ext uri="{FF2B5EF4-FFF2-40B4-BE49-F238E27FC236}">
                <a16:creationId xmlns:a16="http://schemas.microsoft.com/office/drawing/2014/main" id="{BA17069A-C4D6-451A-88DA-C6B2183A9A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05300" y="907176"/>
            <a:ext cx="3550920" cy="2571750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4" name="Picture 6">
            <a:extLst>
              <a:ext uri="{FF2B5EF4-FFF2-40B4-BE49-F238E27FC236}">
                <a16:creationId xmlns:a16="http://schemas.microsoft.com/office/drawing/2014/main" id="{FA8F67BF-71B3-44FF-B896-A6D6E31EE3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6619" y="907175"/>
            <a:ext cx="3690299" cy="2571749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81000" y="6534150"/>
            <a:ext cx="37713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05088"/>
                </a:solidFill>
                <a:latin typeface="DM Sans"/>
              </a:rPr>
              <a:t>ГУАП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99524" y="6544424"/>
            <a:ext cx="211476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64748B"/>
                </a:solidFill>
                <a:latin typeface="DM Sans"/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400" y="419100"/>
            <a:ext cx="8081481" cy="3231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 dirty="0" err="1">
                <a:solidFill>
                  <a:srgbClr val="005088"/>
                </a:solidFill>
                <a:latin typeface="Merriweather"/>
              </a:rPr>
              <a:t>Личность</a:t>
            </a:r>
            <a:r>
              <a:rPr sz="2100" b="1" i="0" u="none" dirty="0">
                <a:solidFill>
                  <a:srgbClr val="005088"/>
                </a:solidFill>
                <a:latin typeface="Merriweather"/>
              </a:rPr>
              <a:t> </a:t>
            </a:r>
            <a:r>
              <a:rPr sz="2100" b="1" i="0" u="none" dirty="0" err="1">
                <a:solidFill>
                  <a:srgbClr val="005088"/>
                </a:solidFill>
                <a:latin typeface="Merriweather"/>
              </a:rPr>
              <a:t>региона</a:t>
            </a:r>
            <a:r>
              <a:rPr sz="2100" b="1" i="0" u="none" dirty="0">
                <a:solidFill>
                  <a:srgbClr val="005088"/>
                </a:solidFill>
                <a:latin typeface="Merriweather"/>
              </a:rPr>
              <a:t>:</a:t>
            </a:r>
            <a:r>
              <a:rPr lang="ru-RU" sz="2100" b="1" i="0" u="none" dirty="0">
                <a:solidFill>
                  <a:srgbClr val="005088"/>
                </a:solidFill>
                <a:latin typeface="Merriweather"/>
              </a:rPr>
              <a:t>Григорий Иванович </a:t>
            </a:r>
            <a:r>
              <a:rPr lang="ru-RU" sz="2100" b="1" i="0" u="none" dirty="0" err="1">
                <a:solidFill>
                  <a:srgbClr val="005088"/>
                </a:solidFill>
                <a:latin typeface="Merriweather"/>
              </a:rPr>
              <a:t>Норкин</a:t>
            </a:r>
            <a:endParaRPr sz="2100" b="1" i="0" u="none" dirty="0">
              <a:solidFill>
                <a:srgbClr val="005088"/>
              </a:solidFill>
              <a:latin typeface="Merriweather"/>
            </a:endParaRP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49507" y="457200"/>
            <a:ext cx="1309092" cy="2667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40933" y="1723405"/>
            <a:ext cx="5162550" cy="3411190"/>
          </a:xfrm>
          <a:prstGeom prst="rect">
            <a:avLst/>
          </a:prstGeom>
          <a:noFill/>
        </p:spPr>
        <p:txBody>
          <a:bodyPr wrap="square" lIns="57150" tIns="0" rIns="0" bIns="0" anchor="t">
            <a:spAutoFit/>
          </a:bodyPr>
          <a:lstStyle/>
          <a:p>
            <a:pPr marL="285750" indent="-285750" algn="just">
              <a:lnSpc>
                <a:spcPts val="1912"/>
              </a:lnSpc>
              <a:buFont typeface="Arial" panose="020B0604020202020204" pitchFamily="34" charset="0"/>
              <a:buChar char="•"/>
            </a:pPr>
            <a:r>
              <a:rPr lang="ru-RU" sz="1600" b="0" i="1" u="none" dirty="0">
                <a:solidFill>
                  <a:srgbClr val="33415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Краткая биография:</a:t>
            </a:r>
            <a:r>
              <a:rPr lang="ru-RU" sz="1600" b="0" i="0" u="none" dirty="0">
                <a:solidFill>
                  <a:srgbClr val="334155"/>
                </a:solidFill>
                <a:latin typeface="+mj-lt"/>
              </a:rPr>
              <a:t> родился в 1914 г. (с. Тургай). Ветеран ВОВ (танкист). С 1959 г. жил и работал на Севере (Мегион, Нижневартовск). Умер в 1980 г.</a:t>
            </a:r>
            <a:endParaRPr lang="en-US" sz="1600" b="0" i="0" u="none" dirty="0">
              <a:solidFill>
                <a:srgbClr val="334155"/>
              </a:solidFill>
              <a:latin typeface="+mj-lt"/>
            </a:endParaRPr>
          </a:p>
          <a:p>
            <a:pPr marL="285750" indent="-285750" algn="just">
              <a:lnSpc>
                <a:spcPts val="1912"/>
              </a:lnSpc>
              <a:buFont typeface="Arial" panose="020B0604020202020204" pitchFamily="34" charset="0"/>
              <a:buChar char="•"/>
            </a:pPr>
            <a:r>
              <a:rPr lang="ru-RU" sz="1600" b="0" i="1" u="none" dirty="0">
                <a:solidFill>
                  <a:srgbClr val="33415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Деятельность и достижение: </a:t>
            </a:r>
            <a:r>
              <a:rPr lang="ru-RU" sz="1600" dirty="0">
                <a:solidFill>
                  <a:srgbClr val="33415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б</a:t>
            </a:r>
            <a:r>
              <a:rPr lang="ru-RU" sz="1600" b="0" i="0" u="none" dirty="0">
                <a:solidFill>
                  <a:srgbClr val="334155"/>
                </a:solidFill>
                <a:latin typeface="+mj-lt"/>
              </a:rPr>
              <a:t>уровой мастер, разведчик недр. В 1965 г. его бригада пробурила скважину Р-1, открывшую </a:t>
            </a:r>
            <a:r>
              <a:rPr lang="ru-RU" sz="1600" b="0" i="0" u="none" dirty="0" err="1">
                <a:solidFill>
                  <a:srgbClr val="334155"/>
                </a:solidFill>
                <a:latin typeface="+mj-lt"/>
              </a:rPr>
              <a:t>Самотлор</a:t>
            </a:r>
            <a:r>
              <a:rPr lang="ru-RU" sz="1600" b="0" i="0" u="none" dirty="0">
                <a:solidFill>
                  <a:srgbClr val="334155"/>
                </a:solidFill>
                <a:latin typeface="+mj-lt"/>
              </a:rPr>
              <a:t> — крупнейшее в России нефтяное месторождение.</a:t>
            </a:r>
            <a:endParaRPr lang="en-US" sz="1600" b="0" i="0" u="none" dirty="0">
              <a:solidFill>
                <a:srgbClr val="334155"/>
              </a:solidFill>
              <a:latin typeface="+mj-lt"/>
            </a:endParaRPr>
          </a:p>
          <a:p>
            <a:pPr marL="285750" indent="-285750" algn="just">
              <a:lnSpc>
                <a:spcPts val="1912"/>
              </a:lnSpc>
              <a:buFont typeface="Arial" panose="020B0604020202020204" pitchFamily="34" charset="0"/>
              <a:buChar char="•"/>
            </a:pPr>
            <a:r>
              <a:rPr lang="ru-RU" sz="1600" b="0" i="1" u="none" dirty="0">
                <a:solidFill>
                  <a:srgbClr val="33415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Награды:</a:t>
            </a:r>
            <a:r>
              <a:rPr lang="ru-RU" sz="1600" b="0" i="0" u="none" dirty="0">
                <a:solidFill>
                  <a:srgbClr val="334155"/>
                </a:solidFill>
                <a:latin typeface="+mj-lt"/>
              </a:rPr>
              <a:t> почетный знак «Первооткрыватель месторождения», орден Трудового Красного Знамени, орден Отечественной войны I степени.</a:t>
            </a:r>
            <a:endParaRPr lang="en-US" sz="1600" b="0" i="0" u="none" dirty="0">
              <a:solidFill>
                <a:srgbClr val="334155"/>
              </a:solidFill>
              <a:latin typeface="+mj-lt"/>
            </a:endParaRPr>
          </a:p>
          <a:p>
            <a:pPr marL="285750" indent="-285750" algn="just">
              <a:lnSpc>
                <a:spcPts val="1912"/>
              </a:lnSpc>
              <a:buFont typeface="Arial" panose="020B0604020202020204" pitchFamily="34" charset="0"/>
              <a:buChar char="•"/>
            </a:pPr>
            <a:r>
              <a:rPr lang="ru-RU" sz="1600" b="0" i="1" u="none" dirty="0">
                <a:solidFill>
                  <a:srgbClr val="33415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Известность в регионе:</a:t>
            </a:r>
            <a:r>
              <a:rPr lang="ru-RU" sz="1600" b="0" i="0" u="none" dirty="0">
                <a:solidFill>
                  <a:srgbClr val="334155"/>
                </a:solidFill>
                <a:latin typeface="+mj-lt"/>
              </a:rPr>
              <a:t> </a:t>
            </a:r>
            <a:r>
              <a:rPr lang="ru-RU" sz="1600" dirty="0">
                <a:solidFill>
                  <a:srgbClr val="334155"/>
                </a:solidFill>
                <a:latin typeface="+mj-lt"/>
              </a:rPr>
              <a:t>герой</a:t>
            </a:r>
            <a:r>
              <a:rPr lang="ru-RU" sz="1600" b="0" i="0" u="none" dirty="0">
                <a:solidFill>
                  <a:srgbClr val="334155"/>
                </a:solidFill>
                <a:latin typeface="+mj-lt"/>
              </a:rPr>
              <a:t> Югры. В городе Мегионе (где он жил и трудился) в его честь названа улица Г.И. </a:t>
            </a:r>
            <a:r>
              <a:rPr lang="ru-RU" sz="1600" b="0" i="0" u="none" dirty="0" err="1">
                <a:solidFill>
                  <a:srgbClr val="334155"/>
                </a:solidFill>
                <a:latin typeface="+mj-lt"/>
              </a:rPr>
              <a:t>Норкина</a:t>
            </a:r>
            <a:r>
              <a:rPr lang="ru-RU" sz="1600" b="0" i="0" u="none" dirty="0">
                <a:solidFill>
                  <a:srgbClr val="334155"/>
                </a:solidFill>
                <a:latin typeface="+mj-lt"/>
              </a:rPr>
              <a:t>, а его трудовой подвиг навсегда вписан в историю освоения Сибири.</a:t>
            </a:r>
            <a:endParaRPr sz="1600" b="0" i="0" u="none" dirty="0">
              <a:solidFill>
                <a:srgbClr val="334155"/>
              </a:solidFill>
              <a:latin typeface="+mj-lt"/>
            </a:endParaRPr>
          </a:p>
        </p:txBody>
      </p:sp>
      <p:pic>
        <p:nvPicPr>
          <p:cNvPr id="8194" name="Picture 2" descr="Picture background">
            <a:extLst>
              <a:ext uri="{FF2B5EF4-FFF2-40B4-BE49-F238E27FC236}">
                <a16:creationId xmlns:a16="http://schemas.microsoft.com/office/drawing/2014/main" id="{09B6C617-3D62-4148-B46D-42456B9839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50051" y="1168309"/>
            <a:ext cx="4554002" cy="4256445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2595562"/>
            <a:ext cx="3581400" cy="2409825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5300" y="2595562"/>
            <a:ext cx="3581400" cy="24098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7200" y="2595562"/>
            <a:ext cx="3581400" cy="24098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81000" y="6534150"/>
            <a:ext cx="37713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05088"/>
                </a:solidFill>
                <a:latin typeface="DM Sans"/>
              </a:rPr>
              <a:t>ГУАП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628120" y="6534150"/>
            <a:ext cx="18288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 dirty="0">
                <a:solidFill>
                  <a:srgbClr val="64748B"/>
                </a:solidFill>
                <a:latin typeface="DM Sans"/>
              </a:rPr>
              <a:t>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3400" y="419100"/>
            <a:ext cx="5100637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005088"/>
                </a:solidFill>
                <a:latin typeface="Merriweather"/>
              </a:rPr>
              <a:t>Советы бывалого туристу в ХМАО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4960" y="457200"/>
            <a:ext cx="1493639" cy="2667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05747" y="2824162"/>
            <a:ext cx="3509053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 dirty="0" err="1">
                <a:solidFill>
                  <a:srgbClr val="005088"/>
                </a:solidFill>
                <a:latin typeface="Merriweather"/>
              </a:rPr>
              <a:t>Что</a:t>
            </a:r>
            <a:r>
              <a:rPr sz="1500" b="1" i="0" u="none" dirty="0">
                <a:solidFill>
                  <a:srgbClr val="005088"/>
                </a:solidFill>
                <a:latin typeface="Merriweather"/>
              </a:rPr>
              <a:t> </a:t>
            </a:r>
            <a:r>
              <a:rPr sz="1500" b="1" i="0" u="none" dirty="0" err="1">
                <a:solidFill>
                  <a:srgbClr val="005088"/>
                </a:solidFill>
                <a:latin typeface="Merriweather"/>
              </a:rPr>
              <a:t>понадобится</a:t>
            </a:r>
            <a:r>
              <a:rPr sz="1500" b="1" i="0" u="none" dirty="0">
                <a:solidFill>
                  <a:srgbClr val="005088"/>
                </a:solidFill>
                <a:latin typeface="Merriweather"/>
              </a:rPr>
              <a:t> &amp; </a:t>
            </a:r>
            <a:r>
              <a:rPr sz="1500" b="1" i="0" u="none" dirty="0" err="1">
                <a:solidFill>
                  <a:srgbClr val="005088"/>
                </a:solidFill>
                <a:latin typeface="Merriweather"/>
              </a:rPr>
              <a:t>взять</a:t>
            </a:r>
            <a:r>
              <a:rPr sz="1500" b="1" i="0" u="none" dirty="0">
                <a:solidFill>
                  <a:srgbClr val="005088"/>
                </a:solidFill>
                <a:latin typeface="Merriweather"/>
              </a:rPr>
              <a:t> с </a:t>
            </a:r>
            <a:r>
              <a:rPr sz="1500" b="1" i="0" u="none" dirty="0" err="1">
                <a:solidFill>
                  <a:srgbClr val="005088"/>
                </a:solidFill>
                <a:latin typeface="Merriweather"/>
              </a:rPr>
              <a:t>собой</a:t>
            </a:r>
            <a:endParaRPr sz="1500" b="1" i="0" u="none" dirty="0">
              <a:solidFill>
                <a:srgbClr val="005088"/>
              </a:solidFill>
              <a:latin typeface="Merriweather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05747" y="3134833"/>
            <a:ext cx="3200400" cy="1695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1912"/>
              </a:lnSpc>
            </a:pPr>
            <a:r>
              <a:rPr sz="1500" b="0" i="0" u="none" dirty="0" err="1">
                <a:solidFill>
                  <a:srgbClr val="334155"/>
                </a:solidFill>
                <a:latin typeface="+mj-lt"/>
              </a:rPr>
              <a:t>Многослойная</a:t>
            </a:r>
            <a:r>
              <a:rPr sz="1500" b="0" i="0" u="none" dirty="0">
                <a:solidFill>
                  <a:srgbClr val="334155"/>
                </a:solidFill>
                <a:latin typeface="+mj-lt"/>
              </a:rPr>
              <a:t> </a:t>
            </a:r>
            <a:r>
              <a:rPr sz="1500" b="0" i="0" u="none" dirty="0" err="1">
                <a:solidFill>
                  <a:srgbClr val="334155"/>
                </a:solidFill>
                <a:latin typeface="+mj-lt"/>
              </a:rPr>
              <a:t>термоодежда</a:t>
            </a:r>
            <a:r>
              <a:rPr sz="1500" b="0" i="0" u="none" dirty="0">
                <a:solidFill>
                  <a:srgbClr val="334155"/>
                </a:solidFill>
                <a:latin typeface="+mj-lt"/>
              </a:rPr>
              <a:t> и </a:t>
            </a:r>
            <a:r>
              <a:rPr sz="1500" b="0" i="0" u="none" dirty="0" err="1">
                <a:solidFill>
                  <a:srgbClr val="334155"/>
                </a:solidFill>
                <a:latin typeface="+mj-lt"/>
              </a:rPr>
              <a:t>ветрозащитный</a:t>
            </a:r>
            <a:r>
              <a:rPr sz="1500" b="0" i="0" u="none" dirty="0">
                <a:solidFill>
                  <a:srgbClr val="334155"/>
                </a:solidFill>
                <a:latin typeface="+mj-lt"/>
              </a:rPr>
              <a:t> </a:t>
            </a:r>
            <a:r>
              <a:rPr sz="1500" b="0" i="0" u="none" dirty="0" err="1">
                <a:solidFill>
                  <a:srgbClr val="334155"/>
                </a:solidFill>
                <a:latin typeface="+mj-lt"/>
              </a:rPr>
              <a:t>пуховик</a:t>
            </a:r>
            <a:r>
              <a:rPr sz="1500" b="0" i="0" u="none" dirty="0">
                <a:solidFill>
                  <a:srgbClr val="334155"/>
                </a:solidFill>
                <a:latin typeface="+mj-lt"/>
              </a:rPr>
              <a:t> (</a:t>
            </a:r>
            <a:r>
              <a:rPr sz="1500" b="0" i="0" u="none" dirty="0" err="1">
                <a:solidFill>
                  <a:srgbClr val="334155"/>
                </a:solidFill>
                <a:latin typeface="+mj-lt"/>
              </a:rPr>
              <a:t>зимой</a:t>
            </a:r>
            <a:r>
              <a:rPr sz="1500" b="0" i="0" u="none" dirty="0">
                <a:solidFill>
                  <a:srgbClr val="334155"/>
                </a:solidFill>
                <a:latin typeface="+mj-lt"/>
              </a:rPr>
              <a:t>),</a:t>
            </a:r>
            <a:r>
              <a:rPr lang="en-US" sz="1500" b="0" i="0" u="none" dirty="0">
                <a:solidFill>
                  <a:srgbClr val="334155"/>
                </a:solidFill>
                <a:latin typeface="+mj-lt"/>
              </a:rPr>
              <a:t> </a:t>
            </a:r>
            <a:r>
              <a:rPr lang="ru-RU" sz="1500" b="0" i="0" u="none" dirty="0">
                <a:solidFill>
                  <a:srgbClr val="334155"/>
                </a:solidFill>
                <a:latin typeface="+mj-lt"/>
              </a:rPr>
              <a:t>так температура может опускаться до -50 градусов.</a:t>
            </a:r>
            <a:r>
              <a:rPr sz="1500" b="0" i="0" u="none" dirty="0">
                <a:solidFill>
                  <a:srgbClr val="334155"/>
                </a:solidFill>
                <a:latin typeface="+mj-lt"/>
              </a:rPr>
              <a:t> </a:t>
            </a:r>
            <a:r>
              <a:rPr lang="ru-RU" sz="1500" b="0" i="0" u="none" dirty="0">
                <a:solidFill>
                  <a:srgbClr val="334155"/>
                </a:solidFill>
                <a:latin typeface="+mj-lt"/>
              </a:rPr>
              <a:t>Летом возьмите с собой спреи от мошек и комаров, так как из-за болотистой местности их очень много.</a:t>
            </a:r>
            <a:endParaRPr sz="1500" b="0" i="0" u="none" dirty="0">
              <a:solidFill>
                <a:srgbClr val="334155"/>
              </a:solidFill>
              <a:latin typeface="+mj-lt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495800" y="2824162"/>
            <a:ext cx="3360420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05088"/>
                </a:solidFill>
                <a:latin typeface="Merriweather"/>
              </a:rPr>
              <a:t>Обязательно посетите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95800" y="3138487"/>
            <a:ext cx="3200400" cy="14518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1912"/>
              </a:lnSpc>
            </a:pPr>
            <a:r>
              <a:rPr sz="1500" b="0" i="0" u="none" dirty="0" err="1">
                <a:solidFill>
                  <a:srgbClr val="334155"/>
                </a:solidFill>
                <a:latin typeface="+mj-lt"/>
              </a:rPr>
              <a:t>Археопарк</a:t>
            </a:r>
            <a:r>
              <a:rPr sz="1500" b="0" i="0" u="none" dirty="0">
                <a:solidFill>
                  <a:srgbClr val="334155"/>
                </a:solidFill>
                <a:latin typeface="+mj-lt"/>
              </a:rPr>
              <a:t> и </a:t>
            </a:r>
            <a:r>
              <a:rPr sz="1500" b="0" i="0" u="none" dirty="0" err="1">
                <a:solidFill>
                  <a:srgbClr val="334155"/>
                </a:solidFill>
                <a:latin typeface="+mj-lt"/>
              </a:rPr>
              <a:t>музей</a:t>
            </a:r>
            <a:r>
              <a:rPr sz="1500" b="0" i="0" u="none" dirty="0">
                <a:solidFill>
                  <a:srgbClr val="334155"/>
                </a:solidFill>
                <a:latin typeface="+mj-lt"/>
              </a:rPr>
              <a:t> «</a:t>
            </a:r>
            <a:r>
              <a:rPr sz="1500" b="0" i="0" u="none" dirty="0" err="1">
                <a:solidFill>
                  <a:srgbClr val="334155"/>
                </a:solidFill>
                <a:latin typeface="+mj-lt"/>
              </a:rPr>
              <a:t>Торум</a:t>
            </a:r>
            <a:r>
              <a:rPr sz="1500" b="0" i="0" u="none" dirty="0">
                <a:solidFill>
                  <a:srgbClr val="334155"/>
                </a:solidFill>
                <a:latin typeface="+mj-lt"/>
              </a:rPr>
              <a:t> </a:t>
            </a:r>
            <a:r>
              <a:rPr sz="1500" b="0" i="0" u="none" dirty="0" err="1">
                <a:solidFill>
                  <a:srgbClr val="334155"/>
                </a:solidFill>
                <a:latin typeface="+mj-lt"/>
              </a:rPr>
              <a:t>Маа</a:t>
            </a:r>
            <a:r>
              <a:rPr sz="1500" b="0" i="0" u="none" dirty="0">
                <a:solidFill>
                  <a:srgbClr val="334155"/>
                </a:solidFill>
                <a:latin typeface="+mj-lt"/>
              </a:rPr>
              <a:t>» в </a:t>
            </a:r>
            <a:r>
              <a:rPr sz="1500" b="0" i="0" u="none" dirty="0" err="1">
                <a:solidFill>
                  <a:srgbClr val="334155"/>
                </a:solidFill>
                <a:latin typeface="+mj-lt"/>
              </a:rPr>
              <a:t>Ханты-Мансийске</a:t>
            </a:r>
            <a:r>
              <a:rPr sz="1500" b="0" i="0" u="none" dirty="0">
                <a:solidFill>
                  <a:srgbClr val="334155"/>
                </a:solidFill>
                <a:latin typeface="+mj-lt"/>
              </a:rPr>
              <a:t>, </a:t>
            </a:r>
            <a:r>
              <a:rPr sz="1500" b="0" i="0" u="none" dirty="0" err="1">
                <a:solidFill>
                  <a:srgbClr val="334155"/>
                </a:solidFill>
                <a:latin typeface="+mj-lt"/>
              </a:rPr>
              <a:t>Сургутский</a:t>
            </a:r>
            <a:r>
              <a:rPr sz="1500" b="0" i="0" u="none" dirty="0">
                <a:solidFill>
                  <a:srgbClr val="334155"/>
                </a:solidFill>
                <a:latin typeface="+mj-lt"/>
              </a:rPr>
              <a:t> </a:t>
            </a:r>
            <a:r>
              <a:rPr sz="1500" b="0" i="0" u="none" dirty="0" err="1">
                <a:solidFill>
                  <a:srgbClr val="334155"/>
                </a:solidFill>
                <a:latin typeface="+mj-lt"/>
              </a:rPr>
              <a:t>мост</a:t>
            </a:r>
            <a:r>
              <a:rPr sz="1500" b="0" i="0" u="none" dirty="0">
                <a:solidFill>
                  <a:srgbClr val="334155"/>
                </a:solidFill>
                <a:latin typeface="+mj-lt"/>
              </a:rPr>
              <a:t> </a:t>
            </a:r>
            <a:r>
              <a:rPr sz="1500" b="0" i="0" u="none" dirty="0" err="1">
                <a:solidFill>
                  <a:srgbClr val="334155"/>
                </a:solidFill>
                <a:latin typeface="+mj-lt"/>
              </a:rPr>
              <a:t>через</a:t>
            </a:r>
            <a:r>
              <a:rPr sz="1500" b="0" i="0" u="none" dirty="0">
                <a:solidFill>
                  <a:srgbClr val="334155"/>
                </a:solidFill>
                <a:latin typeface="+mj-lt"/>
              </a:rPr>
              <a:t> </a:t>
            </a:r>
            <a:r>
              <a:rPr sz="1500" b="0" i="0" u="none" dirty="0" err="1">
                <a:solidFill>
                  <a:srgbClr val="334155"/>
                </a:solidFill>
                <a:latin typeface="+mj-lt"/>
              </a:rPr>
              <a:t>Обь</a:t>
            </a:r>
            <a:r>
              <a:rPr sz="1500" b="0" i="0" u="none" dirty="0">
                <a:solidFill>
                  <a:srgbClr val="334155"/>
                </a:solidFill>
                <a:latin typeface="+mj-lt"/>
              </a:rPr>
              <a:t>, </a:t>
            </a:r>
            <a:r>
              <a:rPr sz="1500" b="0" i="0" u="none" dirty="0" err="1">
                <a:solidFill>
                  <a:srgbClr val="334155"/>
                </a:solidFill>
                <a:latin typeface="+mj-lt"/>
              </a:rPr>
              <a:t>историко-культурный</a:t>
            </a:r>
            <a:r>
              <a:rPr sz="1500" b="0" i="0" u="none" dirty="0">
                <a:solidFill>
                  <a:srgbClr val="334155"/>
                </a:solidFill>
                <a:latin typeface="+mj-lt"/>
              </a:rPr>
              <a:t> </a:t>
            </a:r>
            <a:r>
              <a:rPr sz="1500" b="0" i="0" u="none" dirty="0" err="1">
                <a:solidFill>
                  <a:srgbClr val="334155"/>
                </a:solidFill>
                <a:latin typeface="+mj-lt"/>
              </a:rPr>
              <a:t>научно-производственный</a:t>
            </a:r>
            <a:r>
              <a:rPr sz="1500" b="0" i="0" u="none" dirty="0">
                <a:solidFill>
                  <a:srgbClr val="334155"/>
                </a:solidFill>
                <a:latin typeface="+mj-lt"/>
              </a:rPr>
              <a:t> </a:t>
            </a:r>
            <a:r>
              <a:rPr sz="1500" b="0" i="0" u="none" dirty="0" err="1">
                <a:solidFill>
                  <a:srgbClr val="334155"/>
                </a:solidFill>
                <a:latin typeface="+mj-lt"/>
              </a:rPr>
              <a:t>центр</a:t>
            </a:r>
            <a:r>
              <a:rPr sz="1500" b="0" i="0" u="none" dirty="0">
                <a:solidFill>
                  <a:srgbClr val="334155"/>
                </a:solidFill>
                <a:latin typeface="+mj-lt"/>
              </a:rPr>
              <a:t> «</a:t>
            </a:r>
            <a:r>
              <a:rPr sz="1500" b="0" i="0" u="none" dirty="0" err="1">
                <a:solidFill>
                  <a:srgbClr val="334155"/>
                </a:solidFill>
                <a:latin typeface="+mj-lt"/>
              </a:rPr>
              <a:t>Барсова</a:t>
            </a:r>
            <a:r>
              <a:rPr sz="1500" b="0" i="0" u="none" dirty="0">
                <a:solidFill>
                  <a:srgbClr val="334155"/>
                </a:solidFill>
                <a:latin typeface="+mj-lt"/>
              </a:rPr>
              <a:t> </a:t>
            </a:r>
            <a:r>
              <a:rPr sz="1500" b="0" i="0" u="none" dirty="0" err="1">
                <a:solidFill>
                  <a:srgbClr val="334155"/>
                </a:solidFill>
                <a:latin typeface="+mj-lt"/>
              </a:rPr>
              <a:t>гора</a:t>
            </a:r>
            <a:r>
              <a:rPr sz="1500" b="0" i="0" u="none" dirty="0">
                <a:solidFill>
                  <a:srgbClr val="334155"/>
                </a:solidFill>
                <a:latin typeface="+mj-lt"/>
              </a:rPr>
              <a:t>», </a:t>
            </a:r>
            <a:r>
              <a:rPr sz="1500" b="0" i="0" u="none" dirty="0" err="1">
                <a:solidFill>
                  <a:srgbClr val="334155"/>
                </a:solidFill>
                <a:latin typeface="+mj-lt"/>
              </a:rPr>
              <a:t>стойбище</a:t>
            </a:r>
            <a:r>
              <a:rPr sz="1500" b="0" i="0" u="none" dirty="0">
                <a:solidFill>
                  <a:srgbClr val="334155"/>
                </a:solidFill>
                <a:latin typeface="+mj-lt"/>
              </a:rPr>
              <a:t> </a:t>
            </a:r>
            <a:r>
              <a:rPr sz="1500" b="0" i="0" u="none" dirty="0" err="1">
                <a:solidFill>
                  <a:srgbClr val="334155"/>
                </a:solidFill>
                <a:latin typeface="+mj-lt"/>
              </a:rPr>
              <a:t>оленеводов</a:t>
            </a:r>
            <a:r>
              <a:rPr sz="1500" b="0" i="0" u="none" dirty="0">
                <a:solidFill>
                  <a:srgbClr val="334155"/>
                </a:solidFill>
                <a:latin typeface="+mj-lt"/>
              </a:rPr>
              <a:t> в </a:t>
            </a:r>
            <a:r>
              <a:rPr sz="1500" b="0" i="0" u="none" dirty="0" err="1">
                <a:solidFill>
                  <a:srgbClr val="334155"/>
                </a:solidFill>
                <a:latin typeface="+mj-lt"/>
              </a:rPr>
              <a:t>тайге</a:t>
            </a:r>
            <a:r>
              <a:rPr sz="1500" b="0" i="0" u="none" dirty="0">
                <a:solidFill>
                  <a:srgbClr val="334155"/>
                </a:solidFill>
                <a:latin typeface="+mj-lt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67700" y="2824162"/>
            <a:ext cx="336042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 dirty="0" err="1">
                <a:solidFill>
                  <a:srgbClr val="005088"/>
                </a:solidFill>
                <a:latin typeface="Merriweather"/>
              </a:rPr>
              <a:t>Обязательно</a:t>
            </a:r>
            <a:r>
              <a:rPr sz="1500" b="1" i="0" u="none" dirty="0">
                <a:solidFill>
                  <a:srgbClr val="005088"/>
                </a:solidFill>
                <a:latin typeface="Merriweather"/>
              </a:rPr>
              <a:t> </a:t>
            </a:r>
            <a:r>
              <a:rPr sz="1500" b="1" i="0" u="none" dirty="0" err="1">
                <a:solidFill>
                  <a:srgbClr val="005088"/>
                </a:solidFill>
                <a:latin typeface="Merriweather"/>
              </a:rPr>
              <a:t>попробуйте</a:t>
            </a:r>
            <a:r>
              <a:rPr sz="1500" b="1" i="0" u="none" dirty="0">
                <a:solidFill>
                  <a:srgbClr val="005088"/>
                </a:solidFill>
                <a:latin typeface="Merriweather"/>
              </a:rPr>
              <a:t> &amp; </a:t>
            </a:r>
            <a:r>
              <a:rPr sz="1500" b="1" i="0" u="none" dirty="0" err="1">
                <a:solidFill>
                  <a:srgbClr val="005088"/>
                </a:solidFill>
                <a:latin typeface="Merriweather"/>
              </a:rPr>
              <a:t>за</a:t>
            </a:r>
            <a:r>
              <a:rPr lang="ru-RU" sz="1500" b="1" i="0" u="none" dirty="0" err="1">
                <a:solidFill>
                  <a:srgbClr val="005088"/>
                </a:solidFill>
                <a:latin typeface="Merriweather"/>
              </a:rPr>
              <a:t>йдите</a:t>
            </a:r>
            <a:endParaRPr sz="1500" b="1" i="0" u="none" dirty="0">
              <a:solidFill>
                <a:srgbClr val="005088"/>
              </a:solidFill>
              <a:latin typeface="Merriweather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267700" y="3285827"/>
            <a:ext cx="3200400" cy="14518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1912"/>
              </a:lnSpc>
            </a:pPr>
            <a:r>
              <a:rPr sz="1500" b="1" i="0" u="none" dirty="0" err="1">
                <a:solidFill>
                  <a:srgbClr val="334155"/>
                </a:solidFill>
                <a:latin typeface="+mj-lt"/>
              </a:rPr>
              <a:t>Попробовать</a:t>
            </a:r>
            <a:r>
              <a:rPr sz="1500" b="1" i="0" u="none" dirty="0">
                <a:solidFill>
                  <a:srgbClr val="334155"/>
                </a:solidFill>
                <a:latin typeface="+mj-lt"/>
              </a:rPr>
              <a:t>:</a:t>
            </a:r>
            <a:r>
              <a:rPr sz="1500" b="0" i="0" u="none" dirty="0">
                <a:solidFill>
                  <a:srgbClr val="334155"/>
                </a:solidFill>
                <a:latin typeface="+mj-lt"/>
              </a:rPr>
              <a:t> </a:t>
            </a:r>
            <a:r>
              <a:rPr sz="1500" b="0" i="0" u="none" dirty="0" err="1">
                <a:solidFill>
                  <a:srgbClr val="334155"/>
                </a:solidFill>
                <a:latin typeface="+mj-lt"/>
              </a:rPr>
              <a:t>Строганину</a:t>
            </a:r>
            <a:r>
              <a:rPr sz="1500" b="0" i="0" u="none" dirty="0">
                <a:solidFill>
                  <a:srgbClr val="334155"/>
                </a:solidFill>
                <a:latin typeface="+mj-lt"/>
              </a:rPr>
              <a:t> </a:t>
            </a:r>
            <a:r>
              <a:rPr sz="1500" b="0" i="0" u="none" dirty="0" err="1">
                <a:solidFill>
                  <a:srgbClr val="334155"/>
                </a:solidFill>
                <a:latin typeface="+mj-lt"/>
              </a:rPr>
              <a:t>из</a:t>
            </a:r>
            <a:r>
              <a:rPr sz="1500" b="0" i="0" u="none" dirty="0">
                <a:solidFill>
                  <a:srgbClr val="334155"/>
                </a:solidFill>
                <a:latin typeface="+mj-lt"/>
              </a:rPr>
              <a:t> </a:t>
            </a:r>
            <a:r>
              <a:rPr sz="1500" b="0" i="0" u="none" dirty="0" err="1">
                <a:solidFill>
                  <a:srgbClr val="334155"/>
                </a:solidFill>
                <a:latin typeface="+mj-lt"/>
              </a:rPr>
              <a:t>муксуна</a:t>
            </a:r>
            <a:r>
              <a:rPr sz="1500" b="0" i="0" u="none" dirty="0">
                <a:solidFill>
                  <a:srgbClr val="334155"/>
                </a:solidFill>
                <a:latin typeface="+mj-lt"/>
              </a:rPr>
              <a:t> и </a:t>
            </a:r>
            <a:r>
              <a:rPr sz="1500" b="0" i="0" u="none" dirty="0" err="1">
                <a:solidFill>
                  <a:srgbClr val="334155"/>
                </a:solidFill>
                <a:latin typeface="+mj-lt"/>
              </a:rPr>
              <a:t>нельмы</a:t>
            </a:r>
            <a:r>
              <a:rPr sz="1500" b="0" i="0" u="none" dirty="0">
                <a:solidFill>
                  <a:srgbClr val="334155"/>
                </a:solidFill>
                <a:latin typeface="+mj-lt"/>
              </a:rPr>
              <a:t>, </a:t>
            </a:r>
            <a:r>
              <a:rPr sz="1500" b="0" i="0" u="none" dirty="0" err="1">
                <a:solidFill>
                  <a:srgbClr val="334155"/>
                </a:solidFill>
                <a:latin typeface="+mj-lt"/>
              </a:rPr>
              <a:t>суп</a:t>
            </a:r>
            <a:r>
              <a:rPr sz="1500" b="0" i="0" u="none" dirty="0">
                <a:solidFill>
                  <a:srgbClr val="334155"/>
                </a:solidFill>
                <a:latin typeface="+mj-lt"/>
              </a:rPr>
              <a:t> </a:t>
            </a:r>
            <a:r>
              <a:rPr sz="1500" b="0" i="0" u="none" dirty="0" err="1">
                <a:solidFill>
                  <a:srgbClr val="334155"/>
                </a:solidFill>
                <a:latin typeface="+mj-lt"/>
              </a:rPr>
              <a:t>из</a:t>
            </a:r>
            <a:r>
              <a:rPr sz="1500" b="0" i="0" u="none" dirty="0">
                <a:solidFill>
                  <a:srgbClr val="334155"/>
                </a:solidFill>
                <a:latin typeface="+mj-lt"/>
              </a:rPr>
              <a:t> </a:t>
            </a:r>
            <a:r>
              <a:rPr sz="1500" b="0" i="0" u="none" dirty="0" err="1">
                <a:solidFill>
                  <a:srgbClr val="334155"/>
                </a:solidFill>
                <a:latin typeface="+mj-lt"/>
              </a:rPr>
              <a:t>глухаря</a:t>
            </a:r>
            <a:r>
              <a:rPr sz="1500" b="0" i="0" u="none" dirty="0">
                <a:solidFill>
                  <a:srgbClr val="334155"/>
                </a:solidFill>
                <a:latin typeface="+mj-lt"/>
              </a:rPr>
              <a:t>, </a:t>
            </a:r>
            <a:r>
              <a:rPr sz="1500" b="0" i="0" u="none" dirty="0" err="1">
                <a:solidFill>
                  <a:srgbClr val="334155"/>
                </a:solidFill>
                <a:latin typeface="+mj-lt"/>
              </a:rPr>
              <a:t>жаркое</a:t>
            </a:r>
            <a:r>
              <a:rPr sz="1500" b="0" i="0" u="none" dirty="0">
                <a:solidFill>
                  <a:srgbClr val="334155"/>
                </a:solidFill>
                <a:latin typeface="+mj-lt"/>
              </a:rPr>
              <a:t> </a:t>
            </a:r>
            <a:r>
              <a:rPr sz="1500" b="0" i="0" u="none" dirty="0" err="1">
                <a:solidFill>
                  <a:srgbClr val="334155"/>
                </a:solidFill>
                <a:latin typeface="+mj-lt"/>
              </a:rPr>
              <a:t>из</a:t>
            </a:r>
            <a:r>
              <a:rPr sz="1500" b="0" i="0" u="none" dirty="0">
                <a:solidFill>
                  <a:srgbClr val="334155"/>
                </a:solidFill>
                <a:latin typeface="+mj-lt"/>
              </a:rPr>
              <a:t> </a:t>
            </a:r>
            <a:r>
              <a:rPr sz="1500" b="0" i="0" u="none" dirty="0" err="1">
                <a:solidFill>
                  <a:srgbClr val="334155"/>
                </a:solidFill>
                <a:latin typeface="+mj-lt"/>
              </a:rPr>
              <a:t>оленины</a:t>
            </a:r>
            <a:r>
              <a:rPr sz="1500" b="0" i="0" u="none" dirty="0">
                <a:solidFill>
                  <a:srgbClr val="334155"/>
                </a:solidFill>
                <a:latin typeface="+mj-lt"/>
              </a:rPr>
              <a:t>, </a:t>
            </a:r>
            <a:r>
              <a:rPr sz="1500" b="0" i="0" u="none" dirty="0" err="1">
                <a:solidFill>
                  <a:srgbClr val="334155"/>
                </a:solidFill>
                <a:latin typeface="+mj-lt"/>
              </a:rPr>
              <a:t>югорское</a:t>
            </a:r>
            <a:r>
              <a:rPr sz="1500" b="0" i="0" u="none" dirty="0">
                <a:solidFill>
                  <a:srgbClr val="334155"/>
                </a:solidFill>
                <a:latin typeface="+mj-lt"/>
              </a:rPr>
              <a:t> </a:t>
            </a:r>
            <a:r>
              <a:rPr sz="1500" b="0" i="0" u="none" dirty="0" err="1">
                <a:solidFill>
                  <a:srgbClr val="334155"/>
                </a:solidFill>
                <a:latin typeface="+mj-lt"/>
              </a:rPr>
              <a:t>кедровое</a:t>
            </a:r>
            <a:r>
              <a:rPr sz="1500" b="0" i="0" u="none" dirty="0">
                <a:solidFill>
                  <a:srgbClr val="334155"/>
                </a:solidFill>
                <a:latin typeface="+mj-lt"/>
              </a:rPr>
              <a:t> </a:t>
            </a:r>
            <a:r>
              <a:rPr sz="1500" b="0" i="0" u="none" dirty="0" err="1">
                <a:solidFill>
                  <a:srgbClr val="334155"/>
                </a:solidFill>
                <a:latin typeface="+mj-lt"/>
              </a:rPr>
              <a:t>мороженое</a:t>
            </a:r>
            <a:r>
              <a:rPr sz="1500" b="0" i="0" u="none" dirty="0">
                <a:solidFill>
                  <a:srgbClr val="334155"/>
                </a:solidFill>
                <a:latin typeface="+mj-lt"/>
              </a:rPr>
              <a:t> и </a:t>
            </a:r>
            <a:r>
              <a:rPr sz="1500" b="0" i="0" u="none" dirty="0" err="1">
                <a:solidFill>
                  <a:srgbClr val="334155"/>
                </a:solidFill>
                <a:latin typeface="+mj-lt"/>
              </a:rPr>
              <a:t>морс</a:t>
            </a:r>
            <a:r>
              <a:rPr sz="1500" b="0" i="0" u="none" dirty="0">
                <a:solidFill>
                  <a:srgbClr val="334155"/>
                </a:solidFill>
                <a:latin typeface="+mj-lt"/>
              </a:rPr>
              <a:t> </a:t>
            </a:r>
            <a:r>
              <a:rPr sz="1500" b="0" i="0" u="none" dirty="0" err="1">
                <a:solidFill>
                  <a:srgbClr val="334155"/>
                </a:solidFill>
                <a:latin typeface="+mj-lt"/>
              </a:rPr>
              <a:t>из</a:t>
            </a:r>
            <a:r>
              <a:rPr sz="1500" b="0" i="0" u="none" dirty="0">
                <a:solidFill>
                  <a:srgbClr val="334155"/>
                </a:solidFill>
                <a:latin typeface="+mj-lt"/>
              </a:rPr>
              <a:t> </a:t>
            </a:r>
            <a:r>
              <a:rPr sz="1500" b="0" i="0" u="none" dirty="0" err="1">
                <a:solidFill>
                  <a:srgbClr val="334155"/>
                </a:solidFill>
                <a:latin typeface="+mj-lt"/>
              </a:rPr>
              <a:t>морошки</a:t>
            </a:r>
            <a:r>
              <a:rPr sz="1500" b="0" i="0" u="none" dirty="0">
                <a:solidFill>
                  <a:srgbClr val="334155"/>
                </a:solidFill>
                <a:latin typeface="+mj-lt"/>
              </a:rPr>
              <a:t>.</a:t>
            </a:r>
            <a:r>
              <a:rPr sz="1500" dirty="0">
                <a:latin typeface="+mj-lt"/>
              </a:rPr>
              <a:t>
</a:t>
            </a:r>
            <a:r>
              <a:rPr sz="1500" b="1" i="0" u="none" dirty="0" err="1">
                <a:solidFill>
                  <a:srgbClr val="334155"/>
                </a:solidFill>
                <a:latin typeface="+mj-lt"/>
              </a:rPr>
              <a:t>Зайти</a:t>
            </a:r>
            <a:r>
              <a:rPr sz="1500" b="1" i="0" u="none" dirty="0">
                <a:solidFill>
                  <a:srgbClr val="334155"/>
                </a:solidFill>
                <a:latin typeface="+mj-lt"/>
              </a:rPr>
              <a:t>:</a:t>
            </a:r>
            <a:r>
              <a:rPr sz="1500" b="0" i="0" u="none" dirty="0">
                <a:solidFill>
                  <a:srgbClr val="334155"/>
                </a:solidFill>
                <a:latin typeface="+mj-lt"/>
              </a:rPr>
              <a:t> В </a:t>
            </a:r>
            <a:r>
              <a:rPr sz="1500" b="0" i="0" u="none" dirty="0" err="1">
                <a:solidFill>
                  <a:srgbClr val="334155"/>
                </a:solidFill>
                <a:latin typeface="+mj-lt"/>
              </a:rPr>
              <a:t>лавку</a:t>
            </a:r>
            <a:r>
              <a:rPr sz="1500" b="0" i="0" u="none" dirty="0">
                <a:solidFill>
                  <a:srgbClr val="334155"/>
                </a:solidFill>
                <a:latin typeface="+mj-lt"/>
              </a:rPr>
              <a:t> </a:t>
            </a:r>
            <a:r>
              <a:rPr sz="1500" b="0" i="0" u="none" dirty="0" err="1">
                <a:solidFill>
                  <a:srgbClr val="334155"/>
                </a:solidFill>
                <a:latin typeface="+mj-lt"/>
              </a:rPr>
              <a:t>таежных</a:t>
            </a:r>
            <a:r>
              <a:rPr sz="1500" b="0" i="0" u="none" dirty="0">
                <a:solidFill>
                  <a:srgbClr val="334155"/>
                </a:solidFill>
                <a:latin typeface="+mj-lt"/>
              </a:rPr>
              <a:t> </a:t>
            </a:r>
            <a:r>
              <a:rPr sz="1500" b="0" i="0" u="none" dirty="0" err="1">
                <a:solidFill>
                  <a:srgbClr val="334155"/>
                </a:solidFill>
                <a:latin typeface="+mj-lt"/>
              </a:rPr>
              <a:t>ремесел</a:t>
            </a:r>
            <a:r>
              <a:rPr sz="1500" b="0" i="0" u="none" dirty="0">
                <a:solidFill>
                  <a:srgbClr val="334155"/>
                </a:solidFill>
                <a:latin typeface="+mj-lt"/>
              </a:rPr>
              <a:t> </a:t>
            </a:r>
            <a:r>
              <a:rPr sz="1500" b="0" i="0" u="none" dirty="0" err="1">
                <a:solidFill>
                  <a:srgbClr val="334155"/>
                </a:solidFill>
                <a:latin typeface="+mj-lt"/>
              </a:rPr>
              <a:t>за</a:t>
            </a:r>
            <a:r>
              <a:rPr sz="1500" b="0" i="0" u="none" dirty="0">
                <a:solidFill>
                  <a:srgbClr val="334155"/>
                </a:solidFill>
                <a:latin typeface="+mj-lt"/>
              </a:rPr>
              <a:t> </a:t>
            </a:r>
            <a:r>
              <a:rPr sz="1500" b="0" i="0" u="none" dirty="0" err="1">
                <a:solidFill>
                  <a:srgbClr val="334155"/>
                </a:solidFill>
                <a:latin typeface="+mj-lt"/>
              </a:rPr>
              <a:t>оберегами</a:t>
            </a:r>
            <a:r>
              <a:rPr sz="1500" b="0" i="0" u="none" dirty="0">
                <a:solidFill>
                  <a:srgbClr val="334155"/>
                </a:solidFill>
                <a:latin typeface="+mj-lt"/>
              </a:rPr>
              <a:t> </a:t>
            </a:r>
            <a:r>
              <a:rPr sz="1500" b="0" i="0" u="none" dirty="0" err="1">
                <a:solidFill>
                  <a:srgbClr val="334155"/>
                </a:solidFill>
                <a:latin typeface="+mj-lt"/>
              </a:rPr>
              <a:t>из</a:t>
            </a:r>
            <a:r>
              <a:rPr sz="1500" b="0" i="0" u="none" dirty="0">
                <a:solidFill>
                  <a:srgbClr val="334155"/>
                </a:solidFill>
                <a:latin typeface="+mj-lt"/>
              </a:rPr>
              <a:t> </a:t>
            </a:r>
            <a:r>
              <a:rPr sz="1500" b="0" i="0" u="none" dirty="0" err="1">
                <a:solidFill>
                  <a:srgbClr val="334155"/>
                </a:solidFill>
                <a:latin typeface="+mj-lt"/>
              </a:rPr>
              <a:t>кости</a:t>
            </a:r>
            <a:r>
              <a:rPr sz="1500" b="0" i="0" u="none" dirty="0">
                <a:solidFill>
                  <a:srgbClr val="334155"/>
                </a:solidFill>
                <a:latin typeface="+mj-lt"/>
              </a:rPr>
              <a:t> </a:t>
            </a:r>
            <a:r>
              <a:rPr sz="1500" b="0" i="0" u="none" dirty="0" err="1">
                <a:solidFill>
                  <a:srgbClr val="334155"/>
                </a:solidFill>
                <a:latin typeface="+mj-lt"/>
              </a:rPr>
              <a:t>мамонта</a:t>
            </a:r>
            <a:r>
              <a:rPr sz="1500" b="0" i="0" u="none" dirty="0">
                <a:solidFill>
                  <a:srgbClr val="334155"/>
                </a:solidFill>
                <a:latin typeface="+mj-lt"/>
              </a:rPr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335</TotalTime>
  <Words>1707</Words>
  <Application>Microsoft Office PowerPoint</Application>
  <PresentationFormat>Широкоэкранный</PresentationFormat>
  <Paragraphs>170</Paragraphs>
  <Slides>16</Slides>
  <Notes>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16</vt:i4>
      </vt:variant>
    </vt:vector>
  </HeadingPairs>
  <TitlesOfParts>
    <vt:vector size="22" baseType="lpstr">
      <vt:lpstr>Arial</vt:lpstr>
      <vt:lpstr>Calibri</vt:lpstr>
      <vt:lpstr>DM Sans</vt:lpstr>
      <vt:lpstr>Merriweather</vt:lpstr>
      <vt:lpstr>Wingdings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>Иван Ершов</dc:creator>
  <cp:keywords/>
  <dc:description>generated using python-pptx</dc:description>
  <cp:lastModifiedBy>Иван Ершов</cp:lastModifiedBy>
  <cp:revision>26</cp:revision>
  <dcterms:created xsi:type="dcterms:W3CDTF">2013-01-27T09:14:16Z</dcterms:created>
  <dcterms:modified xsi:type="dcterms:W3CDTF">2026-10-20T17:48:46Z</dcterms:modified>
  <cp:category/>
</cp:coreProperties>
</file>